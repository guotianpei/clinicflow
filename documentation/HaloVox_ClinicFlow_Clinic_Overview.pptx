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70" r:id="rId3"/>
    <p:sldId id="257" r:id="rId4"/>
    <p:sldId id="258" r:id="rId5"/>
    <p:sldId id="267" r:id="rId6"/>
    <p:sldId id="268" r:id="rId7"/>
    <p:sldId id="269" r:id="rId8"/>
    <p:sldId id="263" r:id="rId9"/>
    <p:sldId id="272" r:id="rId10"/>
    <p:sldId id="264" r:id="rId11"/>
    <p:sldId id="265" r:id="rId12"/>
    <p:sldId id="271"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1DAAB5-3D01-48E4-ABD8-507C393643D5}" v="3" dt="2026-07-31T01:18:31.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EL GUO" userId="2bb385a3-557f-40c2-ae7c-e20e2ca0fa5c" providerId="ADAL" clId="{F142E991-C65F-4216-8F44-47DBBDF0251E}"/>
    <pc:docChg chg="undo custSel addSld delSld modSld sldOrd">
      <pc:chgData name="RACHEL GUO" userId="2bb385a3-557f-40c2-ae7c-e20e2ca0fa5c" providerId="ADAL" clId="{F142E991-C65F-4216-8F44-47DBBDF0251E}" dt="2026-07-31T01:18:31.580" v="1312"/>
      <pc:docMkLst>
        <pc:docMk/>
      </pc:docMkLst>
      <pc:sldChg chg="modSp mod ord">
        <pc:chgData name="RACHEL GUO" userId="2bb385a3-557f-40c2-ae7c-e20e2ca0fa5c" providerId="ADAL" clId="{F142E991-C65F-4216-8F44-47DBBDF0251E}" dt="2026-07-29T21:28:03.900" v="1242"/>
        <pc:sldMkLst>
          <pc:docMk/>
          <pc:sldMk cId="0" sldId="257"/>
        </pc:sldMkLst>
        <pc:spChg chg="mod">
          <ac:chgData name="RACHEL GUO" userId="2bb385a3-557f-40c2-ae7c-e20e2ca0fa5c" providerId="ADAL" clId="{F142E991-C65F-4216-8F44-47DBBDF0251E}" dt="2026-07-29T18:18:41.595" v="428" actId="14100"/>
          <ac:spMkLst>
            <pc:docMk/>
            <pc:sldMk cId="0" sldId="257"/>
            <ac:spMk id="4" creationId="{00000000-0000-0000-0000-000000000000}"/>
          </ac:spMkLst>
        </pc:spChg>
        <pc:spChg chg="mod">
          <ac:chgData name="RACHEL GUO" userId="2bb385a3-557f-40c2-ae7c-e20e2ca0fa5c" providerId="ADAL" clId="{F142E991-C65F-4216-8F44-47DBBDF0251E}" dt="2026-07-29T18:18:14.878" v="419" actId="20577"/>
          <ac:spMkLst>
            <pc:docMk/>
            <pc:sldMk cId="0" sldId="257"/>
            <ac:spMk id="7" creationId="{00000000-0000-0000-0000-000000000000}"/>
          </ac:spMkLst>
        </pc:spChg>
        <pc:spChg chg="mod">
          <ac:chgData name="RACHEL GUO" userId="2bb385a3-557f-40c2-ae7c-e20e2ca0fa5c" providerId="ADAL" clId="{F142E991-C65F-4216-8F44-47DBBDF0251E}" dt="2026-07-29T18:18:38.882" v="427" actId="1076"/>
          <ac:spMkLst>
            <pc:docMk/>
            <pc:sldMk cId="0" sldId="257"/>
            <ac:spMk id="8" creationId="{00000000-0000-0000-0000-000000000000}"/>
          </ac:spMkLst>
        </pc:spChg>
        <pc:spChg chg="mod">
          <ac:chgData name="RACHEL GUO" userId="2bb385a3-557f-40c2-ae7c-e20e2ca0fa5c" providerId="ADAL" clId="{F142E991-C65F-4216-8F44-47DBBDF0251E}" dt="2026-07-29T18:18:44.509" v="429" actId="14100"/>
          <ac:spMkLst>
            <pc:docMk/>
            <pc:sldMk cId="0" sldId="257"/>
            <ac:spMk id="9" creationId="{00000000-0000-0000-0000-000000000000}"/>
          </ac:spMkLst>
        </pc:spChg>
        <pc:spChg chg="mod">
          <ac:chgData name="RACHEL GUO" userId="2bb385a3-557f-40c2-ae7c-e20e2ca0fa5c" providerId="ADAL" clId="{F142E991-C65F-4216-8F44-47DBBDF0251E}" dt="2026-07-29T18:20:10.824" v="478" actId="1076"/>
          <ac:spMkLst>
            <pc:docMk/>
            <pc:sldMk cId="0" sldId="257"/>
            <ac:spMk id="12" creationId="{00000000-0000-0000-0000-000000000000}"/>
          </ac:spMkLst>
        </pc:spChg>
        <pc:spChg chg="mod">
          <ac:chgData name="RACHEL GUO" userId="2bb385a3-557f-40c2-ae7c-e20e2ca0fa5c" providerId="ADAL" clId="{F142E991-C65F-4216-8F44-47DBBDF0251E}" dt="2026-07-29T18:18:35.779" v="426" actId="1076"/>
          <ac:spMkLst>
            <pc:docMk/>
            <pc:sldMk cId="0" sldId="257"/>
            <ac:spMk id="13" creationId="{00000000-0000-0000-0000-000000000000}"/>
          </ac:spMkLst>
        </pc:spChg>
      </pc:sldChg>
      <pc:sldChg chg="addSp delSp modSp mod ord">
        <pc:chgData name="RACHEL GUO" userId="2bb385a3-557f-40c2-ae7c-e20e2ca0fa5c" providerId="ADAL" clId="{F142E991-C65F-4216-8F44-47DBBDF0251E}" dt="2026-07-29T21:27:41.551" v="1240"/>
        <pc:sldMkLst>
          <pc:docMk/>
          <pc:sldMk cId="0" sldId="258"/>
        </pc:sldMkLst>
        <pc:spChg chg="mod">
          <ac:chgData name="RACHEL GUO" userId="2bb385a3-557f-40c2-ae7c-e20e2ca0fa5c" providerId="ADAL" clId="{F142E991-C65F-4216-8F44-47DBBDF0251E}" dt="2026-07-29T18:38:29.058" v="882" actId="6549"/>
          <ac:spMkLst>
            <pc:docMk/>
            <pc:sldMk cId="0" sldId="258"/>
            <ac:spMk id="3" creationId="{00000000-0000-0000-0000-000000000000}"/>
          </ac:spMkLst>
        </pc:spChg>
        <pc:spChg chg="mod">
          <ac:chgData name="RACHEL GUO" userId="2bb385a3-557f-40c2-ae7c-e20e2ca0fa5c" providerId="ADAL" clId="{F142E991-C65F-4216-8F44-47DBBDF0251E}" dt="2026-07-29T18:24:18.903" v="614" actId="1076"/>
          <ac:spMkLst>
            <pc:docMk/>
            <pc:sldMk cId="0" sldId="258"/>
            <ac:spMk id="5" creationId="{00000000-0000-0000-0000-000000000000}"/>
          </ac:spMkLst>
        </pc:spChg>
        <pc:spChg chg="mod">
          <ac:chgData name="RACHEL GUO" userId="2bb385a3-557f-40c2-ae7c-e20e2ca0fa5c" providerId="ADAL" clId="{F142E991-C65F-4216-8F44-47DBBDF0251E}" dt="2026-07-29T18:35:18.650" v="832" actId="1076"/>
          <ac:spMkLst>
            <pc:docMk/>
            <pc:sldMk cId="0" sldId="258"/>
            <ac:spMk id="7" creationId="{00000000-0000-0000-0000-000000000000}"/>
          </ac:spMkLst>
        </pc:spChg>
        <pc:spChg chg="mod">
          <ac:chgData name="RACHEL GUO" userId="2bb385a3-557f-40c2-ae7c-e20e2ca0fa5c" providerId="ADAL" clId="{F142E991-C65F-4216-8F44-47DBBDF0251E}" dt="2026-07-29T18:35:25.246" v="834" actId="1076"/>
          <ac:spMkLst>
            <pc:docMk/>
            <pc:sldMk cId="0" sldId="258"/>
            <ac:spMk id="8" creationId="{00000000-0000-0000-0000-000000000000}"/>
          </ac:spMkLst>
        </pc:spChg>
        <pc:spChg chg="mod">
          <ac:chgData name="RACHEL GUO" userId="2bb385a3-557f-40c2-ae7c-e20e2ca0fa5c" providerId="ADAL" clId="{F142E991-C65F-4216-8F44-47DBBDF0251E}" dt="2026-07-29T18:40:58.080" v="972" actId="14100"/>
          <ac:spMkLst>
            <pc:docMk/>
            <pc:sldMk cId="0" sldId="258"/>
            <ac:spMk id="9" creationId="{00000000-0000-0000-0000-000000000000}"/>
          </ac:spMkLst>
        </pc:spChg>
        <pc:spChg chg="mod">
          <ac:chgData name="RACHEL GUO" userId="2bb385a3-557f-40c2-ae7c-e20e2ca0fa5c" providerId="ADAL" clId="{F142E991-C65F-4216-8F44-47DBBDF0251E}" dt="2026-07-29T18:35:30.060" v="835" actId="1076"/>
          <ac:spMkLst>
            <pc:docMk/>
            <pc:sldMk cId="0" sldId="258"/>
            <ac:spMk id="10" creationId="{00000000-0000-0000-0000-000000000000}"/>
          </ac:spMkLst>
        </pc:spChg>
        <pc:spChg chg="mod">
          <ac:chgData name="RACHEL GUO" userId="2bb385a3-557f-40c2-ae7c-e20e2ca0fa5c" providerId="ADAL" clId="{F142E991-C65F-4216-8F44-47DBBDF0251E}" dt="2026-07-29T18:35:39.180" v="837" actId="1076"/>
          <ac:spMkLst>
            <pc:docMk/>
            <pc:sldMk cId="0" sldId="258"/>
            <ac:spMk id="11" creationId="{00000000-0000-0000-0000-000000000000}"/>
          </ac:spMkLst>
        </pc:spChg>
        <pc:spChg chg="mod">
          <ac:chgData name="RACHEL GUO" userId="2bb385a3-557f-40c2-ae7c-e20e2ca0fa5c" providerId="ADAL" clId="{F142E991-C65F-4216-8F44-47DBBDF0251E}" dt="2026-07-29T18:31:53.977" v="736" actId="1076"/>
          <ac:spMkLst>
            <pc:docMk/>
            <pc:sldMk cId="0" sldId="258"/>
            <ac:spMk id="14" creationId="{00000000-0000-0000-0000-000000000000}"/>
          </ac:spMkLst>
        </pc:spChg>
        <pc:spChg chg="mod">
          <ac:chgData name="RACHEL GUO" userId="2bb385a3-557f-40c2-ae7c-e20e2ca0fa5c" providerId="ADAL" clId="{F142E991-C65F-4216-8F44-47DBBDF0251E}" dt="2026-07-29T18:42:53.951" v="1005" actId="20577"/>
          <ac:spMkLst>
            <pc:docMk/>
            <pc:sldMk cId="0" sldId="258"/>
            <ac:spMk id="15" creationId="{00000000-0000-0000-0000-000000000000}"/>
          </ac:spMkLst>
        </pc:spChg>
        <pc:spChg chg="add mod">
          <ac:chgData name="RACHEL GUO" userId="2bb385a3-557f-40c2-ae7c-e20e2ca0fa5c" providerId="ADAL" clId="{F142E991-C65F-4216-8F44-47DBBDF0251E}" dt="2026-07-29T18:35:32.922" v="836" actId="1076"/>
          <ac:spMkLst>
            <pc:docMk/>
            <pc:sldMk cId="0" sldId="258"/>
            <ac:spMk id="19" creationId="{012E87EA-A499-258C-1E59-FC34AA19146B}"/>
          </ac:spMkLst>
        </pc:spChg>
        <pc:spChg chg="add mod">
          <ac:chgData name="RACHEL GUO" userId="2bb385a3-557f-40c2-ae7c-e20e2ca0fa5c" providerId="ADAL" clId="{F142E991-C65F-4216-8F44-47DBBDF0251E}" dt="2026-07-29T18:33:10.155" v="771" actId="1076"/>
          <ac:spMkLst>
            <pc:docMk/>
            <pc:sldMk cId="0" sldId="258"/>
            <ac:spMk id="21" creationId="{714A7359-02C4-1ABE-3FD5-9E016AEE5DD2}"/>
          </ac:spMkLst>
        </pc:spChg>
      </pc:sldChg>
      <pc:sldChg chg="modSp mod">
        <pc:chgData name="RACHEL GUO" userId="2bb385a3-557f-40c2-ae7c-e20e2ca0fa5c" providerId="ADAL" clId="{F142E991-C65F-4216-8F44-47DBBDF0251E}" dt="2026-07-29T18:52:25.082" v="1192" actId="20577"/>
        <pc:sldMkLst>
          <pc:docMk/>
          <pc:sldMk cId="0" sldId="263"/>
        </pc:sldMkLst>
        <pc:spChg chg="mod">
          <ac:chgData name="RACHEL GUO" userId="2bb385a3-557f-40c2-ae7c-e20e2ca0fa5c" providerId="ADAL" clId="{F142E991-C65F-4216-8F44-47DBBDF0251E}" dt="2026-07-29T18:51:13.540" v="1158" actId="14100"/>
          <ac:spMkLst>
            <pc:docMk/>
            <pc:sldMk cId="0" sldId="263"/>
            <ac:spMk id="6" creationId="{00000000-0000-0000-0000-000000000000}"/>
          </ac:spMkLst>
        </pc:spChg>
        <pc:spChg chg="mod">
          <ac:chgData name="RACHEL GUO" userId="2bb385a3-557f-40c2-ae7c-e20e2ca0fa5c" providerId="ADAL" clId="{F142E991-C65F-4216-8F44-47DBBDF0251E}" dt="2026-07-29T18:50:19.359" v="1155" actId="1076"/>
          <ac:spMkLst>
            <pc:docMk/>
            <pc:sldMk cId="0" sldId="263"/>
            <ac:spMk id="8" creationId="{00000000-0000-0000-0000-000000000000}"/>
          </ac:spMkLst>
        </pc:spChg>
        <pc:spChg chg="mod">
          <ac:chgData name="RACHEL GUO" userId="2bb385a3-557f-40c2-ae7c-e20e2ca0fa5c" providerId="ADAL" clId="{F142E991-C65F-4216-8F44-47DBBDF0251E}" dt="2026-07-29T18:51:10.667" v="1157" actId="14100"/>
          <ac:spMkLst>
            <pc:docMk/>
            <pc:sldMk cId="0" sldId="263"/>
            <ac:spMk id="9" creationId="{00000000-0000-0000-0000-000000000000}"/>
          </ac:spMkLst>
        </pc:spChg>
        <pc:spChg chg="mod">
          <ac:chgData name="RACHEL GUO" userId="2bb385a3-557f-40c2-ae7c-e20e2ca0fa5c" providerId="ADAL" clId="{F142E991-C65F-4216-8F44-47DBBDF0251E}" dt="2026-07-29T18:50:23.797" v="1156" actId="1076"/>
          <ac:spMkLst>
            <pc:docMk/>
            <pc:sldMk cId="0" sldId="263"/>
            <ac:spMk id="11" creationId="{00000000-0000-0000-0000-000000000000}"/>
          </ac:spMkLst>
        </pc:spChg>
        <pc:spChg chg="mod">
          <ac:chgData name="RACHEL GUO" userId="2bb385a3-557f-40c2-ae7c-e20e2ca0fa5c" providerId="ADAL" clId="{F142E991-C65F-4216-8F44-47DBBDF0251E}" dt="2026-07-29T18:52:25.082" v="1192" actId="20577"/>
          <ac:spMkLst>
            <pc:docMk/>
            <pc:sldMk cId="0" sldId="263"/>
            <ac:spMk id="40" creationId="{00000000-0000-0000-0000-000000000000}"/>
          </ac:spMkLst>
        </pc:spChg>
      </pc:sldChg>
      <pc:sldChg chg="modSp mod">
        <pc:chgData name="RACHEL GUO" userId="2bb385a3-557f-40c2-ae7c-e20e2ca0fa5c" providerId="ADAL" clId="{F142E991-C65F-4216-8F44-47DBBDF0251E}" dt="2026-07-29T18:53:21.317" v="1211" actId="6549"/>
        <pc:sldMkLst>
          <pc:docMk/>
          <pc:sldMk cId="0" sldId="264"/>
        </pc:sldMkLst>
        <pc:spChg chg="mod">
          <ac:chgData name="RACHEL GUO" userId="2bb385a3-557f-40c2-ae7c-e20e2ca0fa5c" providerId="ADAL" clId="{F142E991-C65F-4216-8F44-47DBBDF0251E}" dt="2026-07-29T18:53:21.317" v="1211" actId="6549"/>
          <ac:spMkLst>
            <pc:docMk/>
            <pc:sldMk cId="0" sldId="264"/>
            <ac:spMk id="4" creationId="{00000000-0000-0000-0000-000000000000}"/>
          </ac:spMkLst>
        </pc:spChg>
      </pc:sldChg>
      <pc:sldChg chg="modSp mod">
        <pc:chgData name="RACHEL GUO" userId="2bb385a3-557f-40c2-ae7c-e20e2ca0fa5c" providerId="ADAL" clId="{F142E991-C65F-4216-8F44-47DBBDF0251E}" dt="2026-07-30T17:45:00.322" v="1306" actId="114"/>
        <pc:sldMkLst>
          <pc:docMk/>
          <pc:sldMk cId="0" sldId="265"/>
        </pc:sldMkLst>
        <pc:spChg chg="mod">
          <ac:chgData name="RACHEL GUO" userId="2bb385a3-557f-40c2-ae7c-e20e2ca0fa5c" providerId="ADAL" clId="{F142E991-C65F-4216-8F44-47DBBDF0251E}" dt="2026-07-29T14:37:35.194" v="414" actId="207"/>
          <ac:spMkLst>
            <pc:docMk/>
            <pc:sldMk cId="0" sldId="265"/>
            <ac:spMk id="5" creationId="{00000000-0000-0000-0000-000000000000}"/>
          </ac:spMkLst>
        </pc:spChg>
        <pc:spChg chg="mod">
          <ac:chgData name="RACHEL GUO" userId="2bb385a3-557f-40c2-ae7c-e20e2ca0fa5c" providerId="ADAL" clId="{F142E991-C65F-4216-8F44-47DBBDF0251E}" dt="2026-07-30T17:45:00.322" v="1306" actId="114"/>
          <ac:spMkLst>
            <pc:docMk/>
            <pc:sldMk cId="0" sldId="265"/>
            <ac:spMk id="9" creationId="{00000000-0000-0000-0000-000000000000}"/>
          </ac:spMkLst>
        </pc:spChg>
        <pc:spChg chg="mod">
          <ac:chgData name="RACHEL GUO" userId="2bb385a3-557f-40c2-ae7c-e20e2ca0fa5c" providerId="ADAL" clId="{F142E991-C65F-4216-8F44-47DBBDF0251E}" dt="2026-07-29T18:54:27.182" v="1237" actId="14100"/>
          <ac:spMkLst>
            <pc:docMk/>
            <pc:sldMk cId="0" sldId="265"/>
            <ac:spMk id="12" creationId="{00000000-0000-0000-0000-000000000000}"/>
          </ac:spMkLst>
        </pc:spChg>
        <pc:spChg chg="mod">
          <ac:chgData name="RACHEL GUO" userId="2bb385a3-557f-40c2-ae7c-e20e2ca0fa5c" providerId="ADAL" clId="{F142E991-C65F-4216-8F44-47DBBDF0251E}" dt="2026-07-29T18:54:46.647" v="1238" actId="14100"/>
          <ac:spMkLst>
            <pc:docMk/>
            <pc:sldMk cId="0" sldId="265"/>
            <ac:spMk id="15" creationId="{00000000-0000-0000-0000-000000000000}"/>
          </ac:spMkLst>
        </pc:spChg>
      </pc:sldChg>
      <pc:sldChg chg="modSp mod">
        <pc:chgData name="RACHEL GUO" userId="2bb385a3-557f-40c2-ae7c-e20e2ca0fa5c" providerId="ADAL" clId="{F142E991-C65F-4216-8F44-47DBBDF0251E}" dt="2026-07-29T18:51:44.279" v="1168" actId="403"/>
        <pc:sldMkLst>
          <pc:docMk/>
          <pc:sldMk cId="0" sldId="268"/>
        </pc:sldMkLst>
        <pc:spChg chg="mod">
          <ac:chgData name="RACHEL GUO" userId="2bb385a3-557f-40c2-ae7c-e20e2ca0fa5c" providerId="ADAL" clId="{F142E991-C65F-4216-8F44-47DBBDF0251E}" dt="2026-07-29T18:47:29.319" v="1124" actId="20577"/>
          <ac:spMkLst>
            <pc:docMk/>
            <pc:sldMk cId="0" sldId="268"/>
            <ac:spMk id="4" creationId="{00000000-0000-0000-0000-000000000000}"/>
          </ac:spMkLst>
        </pc:spChg>
        <pc:spChg chg="mod">
          <ac:chgData name="RACHEL GUO" userId="2bb385a3-557f-40c2-ae7c-e20e2ca0fa5c" providerId="ADAL" clId="{F142E991-C65F-4216-8F44-47DBBDF0251E}" dt="2026-07-29T18:45:10.275" v="1044" actId="20577"/>
          <ac:spMkLst>
            <pc:docMk/>
            <pc:sldMk cId="0" sldId="268"/>
            <ac:spMk id="8" creationId="{00000000-0000-0000-0000-000000000000}"/>
          </ac:spMkLst>
        </pc:spChg>
        <pc:spChg chg="mod">
          <ac:chgData name="RACHEL GUO" userId="2bb385a3-557f-40c2-ae7c-e20e2ca0fa5c" providerId="ADAL" clId="{F142E991-C65F-4216-8F44-47DBBDF0251E}" dt="2026-07-29T18:46:17.189" v="1069" actId="20577"/>
          <ac:spMkLst>
            <pc:docMk/>
            <pc:sldMk cId="0" sldId="268"/>
            <ac:spMk id="11" creationId="{00000000-0000-0000-0000-000000000000}"/>
          </ac:spMkLst>
        </pc:spChg>
        <pc:spChg chg="mod">
          <ac:chgData name="RACHEL GUO" userId="2bb385a3-557f-40c2-ae7c-e20e2ca0fa5c" providerId="ADAL" clId="{F142E991-C65F-4216-8F44-47DBBDF0251E}" dt="2026-07-29T18:47:12.395" v="1113" actId="20577"/>
          <ac:spMkLst>
            <pc:docMk/>
            <pc:sldMk cId="0" sldId="268"/>
            <ac:spMk id="14" creationId="{00000000-0000-0000-0000-000000000000}"/>
          </ac:spMkLst>
        </pc:spChg>
        <pc:spChg chg="mod">
          <ac:chgData name="RACHEL GUO" userId="2bb385a3-557f-40c2-ae7c-e20e2ca0fa5c" providerId="ADAL" clId="{F142E991-C65F-4216-8F44-47DBBDF0251E}" dt="2026-07-29T18:51:44.279" v="1168" actId="403"/>
          <ac:spMkLst>
            <pc:docMk/>
            <pc:sldMk cId="0" sldId="268"/>
            <ac:spMk id="40" creationId="{00000000-0000-0000-0000-000000000000}"/>
          </ac:spMkLst>
        </pc:spChg>
      </pc:sldChg>
      <pc:sldChg chg="modSp mod">
        <pc:chgData name="RACHEL GUO" userId="2bb385a3-557f-40c2-ae7c-e20e2ca0fa5c" providerId="ADAL" clId="{F142E991-C65F-4216-8F44-47DBBDF0251E}" dt="2026-07-29T18:51:38.225" v="1167" actId="404"/>
        <pc:sldMkLst>
          <pc:docMk/>
          <pc:sldMk cId="0" sldId="269"/>
        </pc:sldMkLst>
        <pc:spChg chg="mod">
          <ac:chgData name="RACHEL GUO" userId="2bb385a3-557f-40c2-ae7c-e20e2ca0fa5c" providerId="ADAL" clId="{F142E991-C65F-4216-8F44-47DBBDF0251E}" dt="2026-07-29T18:48:14.093" v="1144" actId="20577"/>
          <ac:spMkLst>
            <pc:docMk/>
            <pc:sldMk cId="0" sldId="269"/>
            <ac:spMk id="4" creationId="{00000000-0000-0000-0000-000000000000}"/>
          </ac:spMkLst>
        </pc:spChg>
        <pc:spChg chg="mod">
          <ac:chgData name="RACHEL GUO" userId="2bb385a3-557f-40c2-ae7c-e20e2ca0fa5c" providerId="ADAL" clId="{F142E991-C65F-4216-8F44-47DBBDF0251E}" dt="2026-07-29T18:51:38.225" v="1167" actId="404"/>
          <ac:spMkLst>
            <pc:docMk/>
            <pc:sldMk cId="0" sldId="269"/>
            <ac:spMk id="40" creationId="{00000000-0000-0000-0000-000000000000}"/>
          </ac:spMkLst>
        </pc:spChg>
      </pc:sldChg>
      <pc:sldChg chg="modSp add mod setBg">
        <pc:chgData name="RACHEL GUO" userId="2bb385a3-557f-40c2-ae7c-e20e2ca0fa5c" providerId="ADAL" clId="{F142E991-C65F-4216-8F44-47DBBDF0251E}" dt="2026-07-30T17:48:18.886" v="1309" actId="14100"/>
        <pc:sldMkLst>
          <pc:docMk/>
          <pc:sldMk cId="0" sldId="271"/>
        </pc:sldMkLst>
        <pc:spChg chg="mod">
          <ac:chgData name="RACHEL GUO" userId="2bb385a3-557f-40c2-ae7c-e20e2ca0fa5c" providerId="ADAL" clId="{F142E991-C65F-4216-8F44-47DBBDF0251E}" dt="2026-07-30T17:47:17.798" v="1307" actId="6549"/>
          <ac:spMkLst>
            <pc:docMk/>
            <pc:sldMk cId="0" sldId="271"/>
            <ac:spMk id="6" creationId="{00000000-0000-0000-0000-000000000000}"/>
          </ac:spMkLst>
        </pc:spChg>
        <pc:spChg chg="mod">
          <ac:chgData name="RACHEL GUO" userId="2bb385a3-557f-40c2-ae7c-e20e2ca0fa5c" providerId="ADAL" clId="{F142E991-C65F-4216-8F44-47DBBDF0251E}" dt="2026-07-30T17:48:18.886" v="1309" actId="14100"/>
          <ac:spMkLst>
            <pc:docMk/>
            <pc:sldMk cId="0" sldId="271"/>
            <ac:spMk id="26" creationId="{00000000-0000-0000-0000-000000000000}"/>
          </ac:spMkLst>
        </pc:spChg>
      </pc:sldChg>
      <pc:sldChg chg="add del setBg">
        <pc:chgData name="RACHEL GUO" userId="2bb385a3-557f-40c2-ae7c-e20e2ca0fa5c" providerId="ADAL" clId="{F142E991-C65F-4216-8F44-47DBBDF0251E}" dt="2026-07-31T01:18:31.580" v="1312"/>
        <pc:sldMkLst>
          <pc:docMk/>
          <pc:sldMk cId="0"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8438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42B2B"/>
        </a:solidFill>
        <a:effectLst/>
      </p:bgPr>
    </p:bg>
    <p:spTree>
      <p:nvGrpSpPr>
        <p:cNvPr id="1" name=""/>
        <p:cNvGrpSpPr/>
        <p:nvPr/>
      </p:nvGrpSpPr>
      <p:grpSpPr>
        <a:xfrm>
          <a:off x="0" y="0"/>
          <a:ext cx="0" cy="0"/>
          <a:chOff x="0" y="0"/>
          <a:chExt cx="0" cy="0"/>
        </a:xfrm>
      </p:grpSpPr>
      <p:sp>
        <p:nvSpPr>
          <p:cNvPr id="2" name="Shape 0"/>
          <p:cNvSpPr/>
          <p:nvPr/>
        </p:nvSpPr>
        <p:spPr>
          <a:xfrm>
            <a:off x="8961120" y="4206240"/>
            <a:ext cx="5486400" cy="5486400"/>
          </a:xfrm>
          <a:prstGeom prst="ellipse">
            <a:avLst/>
          </a:prstGeom>
          <a:solidFill>
            <a:srgbClr val="1E5A50">
              <a:alpha val="45000"/>
            </a:srgbClr>
          </a:solidFill>
          <a:ln/>
        </p:spPr>
        <p:txBody>
          <a:bodyPr/>
          <a:lstStyle/>
          <a:p>
            <a:endParaRPr lang="en-US"/>
          </a:p>
        </p:txBody>
      </p:sp>
      <p:sp>
        <p:nvSpPr>
          <p:cNvPr id="3" name="Shape 1"/>
          <p:cNvSpPr/>
          <p:nvPr/>
        </p:nvSpPr>
        <p:spPr>
          <a:xfrm>
            <a:off x="10424160" y="-1280160"/>
            <a:ext cx="3657600" cy="3657600"/>
          </a:xfrm>
          <a:prstGeom prst="ellipse">
            <a:avLst/>
          </a:prstGeom>
          <a:solidFill>
            <a:srgbClr val="DBAA47">
              <a:alpha val="40000"/>
            </a:srgbClr>
          </a:solidFill>
          <a:ln/>
        </p:spPr>
        <p:txBody>
          <a:bodyPr/>
          <a:lstStyle/>
          <a:p>
            <a:endParaRPr lang="en-US"/>
          </a:p>
        </p:txBody>
      </p:sp>
      <p:sp>
        <p:nvSpPr>
          <p:cNvPr id="20" name="Text 20"/>
          <p:cNvSpPr/>
          <p:nvPr/>
        </p:nvSpPr>
        <p:spPr>
          <a:xfrm>
            <a:off x="822960" y="594360"/>
            <a:ext cx="9144000" cy="41148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HaloVox</a:t>
            </a:r>
            <a:r>
              <a:rPr lang="en-US" sz="1600" dirty="0">
                <a:solidFill>
                  <a:srgbClr val="DBAA47"/>
                </a:solidFill>
                <a:latin typeface="Calibri" pitchFamily="34" charset="0"/>
                <a:ea typeface="Calibri" pitchFamily="34" charset="-122"/>
                <a:cs typeface="Calibri" pitchFamily="34" charset="-120"/>
              </a:rPr>
              <a:t>  •  </a:t>
            </a:r>
            <a:r>
              <a:rPr lang="en-US" sz="2000" dirty="0">
                <a:solidFill>
                  <a:srgbClr val="F0E9CE"/>
                </a:solidFill>
                <a:latin typeface="Cambria" pitchFamily="34" charset="0"/>
                <a:ea typeface="Cambria" pitchFamily="34" charset="-122"/>
                <a:cs typeface="Cambria" pitchFamily="34" charset="-120"/>
              </a:rPr>
              <a:t>Clinic Flow</a:t>
            </a:r>
          </a:p>
        </p:txBody>
      </p:sp>
      <p:sp>
        <p:nvSpPr>
          <p:cNvPr id="4" name="Text 2"/>
          <p:cNvSpPr/>
          <p:nvPr/>
        </p:nvSpPr>
        <p:spPr>
          <a:xfrm>
            <a:off x="822960" y="1691640"/>
            <a:ext cx="9144000" cy="365760"/>
          </a:xfrm>
          <a:prstGeom prst="rect">
            <a:avLst/>
          </a:prstGeom>
          <a:noFill/>
          <a:ln/>
        </p:spPr>
        <p:txBody>
          <a:bodyPr wrap="square" rtlCol="0" anchor="ctr"/>
          <a:lstStyle/>
          <a:p>
            <a:pPr marL="0" indent="0">
              <a:buNone/>
            </a:pPr>
            <a:r>
              <a:rPr lang="en-US" sz="1400" b="1" kern="0" spc="200" dirty="0">
                <a:solidFill>
                  <a:srgbClr val="DBAA47"/>
                </a:solidFill>
                <a:latin typeface="Calibri" pitchFamily="34" charset="0"/>
                <a:ea typeface="Calibri" pitchFamily="34" charset="-122"/>
                <a:cs typeface="Calibri" pitchFamily="34" charset="-120"/>
              </a:rPr>
              <a:t>A QUIETER WAY TO RUN YOUR PRACTICE</a:t>
            </a:r>
            <a:endParaRPr lang="en-US" sz="1400" dirty="0"/>
          </a:p>
        </p:txBody>
      </p:sp>
      <p:sp>
        <p:nvSpPr>
          <p:cNvPr id="5" name="Text 3"/>
          <p:cNvSpPr/>
          <p:nvPr/>
        </p:nvSpPr>
        <p:spPr>
          <a:xfrm>
            <a:off x="777240" y="2057400"/>
            <a:ext cx="10332720" cy="2011680"/>
          </a:xfrm>
          <a:prstGeom prst="rect">
            <a:avLst/>
          </a:prstGeom>
          <a:noFill/>
          <a:ln/>
        </p:spPr>
        <p:txBody>
          <a:bodyPr wrap="square" rtlCol="0" anchor="ctr"/>
          <a:lstStyle/>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More time caring for patients.</a:t>
            </a:r>
            <a:endParaRPr lang="en-US" sz="3800" dirty="0"/>
          </a:p>
          <a:p>
            <a:pPr marL="0" indent="0">
              <a:lnSpc>
                <a:spcPts val="4400"/>
              </a:lnSpc>
              <a:buNone/>
            </a:pPr>
            <a:r>
              <a:rPr lang="en-US" sz="3800" b="1" dirty="0">
                <a:solidFill>
                  <a:srgbClr val="FFFFFF"/>
                </a:solidFill>
                <a:latin typeface="Cambria" pitchFamily="34" charset="0"/>
                <a:ea typeface="Cambria" pitchFamily="34" charset="-122"/>
                <a:cs typeface="Cambria" pitchFamily="34" charset="-120"/>
              </a:rPr>
              <a:t>Less time on everything else.</a:t>
            </a:r>
            <a:endParaRPr lang="en-US" sz="3800" dirty="0"/>
          </a:p>
        </p:txBody>
      </p:sp>
      <p:sp>
        <p:nvSpPr>
          <p:cNvPr id="6" name="Text 4"/>
          <p:cNvSpPr/>
          <p:nvPr/>
        </p:nvSpPr>
        <p:spPr>
          <a:xfrm>
            <a:off x="822960" y="4251960"/>
            <a:ext cx="7955280" cy="1005840"/>
          </a:xfrm>
          <a:prstGeom prst="rect">
            <a:avLst/>
          </a:prstGeom>
          <a:noFill/>
          <a:ln/>
        </p:spPr>
        <p:txBody>
          <a:bodyPr wrap="square" rtlCol="0" anchor="ctr"/>
          <a:lstStyle/>
          <a:p>
            <a:pPr marL="0" indent="0">
              <a:buNone/>
            </a:pPr>
            <a:r>
              <a:rPr lang="en-US" sz="1600" i="1" dirty="0">
                <a:solidFill>
                  <a:srgbClr val="F0E9CE"/>
                </a:solidFill>
                <a:latin typeface="Calibri" pitchFamily="34" charset="0"/>
                <a:ea typeface="Calibri" pitchFamily="34" charset="-122"/>
                <a:cs typeface="Calibri" pitchFamily="34" charset="-120"/>
              </a:rPr>
              <a:t>A system that runs quietly behind the scenes, reducing the administrative work that pulls your team away from patients — set up and customized for you, so you never have to configure it yourself.</a:t>
            </a:r>
            <a:endParaRPr lang="en-US" sz="1600" dirty="0"/>
          </a:p>
        </p:txBody>
      </p:sp>
      <p:sp>
        <p:nvSpPr>
          <p:cNvPr id="7" name="Text 5"/>
          <p:cNvSpPr/>
          <p:nvPr/>
        </p:nvSpPr>
        <p:spPr>
          <a:xfrm>
            <a:off x="822960" y="6309360"/>
            <a:ext cx="7315200" cy="274320"/>
          </a:xfrm>
          <a:prstGeom prst="rect">
            <a:avLst/>
          </a:prstGeom>
          <a:noFill/>
          <a:ln/>
        </p:spPr>
        <p:txBody>
          <a:bodyPr wrap="square" rtlCol="0" anchor="ctr"/>
          <a:lstStyle/>
          <a:p>
            <a:pPr marL="0" indent="0">
              <a:buNone/>
            </a:pPr>
            <a:r>
              <a:rPr lang="en-US" sz="1100" dirty="0">
                <a:solidFill>
                  <a:srgbClr val="C4B98D"/>
                </a:solidFill>
                <a:latin typeface="Calibri" pitchFamily="34" charset="0"/>
                <a:ea typeface="Calibri" pitchFamily="34" charset="-122"/>
                <a:cs typeface="Calibri" pitchFamily="34" charset="-120"/>
              </a:rPr>
              <a:t>Prepared for discussion with your practice</a:t>
            </a:r>
            <a:endParaRPr lang="en-US" sz="1100" dirty="0"/>
          </a:p>
        </p:txBody>
      </p:sp>
      <p:pic>
        <p:nvPicPr>
          <p:cNvPr id="90" name="HaloVox logo" descr="HaloVox logo"/>
          <p:cNvPicPr>
            <a:picLocks noChangeAspect="1"/>
          </p:cNvPicPr>
          <p:nvPr/>
        </p:nvPicPr>
        <p:blipFill>
          <a:blip r:embed="rId3"/>
          <a:stretch>
            <a:fillRect/>
          </a:stretch>
        </p:blipFill>
        <p:spPr>
          <a:xfrm>
            <a:off x="8808720" y="1965960"/>
            <a:ext cx="2926080" cy="2926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640080" y="502920"/>
            <a:ext cx="10515600" cy="640080"/>
          </a:xfrm>
          <a:prstGeom prst="rect">
            <a:avLst/>
          </a:prstGeom>
          <a:noFill/>
          <a:ln/>
        </p:spPr>
        <p:txBody>
          <a:bodyPr wrap="square" rtlCol="0" anchor="ctr"/>
          <a:lstStyle/>
          <a:p>
            <a:pPr marL="0" indent="0">
              <a:buNone/>
            </a:pPr>
            <a:r>
              <a:rPr lang="en-US" sz="2800" b="1" dirty="0">
                <a:solidFill>
                  <a:srgbClr val="0B3B36"/>
                </a:solidFill>
                <a:latin typeface="Cambria" pitchFamily="34" charset="0"/>
                <a:ea typeface="Cambria" pitchFamily="34" charset="-122"/>
                <a:cs typeface="Cambria" pitchFamily="34" charset="-120"/>
              </a:rPr>
              <a:t>Why HaloVox Clinic Flow?</a:t>
            </a:r>
          </a:p>
        </p:txBody>
      </p:sp>
      <p:sp>
        <p:nvSpPr>
          <p:cNvPr id="3" name="Shape 3"/>
          <p:cNvSpPr/>
          <p:nvPr/>
        </p:nvSpPr>
        <p:spPr>
          <a:xfrm>
            <a:off x="640080" y="1691640"/>
            <a:ext cx="10515600" cy="1554480"/>
          </a:xfrm>
          <a:prstGeom prst="rect">
            <a:avLst/>
          </a:prstGeom>
          <a:noFill/>
          <a:ln/>
        </p:spPr>
        <p:txBody>
          <a:bodyPr wrap="square" rtlCol="0" anchor="ctr"/>
          <a:lstStyle/>
          <a:p>
            <a:pPr marL="0" indent="0">
              <a:lnSpc>
                <a:spcPct val="140000"/>
              </a:lnSpc>
              <a:buNone/>
            </a:pPr>
            <a:r>
              <a:rPr lang="en-US" sz="1700" dirty="0">
                <a:solidFill>
                  <a:srgbClr val="1B2B2E"/>
                </a:solidFill>
                <a:latin typeface="Calibri" pitchFamily="34" charset="0"/>
                <a:ea typeface="Calibri" pitchFamily="34" charset="-122"/>
                <a:cs typeface="Calibri" pitchFamily="34" charset="-120"/>
              </a:rPr>
              <a:t>Small practices live in a gap — too small to hire more staff, yet too small to justify enterprise systems. While healthcare technology has advanced dramatically, much of the administrative work in small practices has remained essentially unchanged for decades.</a:t>
            </a:r>
          </a:p>
        </p:txBody>
      </p:sp>
      <p:sp>
        <p:nvSpPr>
          <p:cNvPr id="4" name="Shape 4"/>
          <p:cNvSpPr/>
          <p:nvPr/>
        </p:nvSpPr>
        <p:spPr>
          <a:xfrm>
            <a:off x="640080" y="3703320"/>
            <a:ext cx="10515600" cy="1828800"/>
          </a:xfrm>
          <a:prstGeom prst="roundRect">
            <a:avLst>
              <a:gd name="adj" fmla="val 5263"/>
            </a:avLst>
          </a:prstGeom>
          <a:solidFill>
            <a:srgbClr val="F6F1DD"/>
          </a:solidFill>
          <a:ln w="12700">
            <a:solidFill>
              <a:srgbClr val="E6DDBE"/>
            </a:solidFill>
            <a:prstDash val="solid"/>
          </a:ln>
        </p:spPr>
        <p:txBody>
          <a:bodyPr wrap="square" rtlCol="0" anchor="t"/>
          <a:lstStyle/>
          <a:p>
            <a:endParaRPr lang="en-US"/>
          </a:p>
        </p:txBody>
      </p:sp>
      <p:sp>
        <p:nvSpPr>
          <p:cNvPr id="5" name="Shape 5"/>
          <p:cNvSpPr/>
          <p:nvPr/>
        </p:nvSpPr>
        <p:spPr>
          <a:xfrm>
            <a:off x="1005840" y="3931920"/>
            <a:ext cx="9783825" cy="1371600"/>
          </a:xfrm>
          <a:prstGeom prst="rect">
            <a:avLst/>
          </a:prstGeom>
          <a:noFill/>
          <a:ln/>
        </p:spPr>
        <p:txBody>
          <a:bodyPr wrap="square" rtlCol="0" anchor="ctr"/>
          <a:lstStyle/>
          <a:p>
            <a:pPr marL="0" indent="0">
              <a:lnSpc>
                <a:spcPct val="140000"/>
              </a:lnSpc>
              <a:buNone/>
            </a:pPr>
            <a:r>
              <a:rPr lang="en-US" sz="1700" dirty="0">
                <a:solidFill>
                  <a:srgbClr val="1B2B2E"/>
                </a:solidFill>
                <a:latin typeface="Calibri" pitchFamily="34" charset="0"/>
                <a:ea typeface="Calibri" pitchFamily="34" charset="-122"/>
                <a:cs typeface="Calibri" pitchFamily="34" charset="-120"/>
              </a:rPr>
              <a:t>After twenty years building enterprise healthcare solutions, I came to believe </a:t>
            </a:r>
            <a:r>
              <a:rPr lang="en-US" sz="1700" b="1" dirty="0">
                <a:solidFill>
                  <a:srgbClr val="0B3B36"/>
                </a:solidFill>
                <a:latin typeface="Calibri" pitchFamily="34" charset="0"/>
                <a:ea typeface="Calibri" pitchFamily="34" charset="-122"/>
                <a:cs typeface="Calibri" pitchFamily="34" charset="-120"/>
              </a:rPr>
              <a:t>independent practices deserve the same operational advantages as much larger organizations</a:t>
            </a:r>
            <a:r>
              <a:rPr lang="en-US" sz="1700" dirty="0">
                <a:solidFill>
                  <a:srgbClr val="1B2B2E"/>
                </a:solidFill>
                <a:latin typeface="Calibri" pitchFamily="34" charset="0"/>
                <a:ea typeface="Calibri" pitchFamily="34" charset="-122"/>
                <a:cs typeface="Calibri" pitchFamily="34" charset="-120"/>
              </a:rPr>
              <a:t>. HaloVox is my effort to make that practical, affordable, and built around the way small clinics actually work.</a:t>
            </a:r>
          </a:p>
        </p:txBody>
      </p:sp>
      <p:sp>
        <p:nvSpPr>
          <p:cNvPr id="6" name="Shape 6"/>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p>
        </p:txBody>
      </p:sp>
      <p:sp>
        <p:nvSpPr>
          <p:cNvPr id="7" name="Shape 7"/>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Why this, why 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02920"/>
            <a:ext cx="105156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What I'm offering you</a:t>
            </a:r>
            <a:endParaRPr lang="en-US" sz="3200" dirty="0"/>
          </a:p>
        </p:txBody>
      </p:sp>
      <p:sp>
        <p:nvSpPr>
          <p:cNvPr id="3" name="Text 1"/>
          <p:cNvSpPr/>
          <p:nvPr/>
        </p:nvSpPr>
        <p:spPr>
          <a:xfrm>
            <a:off x="640080" y="1115568"/>
            <a:ext cx="10058400" cy="36576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Two things, working together.</a:t>
            </a:r>
            <a:endParaRPr lang="en-US" sz="1500" dirty="0"/>
          </a:p>
        </p:txBody>
      </p:sp>
      <p:sp>
        <p:nvSpPr>
          <p:cNvPr id="4" name="Shape 2"/>
          <p:cNvSpPr/>
          <p:nvPr/>
        </p:nvSpPr>
        <p:spPr>
          <a:xfrm>
            <a:off x="640080" y="1874520"/>
            <a:ext cx="5120640" cy="3017911"/>
          </a:xfrm>
          <a:prstGeom prst="roundRect">
            <a:avLst>
              <a:gd name="adj" fmla="val 3218"/>
            </a:avLst>
          </a:prstGeom>
          <a:solidFill>
            <a:srgbClr val="F6F1DD"/>
          </a:solidFill>
          <a:ln w="12700">
            <a:solidFill>
              <a:srgbClr val="E6DDBE"/>
            </a:solidFill>
            <a:prstDash val="solid"/>
          </a:ln>
        </p:spPr>
        <p:txBody>
          <a:bodyPr/>
          <a:lstStyle/>
          <a:p>
            <a:endParaRPr lang="en-US"/>
          </a:p>
        </p:txBody>
      </p:sp>
      <p:sp>
        <p:nvSpPr>
          <p:cNvPr id="5" name="Shape 3"/>
          <p:cNvSpPr/>
          <p:nvPr/>
        </p:nvSpPr>
        <p:spPr>
          <a:xfrm>
            <a:off x="1005840" y="2240280"/>
            <a:ext cx="777240" cy="777240"/>
          </a:xfrm>
          <a:prstGeom prst="ellipse">
            <a:avLst/>
          </a:prstGeom>
          <a:solidFill>
            <a:srgbClr val="042B2B"/>
          </a:solidFill>
          <a:ln/>
        </p:spPr>
        <p:txBody>
          <a:bodyPr/>
          <a:lstStyle/>
          <a:p>
            <a:endParaRPr lang="en-US"/>
          </a:p>
        </p:txBody>
      </p:sp>
      <p:pic>
        <p:nvPicPr>
          <p:cNvPr id="6" name="Image 0" descr="/home/claude/pptxgen/icons/heart.png"/>
          <p:cNvPicPr>
            <a:picLocks noChangeAspect="1"/>
          </p:cNvPicPr>
          <p:nvPr/>
        </p:nvPicPr>
        <p:blipFill>
          <a:blip r:embed="rId3"/>
          <a:stretch>
            <a:fillRect/>
          </a:stretch>
        </p:blipFill>
        <p:spPr>
          <a:xfrm>
            <a:off x="1207008" y="2441448"/>
            <a:ext cx="374904" cy="374904"/>
          </a:xfrm>
          <a:prstGeom prst="rect">
            <a:avLst/>
          </a:prstGeom>
        </p:spPr>
      </p:pic>
      <p:sp>
        <p:nvSpPr>
          <p:cNvPr id="7" name="Text 4"/>
          <p:cNvSpPr/>
          <p:nvPr/>
        </p:nvSpPr>
        <p:spPr>
          <a:xfrm>
            <a:off x="1897380" y="2250831"/>
            <a:ext cx="3776589" cy="822960"/>
          </a:xfrm>
          <a:prstGeom prst="rect">
            <a:avLst/>
          </a:prstGeom>
          <a:noFill/>
          <a:ln/>
        </p:spPr>
        <p:txBody>
          <a:bodyPr wrap="square" rtlCol="0" anchor="ctr"/>
          <a:lstStyle/>
          <a:p>
            <a:pPr marL="0" indent="0">
              <a:lnSpc>
                <a:spcPct val="110000"/>
              </a:lnSpc>
              <a:buNone/>
            </a:pPr>
            <a:r>
              <a:rPr lang="en-US" sz="1900" b="1" dirty="0">
                <a:solidFill>
                  <a:srgbClr val="0B3B36"/>
                </a:solidFill>
                <a:latin typeface="Cambria" pitchFamily="34" charset="0"/>
                <a:ea typeface="Cambria" pitchFamily="34" charset="-122"/>
                <a:cs typeface="Cambria" pitchFamily="34" charset="-120"/>
              </a:rPr>
              <a:t>A system that works for you quietly behind the scenes</a:t>
            </a:r>
            <a:endParaRPr lang="en-US" sz="1900" dirty="0"/>
          </a:p>
        </p:txBody>
      </p:sp>
      <p:sp>
        <p:nvSpPr>
          <p:cNvPr id="8" name="Text 5"/>
          <p:cNvSpPr/>
          <p:nvPr/>
        </p:nvSpPr>
        <p:spPr>
          <a:xfrm>
            <a:off x="1083994" y="3226660"/>
            <a:ext cx="4389120" cy="1554480"/>
          </a:xfrm>
          <a:prstGeom prst="rect">
            <a:avLst/>
          </a:prstGeom>
          <a:noFill/>
          <a:ln/>
        </p:spPr>
        <p:txBody>
          <a:bodyPr wrap="square" rtlCol="0" anchor="ctr"/>
          <a:lstStyle/>
          <a:p>
            <a:pPr marL="0" indent="0">
              <a:lnSpc>
                <a:spcPct val="130000"/>
              </a:lnSpc>
              <a:buNone/>
            </a:pPr>
            <a:r>
              <a:rPr lang="en-US" sz="1450" dirty="0">
                <a:solidFill>
                  <a:srgbClr val="1B2B2E"/>
                </a:solidFill>
                <a:latin typeface="Calibri" pitchFamily="34" charset="0"/>
                <a:ea typeface="Calibri" pitchFamily="34" charset="-122"/>
                <a:cs typeface="Calibri" pitchFamily="34" charset="-120"/>
              </a:rPr>
              <a:t>It takes on the manual administrative work — reminders, insurance checks, fax handling, and more — so your team's time goes back to where it matters most: caring for patients.</a:t>
            </a:r>
            <a:endParaRPr lang="en-US" sz="1450" dirty="0"/>
          </a:p>
        </p:txBody>
      </p:sp>
      <p:sp>
        <p:nvSpPr>
          <p:cNvPr id="9" name="Shape 6"/>
          <p:cNvSpPr/>
          <p:nvPr/>
        </p:nvSpPr>
        <p:spPr>
          <a:xfrm>
            <a:off x="6080760" y="1874520"/>
            <a:ext cx="5120640" cy="3017911"/>
          </a:xfrm>
          <a:prstGeom prst="roundRect">
            <a:avLst>
              <a:gd name="adj" fmla="val 3218"/>
            </a:avLst>
          </a:prstGeom>
          <a:solidFill>
            <a:srgbClr val="F6F1DD"/>
          </a:solidFill>
          <a:ln w="12700">
            <a:solidFill>
              <a:srgbClr val="E6DDBE"/>
            </a:solidFill>
            <a:prstDash val="solid"/>
          </a:ln>
        </p:spPr>
        <p:txBody>
          <a:bodyPr/>
          <a:lstStyle/>
          <a:p>
            <a:endParaRPr lang="en-US"/>
          </a:p>
        </p:txBody>
      </p:sp>
      <p:sp>
        <p:nvSpPr>
          <p:cNvPr id="10" name="Shape 7"/>
          <p:cNvSpPr/>
          <p:nvPr/>
        </p:nvSpPr>
        <p:spPr>
          <a:xfrm>
            <a:off x="6446520" y="2240280"/>
            <a:ext cx="777240" cy="777240"/>
          </a:xfrm>
          <a:prstGeom prst="ellipse">
            <a:avLst/>
          </a:prstGeom>
          <a:solidFill>
            <a:srgbClr val="042B2B"/>
          </a:solidFill>
          <a:ln/>
        </p:spPr>
        <p:txBody>
          <a:bodyPr/>
          <a:lstStyle/>
          <a:p>
            <a:endParaRPr lang="en-US"/>
          </a:p>
        </p:txBody>
      </p:sp>
      <p:pic>
        <p:nvPicPr>
          <p:cNvPr id="11" name="Image 1" descr="/home/claude/pptxgen/icons/headset.png"/>
          <p:cNvPicPr>
            <a:picLocks noChangeAspect="1"/>
          </p:cNvPicPr>
          <p:nvPr/>
        </p:nvPicPr>
        <p:blipFill>
          <a:blip r:embed="rId4"/>
          <a:stretch>
            <a:fillRect/>
          </a:stretch>
        </p:blipFill>
        <p:spPr>
          <a:xfrm>
            <a:off x="6647688" y="2441448"/>
            <a:ext cx="374904" cy="374904"/>
          </a:xfrm>
          <a:prstGeom prst="rect">
            <a:avLst/>
          </a:prstGeom>
        </p:spPr>
      </p:pic>
      <p:sp>
        <p:nvSpPr>
          <p:cNvPr id="12" name="Text 8"/>
          <p:cNvSpPr/>
          <p:nvPr/>
        </p:nvSpPr>
        <p:spPr>
          <a:xfrm>
            <a:off x="7223760" y="2088896"/>
            <a:ext cx="4389120" cy="822960"/>
          </a:xfrm>
          <a:prstGeom prst="rect">
            <a:avLst/>
          </a:prstGeom>
          <a:noFill/>
          <a:ln/>
        </p:spPr>
        <p:txBody>
          <a:bodyPr wrap="square" rtlCol="0" anchor="ctr"/>
          <a:lstStyle/>
          <a:p>
            <a:pPr>
              <a:lnSpc>
                <a:spcPct val="110000"/>
              </a:lnSpc>
            </a:pPr>
            <a:r>
              <a:rPr lang="en-US" sz="1900" b="1" dirty="0">
                <a:solidFill>
                  <a:srgbClr val="0B3B36"/>
                </a:solidFill>
                <a:latin typeface="Cambria" pitchFamily="34" charset="0"/>
                <a:ea typeface="Cambria" pitchFamily="34" charset="-122"/>
                <a:cs typeface="Cambria" pitchFamily="34" charset="-120"/>
              </a:rPr>
              <a:t>Onboarding Service, done for you</a:t>
            </a:r>
            <a:endParaRPr lang="en-US" sz="1900" dirty="0"/>
          </a:p>
        </p:txBody>
      </p:sp>
      <p:sp>
        <p:nvSpPr>
          <p:cNvPr id="13" name="Text 9"/>
          <p:cNvSpPr/>
          <p:nvPr/>
        </p:nvSpPr>
        <p:spPr>
          <a:xfrm>
            <a:off x="6647688" y="3168905"/>
            <a:ext cx="4389120" cy="1554480"/>
          </a:xfrm>
          <a:prstGeom prst="rect">
            <a:avLst/>
          </a:prstGeom>
          <a:noFill/>
          <a:ln/>
        </p:spPr>
        <p:txBody>
          <a:bodyPr wrap="square" rtlCol="0" anchor="ctr"/>
          <a:lstStyle/>
          <a:p>
            <a:pPr marL="0" indent="0">
              <a:lnSpc>
                <a:spcPct val="130000"/>
              </a:lnSpc>
              <a:buNone/>
            </a:pPr>
            <a:r>
              <a:rPr lang="en-US" sz="1450" dirty="0">
                <a:solidFill>
                  <a:srgbClr val="1B2B2E"/>
                </a:solidFill>
                <a:latin typeface="Calibri" pitchFamily="34" charset="0"/>
                <a:ea typeface="Calibri" pitchFamily="34" charset="-122"/>
                <a:cs typeface="Calibri" pitchFamily="34" charset="-120"/>
              </a:rPr>
              <a:t>We set it up and customize it around how your clinic actually works. You never have to figure out configuration, software, or technology — that part is entirely on us.</a:t>
            </a:r>
            <a:endParaRPr lang="en-US" sz="1450" dirty="0"/>
          </a:p>
        </p:txBody>
      </p:sp>
      <p:sp>
        <p:nvSpPr>
          <p:cNvPr id="14" name="Text 10"/>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5" name="Text 11"/>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offer, in short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640080"/>
          </a:xfrm>
          <a:prstGeom prst="rect">
            <a:avLst/>
          </a:prstGeom>
          <a:noFill/>
          <a:ln/>
        </p:spPr>
        <p:txBody>
          <a:bodyPr wrap="square" rtlCol="0" anchor="ctr"/>
          <a:lstStyle/>
          <a:p>
            <a:pPr marL="0" indent="0">
              <a:buNone/>
            </a:pPr>
            <a:r>
              <a:rPr lang="en-US" sz="3200" b="1" dirty="0">
                <a:solidFill>
                  <a:srgbClr val="1B2B2E"/>
                </a:solidFill>
                <a:latin typeface="Cambria" pitchFamily="34" charset="0"/>
                <a:ea typeface="Cambria" pitchFamily="34" charset="-122"/>
                <a:cs typeface="Cambria" pitchFamily="34" charset="-120"/>
              </a:rPr>
              <a:t>A typical day at your front desk</a:t>
            </a:r>
            <a:endParaRPr lang="en-US" sz="3200" dirty="0"/>
          </a:p>
        </p:txBody>
      </p:sp>
      <p:sp>
        <p:nvSpPr>
          <p:cNvPr id="3" name="Text 1"/>
          <p:cNvSpPr/>
          <p:nvPr/>
        </p:nvSpPr>
        <p:spPr>
          <a:xfrm>
            <a:off x="640080" y="1078992"/>
            <a:ext cx="10058400" cy="36576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How most small clinic offices run today —</a:t>
            </a:r>
            <a:endParaRPr lang="en-US" sz="1500" dirty="0"/>
          </a:p>
        </p:txBody>
      </p:sp>
      <p:sp>
        <p:nvSpPr>
          <p:cNvPr id="4" name="Shape 2"/>
          <p:cNvSpPr/>
          <p:nvPr/>
        </p:nvSpPr>
        <p:spPr>
          <a:xfrm>
            <a:off x="822960" y="1764792"/>
            <a:ext cx="128016" cy="128016"/>
          </a:xfrm>
          <a:prstGeom prst="ellipse">
            <a:avLst/>
          </a:prstGeom>
          <a:solidFill>
            <a:srgbClr val="DBAA47"/>
          </a:solidFill>
          <a:ln/>
        </p:spPr>
        <p:txBody>
          <a:bodyPr/>
          <a:lstStyle/>
          <a:p>
            <a:endParaRPr lang="en-US"/>
          </a:p>
        </p:txBody>
      </p:sp>
      <p:sp>
        <p:nvSpPr>
          <p:cNvPr id="5" name="Text 3"/>
          <p:cNvSpPr/>
          <p:nvPr/>
        </p:nvSpPr>
        <p:spPr>
          <a:xfrm>
            <a:off x="1143000" y="1737360"/>
            <a:ext cx="9692640" cy="457200"/>
          </a:xfrm>
          <a:prstGeom prst="rect">
            <a:avLst/>
          </a:prstGeom>
          <a:noFill/>
          <a:ln/>
        </p:spPr>
        <p:txBody>
          <a:bodyPr wrap="square" rtlCol="0" anchor="ctr"/>
          <a:lstStyle/>
          <a:p>
            <a:r>
              <a:rPr lang="en-US" sz="1700" dirty="0">
                <a:solidFill>
                  <a:srgbClr val="1B2B2E"/>
                </a:solidFill>
                <a:latin typeface="Calibri" pitchFamily="34" charset="0"/>
                <a:ea typeface="Calibri" pitchFamily="34" charset="-122"/>
                <a:cs typeface="Calibri" pitchFamily="34" charset="-120"/>
              </a:rPr>
              <a:t>Sorting and hand-delivering every incoming fax; faxing records out, then calling to make sure they arrived</a:t>
            </a:r>
            <a:endParaRPr lang="en-US" sz="1700" dirty="0"/>
          </a:p>
          <a:p>
            <a:pPr marL="0" indent="0">
              <a:buNone/>
            </a:pPr>
            <a:endParaRPr lang="en-US" sz="1700" dirty="0"/>
          </a:p>
        </p:txBody>
      </p:sp>
      <p:sp>
        <p:nvSpPr>
          <p:cNvPr id="6" name="Shape 4"/>
          <p:cNvSpPr/>
          <p:nvPr/>
        </p:nvSpPr>
        <p:spPr>
          <a:xfrm>
            <a:off x="822960" y="2386584"/>
            <a:ext cx="128016" cy="128016"/>
          </a:xfrm>
          <a:prstGeom prst="ellipse">
            <a:avLst/>
          </a:prstGeom>
          <a:solidFill>
            <a:srgbClr val="DBAA47"/>
          </a:solidFill>
          <a:ln/>
        </p:spPr>
        <p:txBody>
          <a:bodyPr/>
          <a:lstStyle/>
          <a:p>
            <a:endParaRPr lang="en-US"/>
          </a:p>
        </p:txBody>
      </p:sp>
      <p:sp>
        <p:nvSpPr>
          <p:cNvPr id="7" name="Text 5"/>
          <p:cNvSpPr/>
          <p:nvPr/>
        </p:nvSpPr>
        <p:spPr>
          <a:xfrm>
            <a:off x="1143000" y="2324452"/>
            <a:ext cx="9692640"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Receiving incoming calls, and calling patients for appointments, rescheduling, prescription/refill, give lab orders etc. </a:t>
            </a:r>
            <a:endParaRPr lang="en-US" sz="1700" dirty="0"/>
          </a:p>
        </p:txBody>
      </p:sp>
      <p:sp>
        <p:nvSpPr>
          <p:cNvPr id="8" name="Shape 6"/>
          <p:cNvSpPr/>
          <p:nvPr/>
        </p:nvSpPr>
        <p:spPr>
          <a:xfrm>
            <a:off x="826790" y="3101848"/>
            <a:ext cx="128016" cy="128016"/>
          </a:xfrm>
          <a:prstGeom prst="ellipse">
            <a:avLst/>
          </a:prstGeom>
          <a:solidFill>
            <a:srgbClr val="DBAA47"/>
          </a:solidFill>
          <a:ln/>
        </p:spPr>
        <p:txBody>
          <a:bodyPr/>
          <a:lstStyle/>
          <a:p>
            <a:endParaRPr lang="en-US"/>
          </a:p>
        </p:txBody>
      </p:sp>
      <p:sp>
        <p:nvSpPr>
          <p:cNvPr id="9" name="Text 7"/>
          <p:cNvSpPr/>
          <p:nvPr/>
        </p:nvSpPr>
        <p:spPr>
          <a:xfrm>
            <a:off x="1143000" y="2929831"/>
            <a:ext cx="9954846"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Check Eligibility for each patient; fill out prior authorization request and check status; fill out referral request.</a:t>
            </a:r>
            <a:endParaRPr lang="en-US" sz="1700" dirty="0"/>
          </a:p>
        </p:txBody>
      </p:sp>
      <p:sp>
        <p:nvSpPr>
          <p:cNvPr id="10" name="Shape 8"/>
          <p:cNvSpPr/>
          <p:nvPr/>
        </p:nvSpPr>
        <p:spPr>
          <a:xfrm>
            <a:off x="822960" y="3651191"/>
            <a:ext cx="128016" cy="128016"/>
          </a:xfrm>
          <a:prstGeom prst="ellipse">
            <a:avLst/>
          </a:prstGeom>
          <a:solidFill>
            <a:srgbClr val="DBAA47"/>
          </a:solidFill>
          <a:ln/>
        </p:spPr>
        <p:txBody>
          <a:bodyPr/>
          <a:lstStyle/>
          <a:p>
            <a:endParaRPr lang="en-US"/>
          </a:p>
        </p:txBody>
      </p:sp>
      <p:sp>
        <p:nvSpPr>
          <p:cNvPr id="11" name="Text 9"/>
          <p:cNvSpPr/>
          <p:nvPr/>
        </p:nvSpPr>
        <p:spPr>
          <a:xfrm>
            <a:off x="1143000" y="3516141"/>
            <a:ext cx="9692640" cy="457200"/>
          </a:xfrm>
          <a:prstGeom prst="rect">
            <a:avLst/>
          </a:prstGeom>
          <a:noFill/>
          <a:ln/>
        </p:spPr>
        <p:txBody>
          <a:bodyPr wrap="square" rtlCol="0" anchor="ctr"/>
          <a:lstStyle/>
          <a:p>
            <a:pPr marL="0" indent="0">
              <a:buNone/>
            </a:pPr>
            <a:r>
              <a:rPr lang="en-US" sz="1700" dirty="0">
                <a:solidFill>
                  <a:srgbClr val="1B2B2E"/>
                </a:solidFill>
                <a:latin typeface="Calibri" pitchFamily="34" charset="0"/>
                <a:ea typeface="Calibri" pitchFamily="34" charset="-122"/>
                <a:cs typeface="Calibri" pitchFamily="34" charset="-120"/>
              </a:rPr>
              <a:t>Tracking who's due for wellness visits, immunization, health screenings etc., then reaching out one by one</a:t>
            </a:r>
            <a:endParaRPr lang="en-US" sz="1700" dirty="0"/>
          </a:p>
        </p:txBody>
      </p:sp>
      <p:sp>
        <p:nvSpPr>
          <p:cNvPr id="14" name="Shape 12"/>
          <p:cNvSpPr/>
          <p:nvPr/>
        </p:nvSpPr>
        <p:spPr>
          <a:xfrm>
            <a:off x="548640" y="5590735"/>
            <a:ext cx="10881360" cy="777240"/>
          </a:xfrm>
          <a:prstGeom prst="roundRect">
            <a:avLst>
              <a:gd name="adj" fmla="val 11765"/>
            </a:avLst>
          </a:prstGeom>
          <a:solidFill>
            <a:srgbClr val="F6F1DD"/>
          </a:solidFill>
          <a:ln w="12700">
            <a:solidFill>
              <a:srgbClr val="E6DDBE"/>
            </a:solidFill>
            <a:prstDash val="solid"/>
          </a:ln>
        </p:spPr>
        <p:txBody>
          <a:bodyPr/>
          <a:lstStyle/>
          <a:p>
            <a:endParaRPr lang="en-US"/>
          </a:p>
        </p:txBody>
      </p:sp>
      <p:sp>
        <p:nvSpPr>
          <p:cNvPr id="15" name="Text 13"/>
          <p:cNvSpPr/>
          <p:nvPr/>
        </p:nvSpPr>
        <p:spPr>
          <a:xfrm>
            <a:off x="822960" y="5590735"/>
            <a:ext cx="10332720" cy="777240"/>
          </a:xfrm>
          <a:prstGeom prst="rect">
            <a:avLst/>
          </a:prstGeom>
          <a:noFill/>
          <a:ln/>
        </p:spPr>
        <p:txBody>
          <a:bodyPr wrap="square" rtlCol="0" anchor="ctr"/>
          <a:lstStyle/>
          <a:p>
            <a:r>
              <a:rPr lang="en-US" sz="1500" i="1" dirty="0">
                <a:solidFill>
                  <a:srgbClr val="0B3B36"/>
                </a:solidFill>
                <a:latin typeface="Calibri" pitchFamily="34" charset="0"/>
                <a:ea typeface="Calibri" pitchFamily="34" charset="-122"/>
                <a:cs typeface="Calibri" pitchFamily="34" charset="-120"/>
              </a:rPr>
              <a:t>Front desk spends significant time on repetitive, time-consuming manual tasks. This is what we can help.  </a:t>
            </a:r>
            <a:endParaRPr lang="en-US" sz="1500" dirty="0"/>
          </a:p>
        </p:txBody>
      </p:sp>
      <p:sp>
        <p:nvSpPr>
          <p:cNvPr id="16" name="Text 14"/>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7" name="Text 15"/>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situation today</a:t>
            </a:r>
            <a:endParaRPr lang="en-US" sz="900" dirty="0"/>
          </a:p>
        </p:txBody>
      </p:sp>
      <p:sp>
        <p:nvSpPr>
          <p:cNvPr id="19" name="Shape 8">
            <a:extLst>
              <a:ext uri="{FF2B5EF4-FFF2-40B4-BE49-F238E27FC236}">
                <a16:creationId xmlns:a16="http://schemas.microsoft.com/office/drawing/2014/main" id="{012E87EA-A499-258C-1E59-FC34AA19146B}"/>
              </a:ext>
            </a:extLst>
          </p:cNvPr>
          <p:cNvSpPr/>
          <p:nvPr/>
        </p:nvSpPr>
        <p:spPr>
          <a:xfrm>
            <a:off x="822960" y="4271030"/>
            <a:ext cx="128016" cy="128016"/>
          </a:xfrm>
          <a:prstGeom prst="ellipse">
            <a:avLst/>
          </a:prstGeom>
          <a:solidFill>
            <a:srgbClr val="DBAA47"/>
          </a:solidFill>
          <a:ln/>
        </p:spPr>
        <p:txBody>
          <a:bodyPr/>
          <a:lstStyle/>
          <a:p>
            <a:endParaRPr lang="en-US"/>
          </a:p>
        </p:txBody>
      </p:sp>
      <p:sp>
        <p:nvSpPr>
          <p:cNvPr id="21" name="Text 9">
            <a:extLst>
              <a:ext uri="{FF2B5EF4-FFF2-40B4-BE49-F238E27FC236}">
                <a16:creationId xmlns:a16="http://schemas.microsoft.com/office/drawing/2014/main" id="{714A7359-02C4-1ABE-3FD5-9E016AEE5DD2}"/>
              </a:ext>
            </a:extLst>
          </p:cNvPr>
          <p:cNvSpPr/>
          <p:nvPr/>
        </p:nvSpPr>
        <p:spPr>
          <a:xfrm>
            <a:off x="1143000" y="4445860"/>
            <a:ext cx="9692640" cy="457200"/>
          </a:xfrm>
          <a:prstGeom prst="rect">
            <a:avLst/>
          </a:prstGeom>
          <a:noFill/>
          <a:ln/>
        </p:spPr>
        <p:txBody>
          <a:bodyPr wrap="square" rtlCol="0" anchor="ctr"/>
          <a:lstStyle/>
          <a:p>
            <a:r>
              <a:rPr lang="en-US" sz="1600" dirty="0"/>
              <a:t>Answering the same questions repeatedly. </a:t>
            </a:r>
            <a:br>
              <a:rPr lang="en-US" sz="1600" dirty="0"/>
            </a:br>
            <a:r>
              <a:rPr lang="en-US" sz="1600" i="1" dirty="0"/>
              <a:t>What are your hours?</a:t>
            </a:r>
            <a:br>
              <a:rPr lang="en-US" sz="1600" i="1" dirty="0"/>
            </a:br>
            <a:r>
              <a:rPr lang="en-US" sz="1600" i="1" dirty="0"/>
              <a:t>Do you take my insurance?</a:t>
            </a:r>
            <a:br>
              <a:rPr lang="en-US" sz="1600" i="1" dirty="0"/>
            </a:br>
            <a:r>
              <a:rPr lang="en-US" sz="1600" i="1" dirty="0"/>
              <a:t>Do you take new patient?</a:t>
            </a:r>
            <a:endParaRPr lang="en-US" sz="17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DBAA47"/>
          </a:solidFill>
          <a:ln/>
        </p:spPr>
        <p:txBody>
          <a:bodyPr/>
          <a:lstStyle/>
          <a:p>
            <a:endParaRPr lang="en-US"/>
          </a:p>
        </p:txBody>
      </p:sp>
      <p:pic>
        <p:nvPicPr>
          <p:cNvPr id="3" name="Image 0" descr="clipboard-check icon"/>
          <p:cNvPicPr>
            <a:picLocks noChangeAspect="1"/>
          </p:cNvPicPr>
          <p:nvPr/>
        </p:nvPicPr>
        <p:blipFill>
          <a:blip r:embed="rId2"/>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800" b="1" dirty="0">
                <a:solidFill>
                  <a:srgbClr val="1B2B2E"/>
                </a:solidFill>
                <a:latin typeface="Cambria" pitchFamily="34" charset="0"/>
                <a:ea typeface="Cambria" pitchFamily="34" charset="-122"/>
                <a:cs typeface="Cambria" pitchFamily="34" charset="-120"/>
              </a:rPr>
              <a:t>Phase 1 — Where we start</a:t>
            </a:r>
            <a:endParaRPr lang="en-US" sz="28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Four workflows automated from day one — the pilot starting scope, set up around your clinic.</a:t>
            </a:r>
            <a:endParaRPr lang="en-US" sz="1500" dirty="0"/>
          </a:p>
        </p:txBody>
      </p:sp>
      <p:sp>
        <p:nvSpPr>
          <p:cNvPr id="6" name="Shape 3"/>
          <p:cNvSpPr/>
          <p:nvPr/>
        </p:nvSpPr>
        <p:spPr>
          <a:xfrm>
            <a:off x="64008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7" name="Text 4"/>
          <p:cNvSpPr/>
          <p:nvPr/>
        </p:nvSpPr>
        <p:spPr>
          <a:xfrm>
            <a:off x="91440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Appointment reminders &amp; no-shows</a:t>
            </a:r>
            <a:endParaRPr lang="en-US" sz="1700" dirty="0"/>
          </a:p>
        </p:txBody>
      </p:sp>
      <p:sp>
        <p:nvSpPr>
          <p:cNvPr id="8" name="Text 5"/>
          <p:cNvSpPr/>
          <p:nvPr/>
        </p:nvSpPr>
        <p:spPr>
          <a:xfrm>
            <a:off x="91440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Automatic confirmation texts before each visit; a no-show triggers a rebooking prompt, and responses are recorded for you.</a:t>
            </a:r>
            <a:endParaRPr lang="en-US" sz="1350" dirty="0"/>
          </a:p>
        </p:txBody>
      </p:sp>
      <p:sp>
        <p:nvSpPr>
          <p:cNvPr id="9" name="Shape 6"/>
          <p:cNvSpPr/>
          <p:nvPr/>
        </p:nvSpPr>
        <p:spPr>
          <a:xfrm>
            <a:off x="608076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 name="Text 7"/>
          <p:cNvSpPr/>
          <p:nvPr/>
        </p:nvSpPr>
        <p:spPr>
          <a:xfrm>
            <a:off x="635508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Insurance eligibility checks</a:t>
            </a:r>
            <a:endParaRPr lang="en-US" sz="1700" dirty="0"/>
          </a:p>
        </p:txBody>
      </p:sp>
      <p:sp>
        <p:nvSpPr>
          <p:cNvPr id="11" name="Text 8"/>
          <p:cNvSpPr/>
          <p:nvPr/>
        </p:nvSpPr>
        <p:spPr>
          <a:xfrm>
            <a:off x="635508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Coverage verified automatically days before each visit for your most common plans — your team is alerted early if something's wrong.</a:t>
            </a:r>
            <a:endParaRPr lang="en-US" sz="1350" dirty="0"/>
          </a:p>
        </p:txBody>
      </p:sp>
      <p:sp>
        <p:nvSpPr>
          <p:cNvPr id="12" name="Shape 9"/>
          <p:cNvSpPr/>
          <p:nvPr/>
        </p:nvSpPr>
        <p:spPr>
          <a:xfrm>
            <a:off x="64008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3" name="Text 10"/>
          <p:cNvSpPr/>
          <p:nvPr/>
        </p:nvSpPr>
        <p:spPr>
          <a:xfrm>
            <a:off x="91440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Incoming &amp; outgoing faxes</a:t>
            </a:r>
            <a:endParaRPr lang="en-US" sz="1700" dirty="0"/>
          </a:p>
        </p:txBody>
      </p:sp>
      <p:sp>
        <p:nvSpPr>
          <p:cNvPr id="14" name="Text 11"/>
          <p:cNvSpPr/>
          <p:nvPr/>
        </p:nvSpPr>
        <p:spPr>
          <a:xfrm>
            <a:off x="91440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Incoming faxes route themselves to the right person; outgoing records go with an auto-filled cover sheet and delivery confirmation.</a:t>
            </a:r>
            <a:endParaRPr lang="en-US" sz="1350" dirty="0"/>
          </a:p>
        </p:txBody>
      </p:sp>
      <p:sp>
        <p:nvSpPr>
          <p:cNvPr id="15" name="Shape 12"/>
          <p:cNvSpPr/>
          <p:nvPr/>
        </p:nvSpPr>
        <p:spPr>
          <a:xfrm>
            <a:off x="608076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6" name="Text 13"/>
          <p:cNvSpPr/>
          <p:nvPr/>
        </p:nvSpPr>
        <p:spPr>
          <a:xfrm>
            <a:off x="635508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Preventive care &amp; care-gap outreach</a:t>
            </a:r>
            <a:endParaRPr lang="en-US" sz="1700" dirty="0"/>
          </a:p>
        </p:txBody>
      </p:sp>
      <p:sp>
        <p:nvSpPr>
          <p:cNvPr id="17" name="Text 14"/>
          <p:cNvSpPr/>
          <p:nvPr/>
        </p:nvSpPr>
        <p:spPr>
          <a:xfrm>
            <a:off x="635508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Patients due for wellness visits, screenings, and follow-ups get reminders automatically — including from your insurance plans' care-gap lists.</a:t>
            </a:r>
            <a:endParaRPr lang="en-US" sz="1350" dirty="0"/>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9" name="Text 1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pilot scope</a:t>
            </a:r>
            <a:endParaRPr lang="en-US" sz="900" dirty="0"/>
          </a:p>
        </p:txBody>
      </p:sp>
      <p:sp>
        <p:nvSpPr>
          <p:cNvPr id="40" name="Text 40"/>
          <p:cNvSpPr/>
          <p:nvPr/>
        </p:nvSpPr>
        <p:spPr>
          <a:xfrm>
            <a:off x="640080" y="5867400"/>
            <a:ext cx="10561320" cy="365760"/>
          </a:xfrm>
          <a:prstGeom prst="rect">
            <a:avLst/>
          </a:prstGeom>
          <a:noFill/>
          <a:ln/>
        </p:spPr>
        <p:txBody>
          <a:bodyPr wrap="square" rtlCol="0" anchor="ctr"/>
          <a:lstStyle/>
          <a:p>
            <a:pPr marL="0" indent="0" algn="ctr">
              <a:buNone/>
            </a:pPr>
            <a:r>
              <a:rPr lang="en-US" sz="1250" i="1" dirty="0">
                <a:solidFill>
                  <a:srgbClr val="6E6857"/>
                </a:solidFill>
                <a:latin typeface="Calibri" pitchFamily="34" charset="0"/>
                <a:ea typeface="Calibri" pitchFamily="34" charset="-122"/>
                <a:cs typeface="Calibri" pitchFamily="34" charset="-120"/>
              </a:rPr>
              <a:t>Included in the pilot — free to set up, customized around how your clinic 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DBAA47"/>
          </a:solidFill>
          <a:ln/>
        </p:spPr>
        <p:txBody>
          <a:bodyPr/>
          <a:lstStyle/>
          <a:p>
            <a:endParaRPr lang="en-US"/>
          </a:p>
        </p:txBody>
      </p:sp>
      <p:pic>
        <p:nvPicPr>
          <p:cNvPr id="3" name="Image 0" descr="phone icon"/>
          <p:cNvPicPr>
            <a:picLocks noChangeAspect="1"/>
          </p:cNvPicPr>
          <p:nvPr/>
        </p:nvPicPr>
        <p:blipFill>
          <a:blip r:embed="rId2"/>
          <a:stretch>
            <a:fillRect/>
          </a:stretch>
        </p:blipFill>
        <p:spPr>
          <a:xfrm>
            <a:off x="841248" y="704088"/>
            <a:ext cx="466344" cy="466344"/>
          </a:xfrm>
          <a:prstGeom prst="rect">
            <a:avLst/>
          </a:prstGeom>
        </p:spPr>
      </p:pic>
      <p:sp>
        <p:nvSpPr>
          <p:cNvPr id="4" name="Text 1"/>
          <p:cNvSpPr/>
          <p:nvPr/>
        </p:nvSpPr>
        <p:spPr>
          <a:xfrm>
            <a:off x="1737360" y="457200"/>
            <a:ext cx="10058400" cy="548640"/>
          </a:xfrm>
          <a:prstGeom prst="rect">
            <a:avLst/>
          </a:prstGeom>
          <a:noFill/>
          <a:ln/>
        </p:spPr>
        <p:txBody>
          <a:bodyPr wrap="square" rtlCol="0" anchor="ctr"/>
          <a:lstStyle/>
          <a:p>
            <a:pPr marL="0" indent="0">
              <a:buNone/>
            </a:pPr>
            <a:r>
              <a:rPr lang="en-US" sz="2400" b="1" dirty="0">
                <a:solidFill>
                  <a:srgbClr val="1B2B2E"/>
                </a:solidFill>
                <a:latin typeface="Cambria" pitchFamily="34" charset="0"/>
                <a:ea typeface="Cambria" pitchFamily="34" charset="-122"/>
                <a:cs typeface="Cambria" pitchFamily="34" charset="-120"/>
              </a:rPr>
              <a:t>Phase 2 — Introduce a new smart staff member: a voice agent</a:t>
            </a:r>
            <a:endParaRPr lang="en-US" sz="24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It answers the phone and takes requests, any hour — everything stays pending until your team approves.</a:t>
            </a:r>
            <a:endParaRPr lang="en-US" sz="1500" dirty="0"/>
          </a:p>
        </p:txBody>
      </p:sp>
      <p:sp>
        <p:nvSpPr>
          <p:cNvPr id="6" name="Shape 3"/>
          <p:cNvSpPr/>
          <p:nvPr/>
        </p:nvSpPr>
        <p:spPr>
          <a:xfrm>
            <a:off x="64008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7" name="Text 4"/>
          <p:cNvSpPr/>
          <p:nvPr/>
        </p:nvSpPr>
        <p:spPr>
          <a:xfrm>
            <a:off x="91440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Intakes appointment requests</a:t>
            </a:r>
            <a:endParaRPr lang="en-US" sz="1700" dirty="0"/>
          </a:p>
        </p:txBody>
      </p:sp>
      <p:sp>
        <p:nvSpPr>
          <p:cNvPr id="8" name="Text 5"/>
          <p:cNvSpPr/>
          <p:nvPr/>
        </p:nvSpPr>
        <p:spPr>
          <a:xfrm>
            <a:off x="91440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The request lands on the calendar as pending(or auto-approve depends on your rules). Once the doctor approves, the patient gets a confirmation text automatically.</a:t>
            </a:r>
            <a:endParaRPr lang="en-US" sz="1350" dirty="0"/>
          </a:p>
        </p:txBody>
      </p:sp>
      <p:sp>
        <p:nvSpPr>
          <p:cNvPr id="9" name="Shape 6"/>
          <p:cNvSpPr/>
          <p:nvPr/>
        </p:nvSpPr>
        <p:spPr>
          <a:xfrm>
            <a:off x="608076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 name="Text 7"/>
          <p:cNvSpPr/>
          <p:nvPr/>
        </p:nvSpPr>
        <p:spPr>
          <a:xfrm>
            <a:off x="635508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Intakes refill requests</a:t>
            </a:r>
            <a:endParaRPr lang="en-US" sz="1700" dirty="0"/>
          </a:p>
        </p:txBody>
      </p:sp>
      <p:sp>
        <p:nvSpPr>
          <p:cNvPr id="11" name="Text 8"/>
          <p:cNvSpPr/>
          <p:nvPr/>
        </p:nvSpPr>
        <p:spPr>
          <a:xfrm>
            <a:off x="635508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A pending refill request goes to the doctor for approval — the patient and pharmacy is notified once it's approved.</a:t>
            </a:r>
            <a:endParaRPr lang="en-US" sz="1350" dirty="0"/>
          </a:p>
        </p:txBody>
      </p:sp>
      <p:sp>
        <p:nvSpPr>
          <p:cNvPr id="12" name="Shape 9"/>
          <p:cNvSpPr/>
          <p:nvPr/>
        </p:nvSpPr>
        <p:spPr>
          <a:xfrm>
            <a:off x="64008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3" name="Text 10"/>
          <p:cNvSpPr/>
          <p:nvPr/>
        </p:nvSpPr>
        <p:spPr>
          <a:xfrm>
            <a:off x="91440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Answers routine questions</a:t>
            </a:r>
            <a:endParaRPr lang="en-US" sz="1700" dirty="0"/>
          </a:p>
        </p:txBody>
      </p:sp>
      <p:sp>
        <p:nvSpPr>
          <p:cNvPr id="14" name="Text 11"/>
          <p:cNvSpPr/>
          <p:nvPr/>
        </p:nvSpPr>
        <p:spPr>
          <a:xfrm>
            <a:off x="91440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Business hours, directions, accepted insurance, forms, balances — anything unusual automatically route to your staff.</a:t>
            </a:r>
            <a:endParaRPr lang="en-US" sz="1350" dirty="0"/>
          </a:p>
        </p:txBody>
      </p:sp>
      <p:sp>
        <p:nvSpPr>
          <p:cNvPr id="15" name="Shape 12"/>
          <p:cNvSpPr/>
          <p:nvPr/>
        </p:nvSpPr>
        <p:spPr>
          <a:xfrm>
            <a:off x="608076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6" name="Text 13"/>
          <p:cNvSpPr/>
          <p:nvPr/>
        </p:nvSpPr>
        <p:spPr>
          <a:xfrm>
            <a:off x="635508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Drafts paperwork</a:t>
            </a:r>
            <a:endParaRPr lang="en-US" sz="1700" dirty="0"/>
          </a:p>
        </p:txBody>
      </p:sp>
      <p:sp>
        <p:nvSpPr>
          <p:cNvPr id="17" name="Text 14"/>
          <p:cNvSpPr/>
          <p:nvPr/>
        </p:nvSpPr>
        <p:spPr>
          <a:xfrm>
            <a:off x="635508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Fax cover letters and referral letters, prepared as drafts for your staff to review and send.</a:t>
            </a:r>
            <a:endParaRPr lang="en-US" sz="1350" dirty="0"/>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9" name="Text 1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Growing later</a:t>
            </a:r>
            <a:endParaRPr lang="en-US" sz="900" dirty="0"/>
          </a:p>
        </p:txBody>
      </p:sp>
      <p:sp>
        <p:nvSpPr>
          <p:cNvPr id="40" name="Text 40"/>
          <p:cNvSpPr/>
          <p:nvPr/>
        </p:nvSpPr>
        <p:spPr>
          <a:xfrm>
            <a:off x="640080" y="5867400"/>
            <a:ext cx="10561320" cy="365760"/>
          </a:xfrm>
          <a:prstGeom prst="rect">
            <a:avLst/>
          </a:prstGeom>
          <a:noFill/>
          <a:ln/>
        </p:spPr>
        <p:txBody>
          <a:bodyPr wrap="square" rtlCol="0" anchor="ctr"/>
          <a:lstStyle/>
          <a:p>
            <a:pPr marL="0" indent="0" algn="ctr">
              <a:buNone/>
            </a:pPr>
            <a:r>
              <a:rPr lang="en-US" sz="1400" i="1" dirty="0">
                <a:solidFill>
                  <a:srgbClr val="6E6857"/>
                </a:solidFill>
                <a:latin typeface="Calibri" pitchFamily="34" charset="0"/>
                <a:ea typeface="Calibri" pitchFamily="34" charset="-122"/>
                <a:cs typeface="Calibri" pitchFamily="34" charset="-120"/>
              </a:rPr>
              <a:t>Optional upgrade — rollout details and any additional running costs are reviewed together when the time comes.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DBAA47"/>
          </a:solidFill>
          <a:ln/>
        </p:spPr>
        <p:txBody>
          <a:bodyPr/>
          <a:lstStyle/>
          <a:p>
            <a:endParaRPr lang="en-US"/>
          </a:p>
        </p:txBody>
      </p:sp>
      <p:pic>
        <p:nvPicPr>
          <p:cNvPr id="3" name="Image 0" descr="lightbulb icon"/>
          <p:cNvPicPr>
            <a:picLocks noChangeAspect="1"/>
          </p:cNvPicPr>
          <p:nvPr/>
        </p:nvPicPr>
        <p:blipFill>
          <a:blip r:embed="rId2"/>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800" b="1" dirty="0">
                <a:solidFill>
                  <a:srgbClr val="1B2B2E"/>
                </a:solidFill>
                <a:latin typeface="Cambria" pitchFamily="34" charset="0"/>
                <a:ea typeface="Cambria" pitchFamily="34" charset="-122"/>
                <a:cs typeface="Cambria" pitchFamily="34" charset="-120"/>
              </a:rPr>
              <a:t>Phase 3 — End-to-end, the full automation</a:t>
            </a:r>
            <a:endParaRPr lang="en-US" sz="28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The long-term destination: routine work runs itself, start to finish.</a:t>
            </a:r>
            <a:endParaRPr lang="en-US" sz="1500" dirty="0"/>
          </a:p>
        </p:txBody>
      </p:sp>
      <p:sp>
        <p:nvSpPr>
          <p:cNvPr id="6" name="Shape 3"/>
          <p:cNvSpPr/>
          <p:nvPr/>
        </p:nvSpPr>
        <p:spPr>
          <a:xfrm>
            <a:off x="64008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7" name="Text 4"/>
          <p:cNvSpPr/>
          <p:nvPr/>
        </p:nvSpPr>
        <p:spPr>
          <a:xfrm>
            <a:off x="91440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A true conversational assistant</a:t>
            </a:r>
            <a:endParaRPr lang="en-US" sz="1700" dirty="0"/>
          </a:p>
        </p:txBody>
      </p:sp>
      <p:sp>
        <p:nvSpPr>
          <p:cNvPr id="8" name="Text 5"/>
          <p:cNvSpPr/>
          <p:nvPr/>
        </p:nvSpPr>
        <p:spPr>
          <a:xfrm>
            <a:off x="91440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It knows who's calling, their appointment history, and what's due — every call handled personally and routed intelligently.</a:t>
            </a:r>
            <a:endParaRPr lang="en-US" sz="1350" dirty="0"/>
          </a:p>
        </p:txBody>
      </p:sp>
      <p:sp>
        <p:nvSpPr>
          <p:cNvPr id="9" name="Shape 6"/>
          <p:cNvSpPr/>
          <p:nvPr/>
        </p:nvSpPr>
        <p:spPr>
          <a:xfrm>
            <a:off x="6080760" y="196596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 name="Text 7"/>
          <p:cNvSpPr/>
          <p:nvPr/>
        </p:nvSpPr>
        <p:spPr>
          <a:xfrm>
            <a:off x="635508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Visit notes, drafted as you talk</a:t>
            </a:r>
            <a:endParaRPr lang="en-US" sz="1700" dirty="0"/>
          </a:p>
        </p:txBody>
      </p:sp>
      <p:sp>
        <p:nvSpPr>
          <p:cNvPr id="11" name="Text 8"/>
          <p:cNvSpPr/>
          <p:nvPr/>
        </p:nvSpPr>
        <p:spPr>
          <a:xfrm>
            <a:off x="6355080" y="256032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Documentation drafts itself from the visit conversation — the doctor reviews and signs.</a:t>
            </a:r>
            <a:endParaRPr lang="en-US" sz="1350" dirty="0"/>
          </a:p>
        </p:txBody>
      </p:sp>
      <p:sp>
        <p:nvSpPr>
          <p:cNvPr id="12" name="Shape 9"/>
          <p:cNvSpPr/>
          <p:nvPr/>
        </p:nvSpPr>
        <p:spPr>
          <a:xfrm>
            <a:off x="64008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3" name="Text 10"/>
          <p:cNvSpPr/>
          <p:nvPr/>
        </p:nvSpPr>
        <p:spPr>
          <a:xfrm>
            <a:off x="91440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Help with the insurance fights</a:t>
            </a:r>
            <a:endParaRPr lang="en-US" sz="1700" dirty="0"/>
          </a:p>
        </p:txBody>
      </p:sp>
      <p:sp>
        <p:nvSpPr>
          <p:cNvPr id="14" name="Text 11"/>
          <p:cNvSpPr/>
          <p:nvPr/>
        </p:nvSpPr>
        <p:spPr>
          <a:xfrm>
            <a:off x="91440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Prior authorizations and appeals prepared for your team to review and submit.</a:t>
            </a:r>
            <a:endParaRPr lang="en-US" sz="1350" dirty="0"/>
          </a:p>
        </p:txBody>
      </p:sp>
      <p:sp>
        <p:nvSpPr>
          <p:cNvPr id="15" name="Shape 12"/>
          <p:cNvSpPr/>
          <p:nvPr/>
        </p:nvSpPr>
        <p:spPr>
          <a:xfrm>
            <a:off x="6080760" y="3977640"/>
            <a:ext cx="5120640" cy="1737360"/>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6" name="Text 13"/>
          <p:cNvSpPr/>
          <p:nvPr/>
        </p:nvSpPr>
        <p:spPr>
          <a:xfrm>
            <a:off x="6355080" y="416052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End-to-end automation</a:t>
            </a:r>
            <a:endParaRPr lang="en-US" sz="1700" dirty="0"/>
          </a:p>
        </p:txBody>
      </p:sp>
      <p:sp>
        <p:nvSpPr>
          <p:cNvPr id="17" name="Text 14"/>
          <p:cNvSpPr/>
          <p:nvPr/>
        </p:nvSpPr>
        <p:spPr>
          <a:xfrm>
            <a:off x="6355080" y="4572000"/>
            <a:ext cx="4572000" cy="960120"/>
          </a:xfrm>
          <a:prstGeom prst="rect">
            <a:avLst/>
          </a:prstGeom>
          <a:noFill/>
          <a:ln/>
        </p:spPr>
        <p:txBody>
          <a:bodyPr wrap="square" rtlCol="0" anchor="ctr"/>
          <a:lstStyle/>
          <a:p>
            <a:pPr marL="0" indent="0">
              <a:lnSpc>
                <a:spcPct val="120000"/>
              </a:lnSpc>
              <a:buNone/>
            </a:pPr>
            <a:r>
              <a:rPr lang="en-US" sz="1350" dirty="0">
                <a:solidFill>
                  <a:srgbClr val="1B2B2E"/>
                </a:solidFill>
                <a:latin typeface="Calibri" pitchFamily="34" charset="0"/>
                <a:ea typeface="Calibri" pitchFamily="34" charset="-122"/>
                <a:cs typeface="Calibri" pitchFamily="34" charset="-120"/>
              </a:rPr>
              <a:t>From the first call to the reminder after the visit, the routine work runs itself — your team handles only what truly needs them.</a:t>
            </a:r>
            <a:endParaRPr lang="en-US" sz="1350" dirty="0"/>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9" name="Text 1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full picture</a:t>
            </a:r>
            <a:endParaRPr lang="en-US" sz="900" dirty="0"/>
          </a:p>
        </p:txBody>
      </p:sp>
      <p:sp>
        <p:nvSpPr>
          <p:cNvPr id="40" name="Text 40"/>
          <p:cNvSpPr/>
          <p:nvPr/>
        </p:nvSpPr>
        <p:spPr>
          <a:xfrm>
            <a:off x="640080" y="5867400"/>
            <a:ext cx="10561320" cy="365760"/>
          </a:xfrm>
          <a:prstGeom prst="rect">
            <a:avLst/>
          </a:prstGeom>
          <a:noFill/>
          <a:ln/>
        </p:spPr>
        <p:txBody>
          <a:bodyPr wrap="square" rtlCol="0" anchor="ctr"/>
          <a:lstStyle/>
          <a:p>
            <a:pPr marL="0" indent="0" algn="ctr">
              <a:buNone/>
            </a:pPr>
            <a:r>
              <a:rPr lang="en-US" sz="1400" i="1" dirty="0">
                <a:solidFill>
                  <a:srgbClr val="6E6857"/>
                </a:solidFill>
                <a:latin typeface="Calibri" pitchFamily="34" charset="0"/>
                <a:ea typeface="Calibri" pitchFamily="34" charset="-122"/>
                <a:cs typeface="Calibri" pitchFamily="34" charset="-120"/>
              </a:rPr>
              <a:t>Optional upgrade — rollout details and any additional running costs to be reviewed together when the time comes.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DBAA47"/>
          </a:solidFill>
          <a:ln/>
        </p:spPr>
        <p:txBody>
          <a:bodyPr/>
          <a:lstStyle/>
          <a:p>
            <a:endParaRPr lang="en-US"/>
          </a:p>
        </p:txBody>
      </p:sp>
      <p:pic>
        <p:nvPicPr>
          <p:cNvPr id="3" name="Image 0" descr="/home/claude/pptxgen/icons/heart.png"/>
          <p:cNvPicPr>
            <a:picLocks noChangeAspect="1"/>
          </p:cNvPicPr>
          <p:nvPr/>
        </p:nvPicPr>
        <p:blipFill>
          <a:blip r:embed="rId3"/>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200" b="1" dirty="0">
                <a:solidFill>
                  <a:srgbClr val="1B2B2E"/>
                </a:solidFill>
                <a:latin typeface="Cambria" pitchFamily="34" charset="0"/>
                <a:ea typeface="Cambria" pitchFamily="34" charset="-122"/>
                <a:cs typeface="Cambria" pitchFamily="34" charset="-120"/>
              </a:rPr>
              <a:t>Your workflows stay the same. The manual work is greatly reduced.</a:t>
            </a:r>
            <a:endParaRPr lang="en-US" sz="22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Less of what drains a small team — more of what a practice runs on.</a:t>
            </a:r>
            <a:endParaRPr lang="en-US" sz="1500" dirty="0"/>
          </a:p>
        </p:txBody>
      </p:sp>
      <p:sp>
        <p:nvSpPr>
          <p:cNvPr id="6" name="Shape 3"/>
          <p:cNvSpPr/>
          <p:nvPr/>
        </p:nvSpPr>
        <p:spPr>
          <a:xfrm>
            <a:off x="640080" y="1965960"/>
            <a:ext cx="5120640" cy="3248308"/>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7" name="Text 4"/>
          <p:cNvSpPr/>
          <p:nvPr/>
        </p:nvSpPr>
        <p:spPr>
          <a:xfrm>
            <a:off x="91440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LESS</a:t>
            </a:r>
            <a:endParaRPr lang="en-US" sz="1700" dirty="0"/>
          </a:p>
        </p:txBody>
      </p:sp>
      <p:sp>
        <p:nvSpPr>
          <p:cNvPr id="8" name="Text 5"/>
          <p:cNvSpPr/>
          <p:nvPr/>
        </p:nvSpPr>
        <p:spPr>
          <a:xfrm>
            <a:off x="990600" y="2130552"/>
            <a:ext cx="4572000" cy="3017520"/>
          </a:xfrm>
          <a:prstGeom prst="rect">
            <a:avLst/>
          </a:prstGeom>
          <a:noFill/>
          <a:ln/>
        </p:spPr>
        <p:txBody>
          <a:bodyPr wrap="square" rtlCol="0" anchor="ctr"/>
          <a:lstStyle/>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Manual phone, fax, and paperwork filling the day</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Overtime and temp coverage when you're short-staffed</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Disruption when one person is out — or leaves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No-shows and empty appointment slots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Things slipping through the cracks</a:t>
            </a:r>
          </a:p>
        </p:txBody>
      </p:sp>
      <p:sp>
        <p:nvSpPr>
          <p:cNvPr id="9" name="Shape 6"/>
          <p:cNvSpPr/>
          <p:nvPr/>
        </p:nvSpPr>
        <p:spPr>
          <a:xfrm>
            <a:off x="6080760" y="1965960"/>
            <a:ext cx="5120640" cy="3248308"/>
          </a:xfrm>
          <a:prstGeom prst="roundRect">
            <a:avLst>
              <a:gd name="adj" fmla="val 5263"/>
            </a:avLst>
          </a:prstGeom>
          <a:solidFill>
            <a:srgbClr val="F6F1DD"/>
          </a:solidFill>
          <a:ln w="12700">
            <a:solidFill>
              <a:srgbClr val="E6DDBE"/>
            </a:solidFill>
            <a:prstDash val="solid"/>
          </a:ln>
        </p:spPr>
        <p:txBody>
          <a:bodyPr/>
          <a:lstStyle/>
          <a:p>
            <a:endParaRPr lang="en-US"/>
          </a:p>
        </p:txBody>
      </p:sp>
      <p:sp>
        <p:nvSpPr>
          <p:cNvPr id="10" name="Text 7"/>
          <p:cNvSpPr/>
          <p:nvPr/>
        </p:nvSpPr>
        <p:spPr>
          <a:xfrm>
            <a:off x="6355080" y="2148840"/>
            <a:ext cx="4572000" cy="365760"/>
          </a:xfrm>
          <a:prstGeom prst="rect">
            <a:avLst/>
          </a:prstGeom>
          <a:noFill/>
          <a:ln/>
        </p:spPr>
        <p:txBody>
          <a:bodyPr wrap="square" rtlCol="0" anchor="ctr"/>
          <a:lstStyle/>
          <a:p>
            <a:pPr marL="0" indent="0">
              <a:buNone/>
            </a:pPr>
            <a:r>
              <a:rPr lang="en-US" sz="1700" b="1" dirty="0">
                <a:solidFill>
                  <a:srgbClr val="0B3B36"/>
                </a:solidFill>
                <a:latin typeface="Cambria" pitchFamily="34" charset="0"/>
                <a:ea typeface="Cambria" pitchFamily="34" charset="-122"/>
                <a:cs typeface="Cambria" pitchFamily="34" charset="-120"/>
              </a:rPr>
              <a:t>MORE</a:t>
            </a:r>
            <a:endParaRPr lang="en-US" sz="1700" dirty="0"/>
          </a:p>
        </p:txBody>
      </p:sp>
      <p:sp>
        <p:nvSpPr>
          <p:cNvPr id="11" name="Text 8"/>
          <p:cNvSpPr/>
          <p:nvPr/>
        </p:nvSpPr>
        <p:spPr>
          <a:xfrm>
            <a:off x="6355080" y="2288188"/>
            <a:ext cx="4572000" cy="2926080"/>
          </a:xfrm>
          <a:prstGeom prst="rect">
            <a:avLst/>
          </a:prstGeom>
          <a:noFill/>
          <a:ln/>
        </p:spPr>
        <p:txBody>
          <a:bodyPr wrap="square" rtlCol="0" anchor="ctr"/>
          <a:lstStyle/>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Time with patients</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Completed wellness visits and preventive care</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Revenue captured — coverage verified early, slots kept full</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A calmer, steadier front desk</a:t>
            </a:r>
          </a:p>
          <a:p>
            <a:pPr marL="342900" indent="-342900">
              <a:lnSpc>
                <a:spcPct val="125000"/>
              </a:lnSpc>
              <a:spcAft>
                <a:spcPts val="1000"/>
              </a:spcAft>
              <a:buSzPct val="100000"/>
              <a:buChar char="•"/>
            </a:pPr>
            <a:r>
              <a:rPr lang="en-US" sz="1350" dirty="0">
                <a:solidFill>
                  <a:srgbClr val="1B2B2E"/>
                </a:solidFill>
                <a:latin typeface="Calibri" pitchFamily="34" charset="0"/>
                <a:ea typeface="Calibri" pitchFamily="34" charset="-122"/>
                <a:cs typeface="Calibri" pitchFamily="34" charset="-120"/>
              </a:rPr>
              <a:t>Room to grow without adding headcount</a:t>
            </a:r>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19" name="Text 1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Less and more</a:t>
            </a:r>
            <a:endParaRPr lang="en-US" sz="900" dirty="0"/>
          </a:p>
        </p:txBody>
      </p:sp>
      <p:sp>
        <p:nvSpPr>
          <p:cNvPr id="40" name="Text 40"/>
          <p:cNvSpPr/>
          <p:nvPr/>
        </p:nvSpPr>
        <p:spPr>
          <a:xfrm>
            <a:off x="577557" y="5442868"/>
            <a:ext cx="10561320" cy="365760"/>
          </a:xfrm>
          <a:prstGeom prst="rect">
            <a:avLst/>
          </a:prstGeom>
          <a:noFill/>
          <a:ln/>
        </p:spPr>
        <p:txBody>
          <a:bodyPr wrap="square" rtlCol="0" anchor="ctr"/>
          <a:lstStyle/>
          <a:p>
            <a:pPr marL="0" indent="0" algn="ctr">
              <a:buNone/>
            </a:pPr>
            <a:r>
              <a:rPr lang="en-US" sz="1400" i="1" dirty="0">
                <a:solidFill>
                  <a:srgbClr val="6E6857"/>
                </a:solidFill>
                <a:latin typeface="Calibri" pitchFamily="34" charset="0"/>
                <a:ea typeface="Calibri" pitchFamily="34" charset="-122"/>
                <a:cs typeface="Calibri" pitchFamily="34" charset="-120"/>
              </a:rPr>
              <a:t>And what never changes: you care for patients, your team makes every decision, and patient privacy stays protected.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92608"/>
            <a:ext cx="11277295" cy="502920"/>
          </a:xfrm>
          <a:prstGeom prst="rect">
            <a:avLst/>
          </a:prstGeom>
          <a:noFill/>
          <a:ln/>
        </p:spPr>
        <p:txBody>
          <a:bodyPr wrap="square" lIns="0" tIns="0" rIns="0" bIns="0" rtlCol="0" anchor="ctr"/>
          <a:lstStyle/>
          <a:p>
            <a:pPr marL="0" indent="0">
              <a:buNone/>
            </a:pPr>
            <a:r>
              <a:rPr lang="en-US" sz="2600" b="1" dirty="0">
                <a:solidFill>
                  <a:srgbClr val="042B2B"/>
                </a:solidFill>
                <a:latin typeface="Arial" pitchFamily="34" charset="0"/>
                <a:ea typeface="Arial" pitchFamily="34" charset="-122"/>
                <a:cs typeface="Arial" pitchFamily="34" charset="-120"/>
              </a:rPr>
              <a:t>Appointment booking, confirmed and followed up — automatically</a:t>
            </a:r>
            <a:endParaRPr lang="en-US" sz="2600" dirty="0"/>
          </a:p>
        </p:txBody>
      </p:sp>
      <p:sp>
        <p:nvSpPr>
          <p:cNvPr id="3" name="Text 1"/>
          <p:cNvSpPr/>
          <p:nvPr/>
        </p:nvSpPr>
        <p:spPr>
          <a:xfrm>
            <a:off x="457200" y="777240"/>
            <a:ext cx="11277295" cy="320040"/>
          </a:xfrm>
          <a:prstGeom prst="rect">
            <a:avLst/>
          </a:prstGeom>
          <a:noFill/>
          <a:ln/>
        </p:spPr>
        <p:txBody>
          <a:bodyPr wrap="square" lIns="0" tIns="0" rIns="0" bIns="0" rtlCol="0" anchor="ctr"/>
          <a:lstStyle/>
          <a:p>
            <a:pPr marL="0" indent="0">
              <a:buNone/>
            </a:pPr>
            <a:r>
              <a:rPr lang="en-US" sz="1400" i="1" dirty="0">
                <a:solidFill>
                  <a:srgbClr val="5F5E5A"/>
                </a:solidFill>
                <a:latin typeface="Arial" pitchFamily="34" charset="0"/>
                <a:ea typeface="Arial" pitchFamily="34" charset="-122"/>
                <a:cs typeface="Arial" pitchFamily="34" charset="-120"/>
              </a:rPr>
              <a:t>One of the day-to-day workflows we can automate for your practice</a:t>
            </a:r>
            <a:endParaRPr lang="en-US" sz="1400" dirty="0"/>
          </a:p>
        </p:txBody>
      </p:sp>
      <p:sp>
        <p:nvSpPr>
          <p:cNvPr id="4" name="Shape 2"/>
          <p:cNvSpPr/>
          <p:nvPr/>
        </p:nvSpPr>
        <p:spPr>
          <a:xfrm>
            <a:off x="685800" y="1371600"/>
            <a:ext cx="2029968" cy="1188720"/>
          </a:xfrm>
          <a:prstGeom prst="roundRect">
            <a:avLst>
              <a:gd name="adj" fmla="val 6154"/>
            </a:avLst>
          </a:prstGeom>
          <a:solidFill>
            <a:srgbClr val="F6F1DD"/>
          </a:solidFill>
          <a:ln w="12700">
            <a:solidFill>
              <a:srgbClr val="042B2B"/>
            </a:solidFill>
            <a:prstDash val="solid"/>
          </a:ln>
        </p:spPr>
        <p:txBody>
          <a:bodyPr/>
          <a:lstStyle/>
          <a:p>
            <a:endParaRPr lang="en-US"/>
          </a:p>
        </p:txBody>
      </p:sp>
      <p:sp>
        <p:nvSpPr>
          <p:cNvPr id="5" name="Text 3"/>
          <p:cNvSpPr/>
          <p:nvPr/>
        </p:nvSpPr>
        <p:spPr>
          <a:xfrm>
            <a:off x="777240" y="1444752"/>
            <a:ext cx="457200" cy="201168"/>
          </a:xfrm>
          <a:prstGeom prst="rect">
            <a:avLst/>
          </a:prstGeom>
          <a:noFill/>
          <a:ln/>
        </p:spPr>
        <p:txBody>
          <a:bodyPr wrap="square" lIns="0" tIns="0" rIns="0" bIns="0" rtlCol="0" anchor="ctr"/>
          <a:lstStyle/>
          <a:p>
            <a:pPr marL="0" indent="0">
              <a:buNone/>
            </a:pPr>
            <a:r>
              <a:rPr lang="en-US" sz="900" b="1" dirty="0">
                <a:solidFill>
                  <a:srgbClr val="5F5E5A"/>
                </a:solidFill>
                <a:latin typeface="Arial" pitchFamily="34" charset="0"/>
                <a:ea typeface="Arial" pitchFamily="34" charset="-122"/>
                <a:cs typeface="Arial" pitchFamily="34" charset="-120"/>
              </a:rPr>
              <a:t>1</a:t>
            </a:r>
            <a:endParaRPr lang="en-US" sz="900" dirty="0"/>
          </a:p>
        </p:txBody>
      </p:sp>
      <p:sp>
        <p:nvSpPr>
          <p:cNvPr id="6" name="Text 4"/>
          <p:cNvSpPr/>
          <p:nvPr/>
        </p:nvSpPr>
        <p:spPr>
          <a:xfrm>
            <a:off x="804672" y="1627632"/>
            <a:ext cx="1792224" cy="502920"/>
          </a:xfrm>
          <a:prstGeom prst="rect">
            <a:avLst/>
          </a:prstGeom>
          <a:noFill/>
          <a:ln/>
        </p:spPr>
        <p:txBody>
          <a:bodyPr wrap="square" lIns="0" tIns="0" rIns="0" bIns="0" rtlCol="0" anchor="t"/>
          <a:lstStyle/>
          <a:p>
            <a:pPr marL="0" indent="0">
              <a:buNone/>
            </a:pPr>
            <a:r>
              <a:rPr lang="en-US" sz="1050" b="1" dirty="0">
                <a:solidFill>
                  <a:srgbClr val="042B2B"/>
                </a:solidFill>
                <a:latin typeface="Arial" pitchFamily="34" charset="0"/>
                <a:ea typeface="Arial" pitchFamily="34" charset="-122"/>
                <a:cs typeface="Arial" pitchFamily="34" charset="-120"/>
              </a:rPr>
              <a:t>Patient calls in</a:t>
            </a:r>
            <a:endParaRPr lang="en-US" sz="1050" dirty="0"/>
          </a:p>
        </p:txBody>
      </p:sp>
      <p:sp>
        <p:nvSpPr>
          <p:cNvPr id="7" name="Text 5"/>
          <p:cNvSpPr/>
          <p:nvPr/>
        </p:nvSpPr>
        <p:spPr>
          <a:xfrm>
            <a:off x="804672" y="2148840"/>
            <a:ext cx="1792224" cy="365760"/>
          </a:xfrm>
          <a:prstGeom prst="rect">
            <a:avLst/>
          </a:prstGeom>
          <a:noFill/>
          <a:ln/>
        </p:spPr>
        <p:txBody>
          <a:bodyPr wrap="square" lIns="0" tIns="0" rIns="0" bIns="0" rtlCol="0" anchor="t"/>
          <a:lstStyle/>
          <a:p>
            <a:pPr marL="0" indent="0">
              <a:buNone/>
            </a:pPr>
            <a:r>
              <a:rPr lang="en-US" sz="800" dirty="0">
                <a:solidFill>
                  <a:srgbClr val="5F5E5A"/>
                </a:solidFill>
                <a:latin typeface="Arial" pitchFamily="34" charset="0"/>
                <a:ea typeface="Arial" pitchFamily="34" charset="-122"/>
                <a:cs typeface="Arial" pitchFamily="34" charset="-120"/>
              </a:rPr>
              <a:t>Wants to book an appointment</a:t>
            </a:r>
            <a:endParaRPr lang="en-US" sz="800" dirty="0"/>
          </a:p>
        </p:txBody>
      </p:sp>
      <p:sp>
        <p:nvSpPr>
          <p:cNvPr id="8" name="Shape 6"/>
          <p:cNvSpPr/>
          <p:nvPr/>
        </p:nvSpPr>
        <p:spPr>
          <a:xfrm>
            <a:off x="2898648" y="1371600"/>
            <a:ext cx="2029968" cy="1188720"/>
          </a:xfrm>
          <a:prstGeom prst="roundRect">
            <a:avLst>
              <a:gd name="adj" fmla="val 6154"/>
            </a:avLst>
          </a:prstGeom>
          <a:solidFill>
            <a:srgbClr val="042B2B"/>
          </a:solidFill>
          <a:ln/>
        </p:spPr>
        <p:txBody>
          <a:bodyPr/>
          <a:lstStyle/>
          <a:p>
            <a:endParaRPr lang="en-US"/>
          </a:p>
        </p:txBody>
      </p:sp>
      <p:sp>
        <p:nvSpPr>
          <p:cNvPr id="9" name="Text 7"/>
          <p:cNvSpPr/>
          <p:nvPr/>
        </p:nvSpPr>
        <p:spPr>
          <a:xfrm>
            <a:off x="2990088" y="144475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2</a:t>
            </a:r>
            <a:endParaRPr lang="en-US" sz="900" dirty="0"/>
          </a:p>
        </p:txBody>
      </p:sp>
      <p:sp>
        <p:nvSpPr>
          <p:cNvPr id="10" name="Text 8"/>
          <p:cNvSpPr/>
          <p:nvPr/>
        </p:nvSpPr>
        <p:spPr>
          <a:xfrm>
            <a:off x="3017520" y="162763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Assistant books it</a:t>
            </a:r>
            <a:endParaRPr lang="en-US" sz="1050" dirty="0"/>
          </a:p>
        </p:txBody>
      </p:sp>
      <p:sp>
        <p:nvSpPr>
          <p:cNvPr id="11" name="Text 9"/>
          <p:cNvSpPr/>
          <p:nvPr/>
        </p:nvSpPr>
        <p:spPr>
          <a:xfrm>
            <a:off x="3017520" y="214884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Saved as pending in the EMR</a:t>
            </a:r>
            <a:endParaRPr lang="en-US" sz="800" dirty="0"/>
          </a:p>
        </p:txBody>
      </p:sp>
      <p:sp>
        <p:nvSpPr>
          <p:cNvPr id="12" name="Shape 10"/>
          <p:cNvSpPr/>
          <p:nvPr/>
        </p:nvSpPr>
        <p:spPr>
          <a:xfrm>
            <a:off x="5111496" y="1371600"/>
            <a:ext cx="2029968" cy="1188720"/>
          </a:xfrm>
          <a:prstGeom prst="roundRect">
            <a:avLst>
              <a:gd name="adj" fmla="val 6154"/>
            </a:avLst>
          </a:prstGeom>
          <a:solidFill>
            <a:srgbClr val="042B2B"/>
          </a:solidFill>
          <a:ln/>
        </p:spPr>
        <p:txBody>
          <a:bodyPr/>
          <a:lstStyle/>
          <a:p>
            <a:endParaRPr lang="en-US"/>
          </a:p>
        </p:txBody>
      </p:sp>
      <p:sp>
        <p:nvSpPr>
          <p:cNvPr id="13" name="Text 11"/>
          <p:cNvSpPr/>
          <p:nvPr/>
        </p:nvSpPr>
        <p:spPr>
          <a:xfrm>
            <a:off x="5202936" y="144475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3</a:t>
            </a:r>
            <a:endParaRPr lang="en-US" sz="900" dirty="0"/>
          </a:p>
        </p:txBody>
      </p:sp>
      <p:sp>
        <p:nvSpPr>
          <p:cNvPr id="14" name="Text 12"/>
          <p:cNvSpPr/>
          <p:nvPr/>
        </p:nvSpPr>
        <p:spPr>
          <a:xfrm>
            <a:off x="5230368" y="162763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Eligibility checked</a:t>
            </a:r>
            <a:endParaRPr lang="en-US" sz="1050" dirty="0"/>
          </a:p>
        </p:txBody>
      </p:sp>
      <p:sp>
        <p:nvSpPr>
          <p:cNvPr id="15" name="Text 13"/>
          <p:cNvSpPr/>
          <p:nvPr/>
        </p:nvSpPr>
        <p:spPr>
          <a:xfrm>
            <a:off x="5230368" y="214884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Runs automatically, before approval</a:t>
            </a:r>
            <a:endParaRPr lang="en-US" sz="800" dirty="0"/>
          </a:p>
        </p:txBody>
      </p:sp>
      <p:sp>
        <p:nvSpPr>
          <p:cNvPr id="16" name="Shape 14"/>
          <p:cNvSpPr/>
          <p:nvPr/>
        </p:nvSpPr>
        <p:spPr>
          <a:xfrm>
            <a:off x="7324344" y="1371600"/>
            <a:ext cx="2029968" cy="1188720"/>
          </a:xfrm>
          <a:prstGeom prst="roundRect">
            <a:avLst>
              <a:gd name="adj" fmla="val 6154"/>
            </a:avLst>
          </a:prstGeom>
          <a:solidFill>
            <a:srgbClr val="DBAA47"/>
          </a:solidFill>
          <a:ln/>
        </p:spPr>
        <p:txBody>
          <a:bodyPr/>
          <a:lstStyle/>
          <a:p>
            <a:endParaRPr lang="en-US"/>
          </a:p>
        </p:txBody>
      </p:sp>
      <p:sp>
        <p:nvSpPr>
          <p:cNvPr id="17" name="Text 15"/>
          <p:cNvSpPr/>
          <p:nvPr/>
        </p:nvSpPr>
        <p:spPr>
          <a:xfrm>
            <a:off x="7415784" y="1444752"/>
            <a:ext cx="457200" cy="201168"/>
          </a:xfrm>
          <a:prstGeom prst="rect">
            <a:avLst/>
          </a:prstGeom>
          <a:noFill/>
          <a:ln/>
        </p:spPr>
        <p:txBody>
          <a:bodyPr wrap="square" lIns="0" tIns="0" rIns="0" bIns="0" rtlCol="0" anchor="ctr"/>
          <a:lstStyle/>
          <a:p>
            <a:pPr marL="0" indent="0">
              <a:buNone/>
            </a:pPr>
            <a:r>
              <a:rPr lang="en-US" sz="900" b="1" dirty="0">
                <a:solidFill>
                  <a:srgbClr val="4A3A12"/>
                </a:solidFill>
                <a:latin typeface="Arial" pitchFamily="34" charset="0"/>
                <a:ea typeface="Arial" pitchFamily="34" charset="-122"/>
                <a:cs typeface="Arial" pitchFamily="34" charset="-120"/>
              </a:rPr>
              <a:t>4</a:t>
            </a:r>
            <a:endParaRPr lang="en-US" sz="900" dirty="0"/>
          </a:p>
        </p:txBody>
      </p:sp>
      <p:sp>
        <p:nvSpPr>
          <p:cNvPr id="18" name="Text 16"/>
          <p:cNvSpPr/>
          <p:nvPr/>
        </p:nvSpPr>
        <p:spPr>
          <a:xfrm>
            <a:off x="7443216" y="1627632"/>
            <a:ext cx="1792224" cy="502920"/>
          </a:xfrm>
          <a:prstGeom prst="rect">
            <a:avLst/>
          </a:prstGeom>
          <a:noFill/>
          <a:ln/>
        </p:spPr>
        <p:txBody>
          <a:bodyPr wrap="square" lIns="0" tIns="0" rIns="0" bIns="0" rtlCol="0" anchor="t"/>
          <a:lstStyle/>
          <a:p>
            <a:pPr marL="0" indent="0">
              <a:buNone/>
            </a:pPr>
            <a:r>
              <a:rPr lang="en-US" sz="1050" b="1" dirty="0">
                <a:solidFill>
                  <a:srgbClr val="042B2B"/>
                </a:solidFill>
                <a:latin typeface="Arial" pitchFamily="34" charset="0"/>
                <a:ea typeface="Arial" pitchFamily="34" charset="-122"/>
                <a:cs typeface="Arial" pitchFamily="34" charset="-120"/>
              </a:rPr>
              <a:t>Doctor approves</a:t>
            </a:r>
            <a:endParaRPr lang="en-US" sz="1050" dirty="0"/>
          </a:p>
        </p:txBody>
      </p:sp>
      <p:sp>
        <p:nvSpPr>
          <p:cNvPr id="19" name="Text 17"/>
          <p:cNvSpPr/>
          <p:nvPr/>
        </p:nvSpPr>
        <p:spPr>
          <a:xfrm>
            <a:off x="7443216" y="2148840"/>
            <a:ext cx="1792224" cy="365760"/>
          </a:xfrm>
          <a:prstGeom prst="rect">
            <a:avLst/>
          </a:prstGeom>
          <a:noFill/>
          <a:ln/>
        </p:spPr>
        <p:txBody>
          <a:bodyPr wrap="square" lIns="0" tIns="0" rIns="0" bIns="0" rtlCol="0" anchor="t"/>
          <a:lstStyle/>
          <a:p>
            <a:pPr marL="0" indent="0">
              <a:buNone/>
            </a:pPr>
            <a:r>
              <a:rPr lang="en-US" sz="800" dirty="0">
                <a:solidFill>
                  <a:srgbClr val="4A3A12"/>
                </a:solidFill>
                <a:latin typeface="Arial" pitchFamily="34" charset="0"/>
                <a:ea typeface="Arial" pitchFamily="34" charset="-122"/>
                <a:cs typeface="Arial" pitchFamily="34" charset="-120"/>
              </a:rPr>
              <a:t>Final say stays with the office</a:t>
            </a:r>
            <a:endParaRPr lang="en-US" sz="800" dirty="0"/>
          </a:p>
        </p:txBody>
      </p:sp>
      <p:sp>
        <p:nvSpPr>
          <p:cNvPr id="20" name="Shape 18"/>
          <p:cNvSpPr/>
          <p:nvPr/>
        </p:nvSpPr>
        <p:spPr>
          <a:xfrm>
            <a:off x="9537192" y="1371600"/>
            <a:ext cx="2029968" cy="1188720"/>
          </a:xfrm>
          <a:prstGeom prst="roundRect">
            <a:avLst>
              <a:gd name="adj" fmla="val 6154"/>
            </a:avLst>
          </a:prstGeom>
          <a:solidFill>
            <a:srgbClr val="042B2B"/>
          </a:solidFill>
          <a:ln/>
        </p:spPr>
        <p:txBody>
          <a:bodyPr/>
          <a:lstStyle/>
          <a:p>
            <a:endParaRPr lang="en-US"/>
          </a:p>
        </p:txBody>
      </p:sp>
      <p:sp>
        <p:nvSpPr>
          <p:cNvPr id="21" name="Text 19"/>
          <p:cNvSpPr/>
          <p:nvPr/>
        </p:nvSpPr>
        <p:spPr>
          <a:xfrm>
            <a:off x="9628632" y="144475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5</a:t>
            </a:r>
            <a:endParaRPr lang="en-US" sz="900" dirty="0"/>
          </a:p>
        </p:txBody>
      </p:sp>
      <p:sp>
        <p:nvSpPr>
          <p:cNvPr id="22" name="Text 20"/>
          <p:cNvSpPr/>
          <p:nvPr/>
        </p:nvSpPr>
        <p:spPr>
          <a:xfrm>
            <a:off x="9656064" y="162763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Confirmation sent</a:t>
            </a:r>
            <a:endParaRPr lang="en-US" sz="1050" dirty="0"/>
          </a:p>
        </p:txBody>
      </p:sp>
      <p:sp>
        <p:nvSpPr>
          <p:cNvPr id="23" name="Text 21"/>
          <p:cNvSpPr/>
          <p:nvPr/>
        </p:nvSpPr>
        <p:spPr>
          <a:xfrm>
            <a:off x="9656064" y="214884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Automatically, no extra work</a:t>
            </a:r>
            <a:endParaRPr lang="en-US" sz="800" dirty="0"/>
          </a:p>
        </p:txBody>
      </p:sp>
      <p:sp>
        <p:nvSpPr>
          <p:cNvPr id="24" name="Shape 22"/>
          <p:cNvSpPr/>
          <p:nvPr/>
        </p:nvSpPr>
        <p:spPr>
          <a:xfrm>
            <a:off x="685800" y="3063240"/>
            <a:ext cx="2029968" cy="1188720"/>
          </a:xfrm>
          <a:prstGeom prst="roundRect">
            <a:avLst>
              <a:gd name="adj" fmla="val 6154"/>
            </a:avLst>
          </a:prstGeom>
          <a:solidFill>
            <a:srgbClr val="042B2B"/>
          </a:solidFill>
          <a:ln/>
        </p:spPr>
        <p:txBody>
          <a:bodyPr/>
          <a:lstStyle/>
          <a:p>
            <a:endParaRPr lang="en-US"/>
          </a:p>
        </p:txBody>
      </p:sp>
      <p:sp>
        <p:nvSpPr>
          <p:cNvPr id="25" name="Text 23"/>
          <p:cNvSpPr/>
          <p:nvPr/>
        </p:nvSpPr>
        <p:spPr>
          <a:xfrm>
            <a:off x="777240" y="313639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6</a:t>
            </a:r>
            <a:endParaRPr lang="en-US" sz="900" dirty="0"/>
          </a:p>
        </p:txBody>
      </p:sp>
      <p:sp>
        <p:nvSpPr>
          <p:cNvPr id="26" name="Text 24"/>
          <p:cNvSpPr/>
          <p:nvPr/>
        </p:nvSpPr>
        <p:spPr>
          <a:xfrm>
            <a:off x="804672" y="331927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Confirmation request sent</a:t>
            </a:r>
            <a:endParaRPr lang="en-US" sz="1050" dirty="0"/>
          </a:p>
        </p:txBody>
      </p:sp>
      <p:sp>
        <p:nvSpPr>
          <p:cNvPr id="27" name="Text 25"/>
          <p:cNvSpPr/>
          <p:nvPr/>
        </p:nvSpPr>
        <p:spPr>
          <a:xfrm>
            <a:off x="804672" y="384048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A few days before the visit</a:t>
            </a:r>
            <a:endParaRPr lang="en-US" sz="800" dirty="0"/>
          </a:p>
        </p:txBody>
      </p:sp>
      <p:sp>
        <p:nvSpPr>
          <p:cNvPr id="28" name="Shape 26"/>
          <p:cNvSpPr/>
          <p:nvPr/>
        </p:nvSpPr>
        <p:spPr>
          <a:xfrm>
            <a:off x="2898648" y="3063240"/>
            <a:ext cx="2029968" cy="1188720"/>
          </a:xfrm>
          <a:prstGeom prst="roundRect">
            <a:avLst>
              <a:gd name="adj" fmla="val 6154"/>
            </a:avLst>
          </a:prstGeom>
          <a:solidFill>
            <a:srgbClr val="F6F1DD"/>
          </a:solidFill>
          <a:ln w="12700">
            <a:solidFill>
              <a:srgbClr val="042B2B"/>
            </a:solidFill>
            <a:prstDash val="solid"/>
          </a:ln>
        </p:spPr>
        <p:txBody>
          <a:bodyPr/>
          <a:lstStyle/>
          <a:p>
            <a:endParaRPr lang="en-US"/>
          </a:p>
        </p:txBody>
      </p:sp>
      <p:sp>
        <p:nvSpPr>
          <p:cNvPr id="29" name="Text 27"/>
          <p:cNvSpPr/>
          <p:nvPr/>
        </p:nvSpPr>
        <p:spPr>
          <a:xfrm>
            <a:off x="2990088" y="3136392"/>
            <a:ext cx="457200" cy="201168"/>
          </a:xfrm>
          <a:prstGeom prst="rect">
            <a:avLst/>
          </a:prstGeom>
          <a:noFill/>
          <a:ln/>
        </p:spPr>
        <p:txBody>
          <a:bodyPr wrap="square" lIns="0" tIns="0" rIns="0" bIns="0" rtlCol="0" anchor="ctr"/>
          <a:lstStyle/>
          <a:p>
            <a:pPr marL="0" indent="0">
              <a:buNone/>
            </a:pPr>
            <a:r>
              <a:rPr lang="en-US" sz="900" b="1" dirty="0">
                <a:solidFill>
                  <a:srgbClr val="5F5E5A"/>
                </a:solidFill>
                <a:latin typeface="Arial" pitchFamily="34" charset="0"/>
                <a:ea typeface="Arial" pitchFamily="34" charset="-122"/>
                <a:cs typeface="Arial" pitchFamily="34" charset="-120"/>
              </a:rPr>
              <a:t>7</a:t>
            </a:r>
            <a:endParaRPr lang="en-US" sz="900" dirty="0"/>
          </a:p>
        </p:txBody>
      </p:sp>
      <p:sp>
        <p:nvSpPr>
          <p:cNvPr id="30" name="Text 28"/>
          <p:cNvSpPr/>
          <p:nvPr/>
        </p:nvSpPr>
        <p:spPr>
          <a:xfrm>
            <a:off x="3017520" y="3319272"/>
            <a:ext cx="1792224" cy="502920"/>
          </a:xfrm>
          <a:prstGeom prst="rect">
            <a:avLst/>
          </a:prstGeom>
          <a:noFill/>
          <a:ln/>
        </p:spPr>
        <p:txBody>
          <a:bodyPr wrap="square" lIns="0" tIns="0" rIns="0" bIns="0" rtlCol="0" anchor="t"/>
          <a:lstStyle/>
          <a:p>
            <a:pPr marL="0" indent="0">
              <a:buNone/>
            </a:pPr>
            <a:r>
              <a:rPr lang="en-US" sz="1050" b="1" dirty="0">
                <a:solidFill>
                  <a:srgbClr val="042B2B"/>
                </a:solidFill>
                <a:latin typeface="Arial" pitchFamily="34" charset="0"/>
                <a:ea typeface="Arial" pitchFamily="34" charset="-122"/>
                <a:cs typeface="Arial" pitchFamily="34" charset="-120"/>
              </a:rPr>
              <a:t>Patient confirms</a:t>
            </a:r>
            <a:endParaRPr lang="en-US" sz="1050" dirty="0"/>
          </a:p>
        </p:txBody>
      </p:sp>
      <p:sp>
        <p:nvSpPr>
          <p:cNvPr id="31" name="Text 29"/>
          <p:cNvSpPr/>
          <p:nvPr/>
        </p:nvSpPr>
        <p:spPr>
          <a:xfrm>
            <a:off x="3017520" y="3840480"/>
            <a:ext cx="1792224" cy="365760"/>
          </a:xfrm>
          <a:prstGeom prst="rect">
            <a:avLst/>
          </a:prstGeom>
          <a:noFill/>
          <a:ln/>
        </p:spPr>
        <p:txBody>
          <a:bodyPr wrap="square" lIns="0" tIns="0" rIns="0" bIns="0" rtlCol="0" anchor="t"/>
          <a:lstStyle/>
          <a:p>
            <a:pPr marL="0" indent="0">
              <a:buNone/>
            </a:pPr>
            <a:r>
              <a:rPr lang="en-US" sz="800" dirty="0">
                <a:solidFill>
                  <a:srgbClr val="5F5E5A"/>
                </a:solidFill>
                <a:latin typeface="Arial" pitchFamily="34" charset="0"/>
                <a:ea typeface="Arial" pitchFamily="34" charset="-122"/>
                <a:cs typeface="Arial" pitchFamily="34" charset="-120"/>
              </a:rPr>
              <a:t>Logged automatically in the EMR</a:t>
            </a:r>
            <a:endParaRPr lang="en-US" sz="800" dirty="0"/>
          </a:p>
        </p:txBody>
      </p:sp>
      <p:sp>
        <p:nvSpPr>
          <p:cNvPr id="32" name="Shape 30"/>
          <p:cNvSpPr/>
          <p:nvPr/>
        </p:nvSpPr>
        <p:spPr>
          <a:xfrm>
            <a:off x="5111496" y="3063240"/>
            <a:ext cx="2029968" cy="1188720"/>
          </a:xfrm>
          <a:prstGeom prst="roundRect">
            <a:avLst>
              <a:gd name="adj" fmla="val 6154"/>
            </a:avLst>
          </a:prstGeom>
          <a:solidFill>
            <a:srgbClr val="042B2B"/>
          </a:solidFill>
          <a:ln/>
        </p:spPr>
        <p:txBody>
          <a:bodyPr/>
          <a:lstStyle/>
          <a:p>
            <a:endParaRPr lang="en-US"/>
          </a:p>
        </p:txBody>
      </p:sp>
      <p:sp>
        <p:nvSpPr>
          <p:cNvPr id="33" name="Text 31"/>
          <p:cNvSpPr/>
          <p:nvPr/>
        </p:nvSpPr>
        <p:spPr>
          <a:xfrm>
            <a:off x="5202936" y="313639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8</a:t>
            </a:r>
            <a:endParaRPr lang="en-US" sz="900" dirty="0"/>
          </a:p>
        </p:txBody>
      </p:sp>
      <p:sp>
        <p:nvSpPr>
          <p:cNvPr id="34" name="Text 32"/>
          <p:cNvSpPr/>
          <p:nvPr/>
        </p:nvSpPr>
        <p:spPr>
          <a:xfrm>
            <a:off x="5230368" y="331927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Reminder sent</a:t>
            </a:r>
            <a:endParaRPr lang="en-US" sz="1050" dirty="0"/>
          </a:p>
        </p:txBody>
      </p:sp>
      <p:sp>
        <p:nvSpPr>
          <p:cNvPr id="35" name="Text 33"/>
          <p:cNvSpPr/>
          <p:nvPr/>
        </p:nvSpPr>
        <p:spPr>
          <a:xfrm>
            <a:off x="5230368" y="384048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The day before the visit</a:t>
            </a:r>
            <a:endParaRPr lang="en-US" sz="800" dirty="0"/>
          </a:p>
        </p:txBody>
      </p:sp>
      <p:sp>
        <p:nvSpPr>
          <p:cNvPr id="36" name="Shape 34"/>
          <p:cNvSpPr/>
          <p:nvPr/>
        </p:nvSpPr>
        <p:spPr>
          <a:xfrm>
            <a:off x="7324344" y="3063240"/>
            <a:ext cx="2029968" cy="1188720"/>
          </a:xfrm>
          <a:prstGeom prst="roundRect">
            <a:avLst>
              <a:gd name="adj" fmla="val 6154"/>
            </a:avLst>
          </a:prstGeom>
          <a:solidFill>
            <a:srgbClr val="042B2B"/>
          </a:solidFill>
          <a:ln/>
        </p:spPr>
        <p:txBody>
          <a:bodyPr/>
          <a:lstStyle/>
          <a:p>
            <a:endParaRPr lang="en-US"/>
          </a:p>
        </p:txBody>
      </p:sp>
      <p:sp>
        <p:nvSpPr>
          <p:cNvPr id="37" name="Text 35"/>
          <p:cNvSpPr/>
          <p:nvPr/>
        </p:nvSpPr>
        <p:spPr>
          <a:xfrm>
            <a:off x="7415784" y="313639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9</a:t>
            </a:r>
            <a:endParaRPr lang="en-US" sz="900" dirty="0"/>
          </a:p>
        </p:txBody>
      </p:sp>
      <p:sp>
        <p:nvSpPr>
          <p:cNvPr id="38" name="Text 36"/>
          <p:cNvSpPr/>
          <p:nvPr/>
        </p:nvSpPr>
        <p:spPr>
          <a:xfrm>
            <a:off x="7443216" y="331927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Eligibility re-checked</a:t>
            </a:r>
            <a:endParaRPr lang="en-US" sz="1050" dirty="0"/>
          </a:p>
        </p:txBody>
      </p:sp>
      <p:sp>
        <p:nvSpPr>
          <p:cNvPr id="39" name="Text 37"/>
          <p:cNvSpPr/>
          <p:nvPr/>
        </p:nvSpPr>
        <p:spPr>
          <a:xfrm>
            <a:off x="7443216" y="384048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Day of visit, catches late changes</a:t>
            </a:r>
            <a:endParaRPr lang="en-US" sz="800" dirty="0"/>
          </a:p>
        </p:txBody>
      </p:sp>
      <p:sp>
        <p:nvSpPr>
          <p:cNvPr id="40" name="Shape 38"/>
          <p:cNvSpPr/>
          <p:nvPr/>
        </p:nvSpPr>
        <p:spPr>
          <a:xfrm>
            <a:off x="9537192" y="3063240"/>
            <a:ext cx="2029968" cy="1188720"/>
          </a:xfrm>
          <a:prstGeom prst="roundRect">
            <a:avLst>
              <a:gd name="adj" fmla="val 6154"/>
            </a:avLst>
          </a:prstGeom>
          <a:solidFill>
            <a:srgbClr val="042B2B"/>
          </a:solidFill>
          <a:ln/>
        </p:spPr>
        <p:txBody>
          <a:bodyPr/>
          <a:lstStyle/>
          <a:p>
            <a:endParaRPr lang="en-US"/>
          </a:p>
        </p:txBody>
      </p:sp>
      <p:sp>
        <p:nvSpPr>
          <p:cNvPr id="41" name="Text 39"/>
          <p:cNvSpPr/>
          <p:nvPr/>
        </p:nvSpPr>
        <p:spPr>
          <a:xfrm>
            <a:off x="9628632" y="3136392"/>
            <a:ext cx="457200" cy="201168"/>
          </a:xfrm>
          <a:prstGeom prst="rect">
            <a:avLst/>
          </a:prstGeom>
          <a:noFill/>
          <a:ln/>
        </p:spPr>
        <p:txBody>
          <a:bodyPr wrap="square" lIns="0" tIns="0" rIns="0" bIns="0" rtlCol="0" anchor="ctr"/>
          <a:lstStyle/>
          <a:p>
            <a:pPr marL="0" indent="0">
              <a:buNone/>
            </a:pPr>
            <a:r>
              <a:rPr lang="en-US" sz="900" b="1" dirty="0">
                <a:solidFill>
                  <a:srgbClr val="C9D6CE"/>
                </a:solidFill>
                <a:latin typeface="Arial" pitchFamily="34" charset="0"/>
                <a:ea typeface="Arial" pitchFamily="34" charset="-122"/>
                <a:cs typeface="Arial" pitchFamily="34" charset="-120"/>
              </a:rPr>
              <a:t>10</a:t>
            </a:r>
            <a:endParaRPr lang="en-US" sz="900" dirty="0"/>
          </a:p>
        </p:txBody>
      </p:sp>
      <p:sp>
        <p:nvSpPr>
          <p:cNvPr id="42" name="Text 40"/>
          <p:cNvSpPr/>
          <p:nvPr/>
        </p:nvSpPr>
        <p:spPr>
          <a:xfrm>
            <a:off x="9656064" y="3319272"/>
            <a:ext cx="1792224" cy="502920"/>
          </a:xfrm>
          <a:prstGeom prst="rect">
            <a:avLst/>
          </a:prstGeom>
          <a:noFill/>
          <a:ln/>
        </p:spPr>
        <p:txBody>
          <a:bodyPr wrap="square" lIns="0" tIns="0" rIns="0" bIns="0" rtlCol="0" anchor="t"/>
          <a:lstStyle/>
          <a:p>
            <a:pPr marL="0" indent="0">
              <a:buNone/>
            </a:pPr>
            <a:r>
              <a:rPr lang="en-US" sz="1050" b="1" dirty="0">
                <a:solidFill>
                  <a:srgbClr val="F6F1DD"/>
                </a:solidFill>
                <a:latin typeface="Arial" pitchFamily="34" charset="0"/>
                <a:ea typeface="Arial" pitchFamily="34" charset="-122"/>
                <a:cs typeface="Arial" pitchFamily="34" charset="-120"/>
              </a:rPr>
              <a:t>Follow-up sent</a:t>
            </a:r>
            <a:endParaRPr lang="en-US" sz="1050" dirty="0"/>
          </a:p>
        </p:txBody>
      </p:sp>
      <p:sp>
        <p:nvSpPr>
          <p:cNvPr id="43" name="Text 41"/>
          <p:cNvSpPr/>
          <p:nvPr/>
        </p:nvSpPr>
        <p:spPr>
          <a:xfrm>
            <a:off x="9656064" y="3840480"/>
            <a:ext cx="1792224" cy="365760"/>
          </a:xfrm>
          <a:prstGeom prst="rect">
            <a:avLst/>
          </a:prstGeom>
          <a:noFill/>
          <a:ln/>
        </p:spPr>
        <p:txBody>
          <a:bodyPr wrap="square" lIns="0" tIns="0" rIns="0" bIns="0" rtlCol="0" anchor="t"/>
          <a:lstStyle/>
          <a:p>
            <a:pPr marL="0" indent="0">
              <a:buNone/>
            </a:pPr>
            <a:r>
              <a:rPr lang="en-US" sz="800" dirty="0">
                <a:solidFill>
                  <a:srgbClr val="C9D6CE"/>
                </a:solidFill>
                <a:latin typeface="Arial" pitchFamily="34" charset="0"/>
                <a:ea typeface="Arial" pitchFamily="34" charset="-122"/>
                <a:cs typeface="Arial" pitchFamily="34" charset="-120"/>
              </a:rPr>
              <a:t>After the visit</a:t>
            </a:r>
            <a:endParaRPr lang="en-US" sz="800" dirty="0"/>
          </a:p>
        </p:txBody>
      </p:sp>
      <p:sp>
        <p:nvSpPr>
          <p:cNvPr id="44" name="Shape 42"/>
          <p:cNvSpPr/>
          <p:nvPr/>
        </p:nvSpPr>
        <p:spPr>
          <a:xfrm>
            <a:off x="2715768" y="1965960"/>
            <a:ext cx="182880" cy="0"/>
          </a:xfrm>
          <a:prstGeom prst="line">
            <a:avLst/>
          </a:prstGeom>
          <a:noFill/>
          <a:ln w="15875">
            <a:solidFill>
              <a:srgbClr val="042B2B"/>
            </a:solidFill>
            <a:prstDash val="solid"/>
            <a:tailEnd type="triangle"/>
          </a:ln>
        </p:spPr>
        <p:txBody>
          <a:bodyPr/>
          <a:lstStyle/>
          <a:p>
            <a:endParaRPr lang="en-US"/>
          </a:p>
        </p:txBody>
      </p:sp>
      <p:sp>
        <p:nvSpPr>
          <p:cNvPr id="45" name="Shape 43"/>
          <p:cNvSpPr/>
          <p:nvPr/>
        </p:nvSpPr>
        <p:spPr>
          <a:xfrm>
            <a:off x="4928616" y="1965960"/>
            <a:ext cx="182880" cy="0"/>
          </a:xfrm>
          <a:prstGeom prst="line">
            <a:avLst/>
          </a:prstGeom>
          <a:noFill/>
          <a:ln w="15875">
            <a:solidFill>
              <a:srgbClr val="042B2B"/>
            </a:solidFill>
            <a:prstDash val="solid"/>
            <a:tailEnd type="triangle"/>
          </a:ln>
        </p:spPr>
        <p:txBody>
          <a:bodyPr/>
          <a:lstStyle/>
          <a:p>
            <a:endParaRPr lang="en-US"/>
          </a:p>
        </p:txBody>
      </p:sp>
      <p:sp>
        <p:nvSpPr>
          <p:cNvPr id="46" name="Shape 44"/>
          <p:cNvSpPr/>
          <p:nvPr/>
        </p:nvSpPr>
        <p:spPr>
          <a:xfrm>
            <a:off x="7141464" y="1965960"/>
            <a:ext cx="182880" cy="0"/>
          </a:xfrm>
          <a:prstGeom prst="line">
            <a:avLst/>
          </a:prstGeom>
          <a:noFill/>
          <a:ln w="15875">
            <a:solidFill>
              <a:srgbClr val="042B2B"/>
            </a:solidFill>
            <a:prstDash val="solid"/>
            <a:tailEnd type="triangle"/>
          </a:ln>
        </p:spPr>
        <p:txBody>
          <a:bodyPr/>
          <a:lstStyle/>
          <a:p>
            <a:endParaRPr lang="en-US"/>
          </a:p>
        </p:txBody>
      </p:sp>
      <p:sp>
        <p:nvSpPr>
          <p:cNvPr id="47" name="Shape 45"/>
          <p:cNvSpPr/>
          <p:nvPr/>
        </p:nvSpPr>
        <p:spPr>
          <a:xfrm>
            <a:off x="9354312" y="1965960"/>
            <a:ext cx="182880" cy="0"/>
          </a:xfrm>
          <a:prstGeom prst="line">
            <a:avLst/>
          </a:prstGeom>
          <a:noFill/>
          <a:ln w="15875">
            <a:solidFill>
              <a:srgbClr val="042B2B"/>
            </a:solidFill>
            <a:prstDash val="solid"/>
            <a:tailEnd type="triangle"/>
          </a:ln>
        </p:spPr>
        <p:txBody>
          <a:bodyPr/>
          <a:lstStyle/>
          <a:p>
            <a:endParaRPr lang="en-US"/>
          </a:p>
        </p:txBody>
      </p:sp>
      <p:sp>
        <p:nvSpPr>
          <p:cNvPr id="48" name="Shape 46"/>
          <p:cNvSpPr/>
          <p:nvPr/>
        </p:nvSpPr>
        <p:spPr>
          <a:xfrm>
            <a:off x="2715768" y="3657600"/>
            <a:ext cx="182880" cy="0"/>
          </a:xfrm>
          <a:prstGeom prst="line">
            <a:avLst/>
          </a:prstGeom>
          <a:noFill/>
          <a:ln w="15875">
            <a:solidFill>
              <a:srgbClr val="042B2B"/>
            </a:solidFill>
            <a:prstDash val="solid"/>
            <a:tailEnd type="triangle"/>
          </a:ln>
        </p:spPr>
        <p:txBody>
          <a:bodyPr/>
          <a:lstStyle/>
          <a:p>
            <a:endParaRPr lang="en-US"/>
          </a:p>
        </p:txBody>
      </p:sp>
      <p:sp>
        <p:nvSpPr>
          <p:cNvPr id="49" name="Shape 47"/>
          <p:cNvSpPr/>
          <p:nvPr/>
        </p:nvSpPr>
        <p:spPr>
          <a:xfrm>
            <a:off x="4928616" y="3657600"/>
            <a:ext cx="182880" cy="0"/>
          </a:xfrm>
          <a:prstGeom prst="line">
            <a:avLst/>
          </a:prstGeom>
          <a:noFill/>
          <a:ln w="15875">
            <a:solidFill>
              <a:srgbClr val="042B2B"/>
            </a:solidFill>
            <a:prstDash val="solid"/>
            <a:tailEnd type="triangle"/>
          </a:ln>
        </p:spPr>
        <p:txBody>
          <a:bodyPr/>
          <a:lstStyle/>
          <a:p>
            <a:endParaRPr lang="en-US"/>
          </a:p>
        </p:txBody>
      </p:sp>
      <p:sp>
        <p:nvSpPr>
          <p:cNvPr id="50" name="Shape 48"/>
          <p:cNvSpPr/>
          <p:nvPr/>
        </p:nvSpPr>
        <p:spPr>
          <a:xfrm>
            <a:off x="7141464" y="3657600"/>
            <a:ext cx="182880" cy="0"/>
          </a:xfrm>
          <a:prstGeom prst="line">
            <a:avLst/>
          </a:prstGeom>
          <a:noFill/>
          <a:ln w="15875">
            <a:solidFill>
              <a:srgbClr val="042B2B"/>
            </a:solidFill>
            <a:prstDash val="solid"/>
            <a:tailEnd type="triangle"/>
          </a:ln>
        </p:spPr>
        <p:txBody>
          <a:bodyPr/>
          <a:lstStyle/>
          <a:p>
            <a:endParaRPr lang="en-US"/>
          </a:p>
        </p:txBody>
      </p:sp>
      <p:sp>
        <p:nvSpPr>
          <p:cNvPr id="51" name="Shape 49"/>
          <p:cNvSpPr/>
          <p:nvPr/>
        </p:nvSpPr>
        <p:spPr>
          <a:xfrm>
            <a:off x="9354312" y="3657600"/>
            <a:ext cx="182880" cy="0"/>
          </a:xfrm>
          <a:prstGeom prst="line">
            <a:avLst/>
          </a:prstGeom>
          <a:noFill/>
          <a:ln w="15875">
            <a:solidFill>
              <a:srgbClr val="042B2B"/>
            </a:solidFill>
            <a:prstDash val="solid"/>
            <a:tailEnd type="triangle"/>
          </a:ln>
        </p:spPr>
        <p:txBody>
          <a:bodyPr/>
          <a:lstStyle/>
          <a:p>
            <a:endParaRPr lang="en-US"/>
          </a:p>
        </p:txBody>
      </p:sp>
      <p:sp>
        <p:nvSpPr>
          <p:cNvPr id="52" name="Shape 50"/>
          <p:cNvSpPr/>
          <p:nvPr/>
        </p:nvSpPr>
        <p:spPr>
          <a:xfrm>
            <a:off x="10552176" y="2560320"/>
            <a:ext cx="0" cy="251460"/>
          </a:xfrm>
          <a:prstGeom prst="line">
            <a:avLst/>
          </a:prstGeom>
          <a:noFill/>
          <a:ln w="15875">
            <a:solidFill>
              <a:srgbClr val="042B2B"/>
            </a:solidFill>
            <a:prstDash val="solid"/>
          </a:ln>
        </p:spPr>
        <p:txBody>
          <a:bodyPr/>
          <a:lstStyle/>
          <a:p>
            <a:endParaRPr lang="en-US"/>
          </a:p>
        </p:txBody>
      </p:sp>
      <p:sp>
        <p:nvSpPr>
          <p:cNvPr id="53" name="Shape 51"/>
          <p:cNvSpPr/>
          <p:nvPr/>
        </p:nvSpPr>
        <p:spPr>
          <a:xfrm>
            <a:off x="1700784" y="2811780"/>
            <a:ext cx="8851392" cy="0"/>
          </a:xfrm>
          <a:prstGeom prst="line">
            <a:avLst/>
          </a:prstGeom>
          <a:noFill/>
          <a:ln w="15875">
            <a:solidFill>
              <a:srgbClr val="042B2B"/>
            </a:solidFill>
            <a:prstDash val="solid"/>
          </a:ln>
        </p:spPr>
        <p:txBody>
          <a:bodyPr/>
          <a:lstStyle/>
          <a:p>
            <a:endParaRPr lang="en-US"/>
          </a:p>
        </p:txBody>
      </p:sp>
      <p:sp>
        <p:nvSpPr>
          <p:cNvPr id="54" name="Shape 52"/>
          <p:cNvSpPr/>
          <p:nvPr/>
        </p:nvSpPr>
        <p:spPr>
          <a:xfrm>
            <a:off x="1700784" y="2811780"/>
            <a:ext cx="0" cy="251460"/>
          </a:xfrm>
          <a:prstGeom prst="line">
            <a:avLst/>
          </a:prstGeom>
          <a:noFill/>
          <a:ln w="15875">
            <a:solidFill>
              <a:srgbClr val="042B2B"/>
            </a:solidFill>
            <a:prstDash val="solid"/>
            <a:tailEnd type="triangle"/>
          </a:ln>
        </p:spPr>
        <p:txBody>
          <a:bodyPr/>
          <a:lstStyle/>
          <a:p>
            <a:endParaRPr lang="en-US"/>
          </a:p>
        </p:txBody>
      </p:sp>
      <p:sp>
        <p:nvSpPr>
          <p:cNvPr id="55" name="Shape 53"/>
          <p:cNvSpPr/>
          <p:nvPr/>
        </p:nvSpPr>
        <p:spPr>
          <a:xfrm>
            <a:off x="3261208" y="4526280"/>
            <a:ext cx="5669280" cy="594360"/>
          </a:xfrm>
          <a:prstGeom prst="roundRect">
            <a:avLst>
              <a:gd name="adj" fmla="val 15385"/>
            </a:avLst>
          </a:prstGeom>
          <a:solidFill>
            <a:srgbClr val="E1E9E4"/>
          </a:solidFill>
          <a:ln/>
        </p:spPr>
        <p:txBody>
          <a:bodyPr/>
          <a:lstStyle/>
          <a:p>
            <a:endParaRPr lang="en-US"/>
          </a:p>
        </p:txBody>
      </p:sp>
      <p:sp>
        <p:nvSpPr>
          <p:cNvPr id="56" name="Text 54"/>
          <p:cNvSpPr/>
          <p:nvPr/>
        </p:nvSpPr>
        <p:spPr>
          <a:xfrm>
            <a:off x="3261208" y="4526280"/>
            <a:ext cx="5669280" cy="594360"/>
          </a:xfrm>
          <a:prstGeom prst="rect">
            <a:avLst/>
          </a:prstGeom>
          <a:noFill/>
          <a:ln/>
        </p:spPr>
        <p:txBody>
          <a:bodyPr wrap="square" lIns="0" tIns="0" rIns="0" bIns="0" rtlCol="0" anchor="ctr"/>
          <a:lstStyle/>
          <a:p>
            <a:pPr marL="0" indent="0" algn="ctr">
              <a:buNone/>
            </a:pPr>
            <a:r>
              <a:rPr lang="en-US" sz="1500" b="1" dirty="0">
                <a:solidFill>
                  <a:srgbClr val="042B2B"/>
                </a:solidFill>
                <a:latin typeface="Arial" pitchFamily="34" charset="0"/>
                <a:ea typeface="Arial" pitchFamily="34" charset="-122"/>
                <a:cs typeface="Arial" pitchFamily="34" charset="-120"/>
              </a:rPr>
              <a:t>7 of 10 steps </a:t>
            </a:r>
            <a:r>
              <a:rPr lang="en-US" sz="1500" dirty="0">
                <a:solidFill>
                  <a:srgbClr val="042B2B"/>
                </a:solidFill>
                <a:latin typeface="Arial" pitchFamily="34" charset="0"/>
                <a:ea typeface="Arial" pitchFamily="34" charset="-122"/>
                <a:cs typeface="Arial" pitchFamily="34" charset="-120"/>
              </a:rPr>
              <a:t>run automatically, start to finish</a:t>
            </a:r>
            <a:endParaRPr lang="en-US" sz="1500" dirty="0"/>
          </a:p>
        </p:txBody>
      </p:sp>
      <p:sp>
        <p:nvSpPr>
          <p:cNvPr id="57" name="Shape 55"/>
          <p:cNvSpPr/>
          <p:nvPr/>
        </p:nvSpPr>
        <p:spPr>
          <a:xfrm>
            <a:off x="3649828" y="5458968"/>
            <a:ext cx="201168" cy="201168"/>
          </a:xfrm>
          <a:prstGeom prst="roundRect">
            <a:avLst>
              <a:gd name="adj" fmla="val 18182"/>
            </a:avLst>
          </a:prstGeom>
          <a:solidFill>
            <a:srgbClr val="042B2B"/>
          </a:solidFill>
          <a:ln/>
        </p:spPr>
        <p:txBody>
          <a:bodyPr/>
          <a:lstStyle/>
          <a:p>
            <a:endParaRPr lang="en-US"/>
          </a:p>
        </p:txBody>
      </p:sp>
      <p:sp>
        <p:nvSpPr>
          <p:cNvPr id="58" name="Text 56"/>
          <p:cNvSpPr/>
          <p:nvPr/>
        </p:nvSpPr>
        <p:spPr>
          <a:xfrm>
            <a:off x="3942436" y="5413248"/>
            <a:ext cx="1051560" cy="274320"/>
          </a:xfrm>
          <a:prstGeom prst="rect">
            <a:avLst/>
          </a:prstGeom>
          <a:noFill/>
          <a:ln/>
        </p:spPr>
        <p:txBody>
          <a:bodyPr wrap="square" lIns="0" tIns="0" rIns="0" bIns="0" rtlCol="0" anchor="ctr"/>
          <a:lstStyle/>
          <a:p>
            <a:pPr marL="0" indent="0">
              <a:buNone/>
            </a:pPr>
            <a:r>
              <a:rPr lang="en-US" sz="1100" dirty="0">
                <a:solidFill>
                  <a:srgbClr val="042B2B"/>
                </a:solidFill>
                <a:latin typeface="Arial" pitchFamily="34" charset="0"/>
                <a:ea typeface="Arial" pitchFamily="34" charset="-122"/>
                <a:cs typeface="Arial" pitchFamily="34" charset="-120"/>
              </a:rPr>
              <a:t>Automated</a:t>
            </a:r>
            <a:endParaRPr lang="en-US" sz="1100" dirty="0"/>
          </a:p>
        </p:txBody>
      </p:sp>
      <p:sp>
        <p:nvSpPr>
          <p:cNvPr id="59" name="Shape 57"/>
          <p:cNvSpPr/>
          <p:nvPr/>
        </p:nvSpPr>
        <p:spPr>
          <a:xfrm>
            <a:off x="5195164" y="5458968"/>
            <a:ext cx="201168" cy="201168"/>
          </a:xfrm>
          <a:prstGeom prst="roundRect">
            <a:avLst>
              <a:gd name="adj" fmla="val 18182"/>
            </a:avLst>
          </a:prstGeom>
          <a:solidFill>
            <a:srgbClr val="DBAA47"/>
          </a:solidFill>
          <a:ln/>
        </p:spPr>
        <p:txBody>
          <a:bodyPr/>
          <a:lstStyle/>
          <a:p>
            <a:endParaRPr lang="en-US"/>
          </a:p>
        </p:txBody>
      </p:sp>
      <p:sp>
        <p:nvSpPr>
          <p:cNvPr id="60" name="Text 58"/>
          <p:cNvSpPr/>
          <p:nvPr/>
        </p:nvSpPr>
        <p:spPr>
          <a:xfrm>
            <a:off x="5487772" y="5413248"/>
            <a:ext cx="1188720" cy="274320"/>
          </a:xfrm>
          <a:prstGeom prst="rect">
            <a:avLst/>
          </a:prstGeom>
          <a:noFill/>
          <a:ln/>
        </p:spPr>
        <p:txBody>
          <a:bodyPr wrap="square" lIns="0" tIns="0" rIns="0" bIns="0" rtlCol="0" anchor="ctr"/>
          <a:lstStyle/>
          <a:p>
            <a:pPr marL="0" indent="0">
              <a:buNone/>
            </a:pPr>
            <a:r>
              <a:rPr lang="en-US" sz="1100" dirty="0">
                <a:solidFill>
                  <a:srgbClr val="042B2B"/>
                </a:solidFill>
                <a:latin typeface="Arial" pitchFamily="34" charset="0"/>
                <a:ea typeface="Arial" pitchFamily="34" charset="-122"/>
                <a:cs typeface="Arial" pitchFamily="34" charset="-120"/>
              </a:rPr>
              <a:t>Staff review</a:t>
            </a:r>
            <a:endParaRPr lang="en-US" sz="1100" dirty="0"/>
          </a:p>
        </p:txBody>
      </p:sp>
      <p:sp>
        <p:nvSpPr>
          <p:cNvPr id="61" name="Shape 59"/>
          <p:cNvSpPr/>
          <p:nvPr/>
        </p:nvSpPr>
        <p:spPr>
          <a:xfrm>
            <a:off x="6877660" y="5458968"/>
            <a:ext cx="201168" cy="201168"/>
          </a:xfrm>
          <a:prstGeom prst="roundRect">
            <a:avLst>
              <a:gd name="adj" fmla="val 18182"/>
            </a:avLst>
          </a:prstGeom>
          <a:solidFill>
            <a:srgbClr val="F6F1DD"/>
          </a:solidFill>
          <a:ln w="12700">
            <a:solidFill>
              <a:srgbClr val="042B2B"/>
            </a:solidFill>
            <a:prstDash val="solid"/>
          </a:ln>
        </p:spPr>
        <p:txBody>
          <a:bodyPr/>
          <a:lstStyle/>
          <a:p>
            <a:endParaRPr lang="en-US"/>
          </a:p>
        </p:txBody>
      </p:sp>
      <p:sp>
        <p:nvSpPr>
          <p:cNvPr id="62" name="Text 60"/>
          <p:cNvSpPr/>
          <p:nvPr/>
        </p:nvSpPr>
        <p:spPr>
          <a:xfrm>
            <a:off x="7170268" y="5413248"/>
            <a:ext cx="1371600" cy="274320"/>
          </a:xfrm>
          <a:prstGeom prst="rect">
            <a:avLst/>
          </a:prstGeom>
          <a:noFill/>
          <a:ln/>
        </p:spPr>
        <p:txBody>
          <a:bodyPr wrap="square" lIns="0" tIns="0" rIns="0" bIns="0" rtlCol="0" anchor="ctr"/>
          <a:lstStyle/>
          <a:p>
            <a:pPr marL="0" indent="0">
              <a:buNone/>
            </a:pPr>
            <a:r>
              <a:rPr lang="en-US" sz="1100" dirty="0">
                <a:solidFill>
                  <a:srgbClr val="042B2B"/>
                </a:solidFill>
                <a:latin typeface="Arial" pitchFamily="34" charset="0"/>
                <a:ea typeface="Arial" pitchFamily="34" charset="-122"/>
                <a:cs typeface="Arial" pitchFamily="34" charset="-120"/>
              </a:rPr>
              <a:t>Patient action</a:t>
            </a:r>
            <a:endParaRPr lang="en-US" sz="1100" dirty="0"/>
          </a:p>
        </p:txBody>
      </p:sp>
      <p:sp>
        <p:nvSpPr>
          <p:cNvPr id="63" name="Text 61"/>
          <p:cNvSpPr/>
          <p:nvPr/>
        </p:nvSpPr>
        <p:spPr>
          <a:xfrm>
            <a:off x="9601200" y="6446520"/>
            <a:ext cx="2130552" cy="274320"/>
          </a:xfrm>
          <a:prstGeom prst="rect">
            <a:avLst/>
          </a:prstGeom>
          <a:noFill/>
          <a:ln/>
        </p:spPr>
        <p:txBody>
          <a:bodyPr wrap="square" lIns="0" tIns="0" rIns="0" bIns="0" rtlCol="0" anchor="ctr"/>
          <a:lstStyle/>
          <a:p>
            <a:pPr marL="0" indent="0" algn="r">
              <a:buNone/>
            </a:pPr>
            <a:r>
              <a:rPr lang="en-US" sz="900" dirty="0">
                <a:solidFill>
                  <a:srgbClr val="5F5E5A"/>
                </a:solidFill>
                <a:latin typeface="Arial" pitchFamily="34" charset="0"/>
                <a:ea typeface="Arial" pitchFamily="34" charset="-122"/>
                <a:cs typeface="Arial" pitchFamily="34" charset="-120"/>
              </a:rPr>
              <a:t>Halo Holdings — HaloFlow</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868680" cy="868680"/>
          </a:xfrm>
          <a:prstGeom prst="ellipse">
            <a:avLst/>
          </a:prstGeom>
          <a:solidFill>
            <a:srgbClr val="042B2B"/>
          </a:solidFill>
          <a:ln/>
        </p:spPr>
        <p:txBody>
          <a:bodyPr/>
          <a:lstStyle/>
          <a:p>
            <a:endParaRPr lang="en-US"/>
          </a:p>
        </p:txBody>
      </p:sp>
      <p:pic>
        <p:nvPicPr>
          <p:cNvPr id="3" name="Image 0" descr="/home/claude/pptxgen/icons/headset.png"/>
          <p:cNvPicPr>
            <a:picLocks noChangeAspect="1"/>
          </p:cNvPicPr>
          <p:nvPr/>
        </p:nvPicPr>
        <p:blipFill>
          <a:blip r:embed="rId3"/>
          <a:stretch>
            <a:fillRect/>
          </a:stretch>
        </p:blipFill>
        <p:spPr>
          <a:xfrm>
            <a:off x="841248" y="704088"/>
            <a:ext cx="466344" cy="466344"/>
          </a:xfrm>
          <a:prstGeom prst="rect">
            <a:avLst/>
          </a:prstGeom>
        </p:spPr>
      </p:pic>
      <p:sp>
        <p:nvSpPr>
          <p:cNvPr id="4" name="Text 1"/>
          <p:cNvSpPr/>
          <p:nvPr/>
        </p:nvSpPr>
        <p:spPr>
          <a:xfrm>
            <a:off x="1737360" y="457200"/>
            <a:ext cx="9601200" cy="548640"/>
          </a:xfrm>
          <a:prstGeom prst="rect">
            <a:avLst/>
          </a:prstGeom>
          <a:noFill/>
          <a:ln/>
        </p:spPr>
        <p:txBody>
          <a:bodyPr wrap="square" rtlCol="0" anchor="ctr"/>
          <a:lstStyle/>
          <a:p>
            <a:pPr marL="0" indent="0">
              <a:buNone/>
            </a:pPr>
            <a:r>
              <a:rPr lang="en-US" sz="2800" b="1" dirty="0">
                <a:solidFill>
                  <a:srgbClr val="1B2B2E"/>
                </a:solidFill>
                <a:latin typeface="Cambria" pitchFamily="34" charset="0"/>
                <a:ea typeface="Cambria" pitchFamily="34" charset="-122"/>
                <a:cs typeface="Cambria" pitchFamily="34" charset="-120"/>
              </a:rPr>
              <a:t>We handle EVERYTHING technical</a:t>
            </a:r>
            <a:endParaRPr lang="en-US" sz="2800" dirty="0"/>
          </a:p>
        </p:txBody>
      </p:sp>
      <p:sp>
        <p:nvSpPr>
          <p:cNvPr id="5" name="Text 2"/>
          <p:cNvSpPr/>
          <p:nvPr/>
        </p:nvSpPr>
        <p:spPr>
          <a:xfrm>
            <a:off x="1737360" y="987552"/>
            <a:ext cx="9601200" cy="457200"/>
          </a:xfrm>
          <a:prstGeom prst="rect">
            <a:avLst/>
          </a:prstGeom>
          <a:noFill/>
          <a:ln/>
        </p:spPr>
        <p:txBody>
          <a:bodyPr wrap="square" rtlCol="0" anchor="ctr"/>
          <a:lstStyle/>
          <a:p>
            <a:pPr marL="0" indent="0">
              <a:buNone/>
            </a:pPr>
            <a:r>
              <a:rPr lang="en-US" sz="1500" dirty="0">
                <a:solidFill>
                  <a:srgbClr val="6E6857"/>
                </a:solidFill>
                <a:latin typeface="Calibri" pitchFamily="34" charset="0"/>
                <a:ea typeface="Calibri" pitchFamily="34" charset="-122"/>
                <a:cs typeface="Calibri" pitchFamily="34" charset="-120"/>
              </a:rPr>
              <a:t>Setup, customization, and support — all on us throughout the pilot.</a:t>
            </a:r>
            <a:endParaRPr lang="en-US" sz="1500" dirty="0"/>
          </a:p>
        </p:txBody>
      </p:sp>
      <p:sp>
        <p:nvSpPr>
          <p:cNvPr id="6" name="Shape 3"/>
          <p:cNvSpPr/>
          <p:nvPr/>
        </p:nvSpPr>
        <p:spPr>
          <a:xfrm>
            <a:off x="640080" y="2103120"/>
            <a:ext cx="3383280" cy="2834640"/>
          </a:xfrm>
          <a:prstGeom prst="roundRect">
            <a:avLst>
              <a:gd name="adj" fmla="val 3871"/>
            </a:avLst>
          </a:prstGeom>
          <a:solidFill>
            <a:srgbClr val="F6F1DD"/>
          </a:solidFill>
          <a:ln w="12700">
            <a:solidFill>
              <a:srgbClr val="E6DDBE"/>
            </a:solidFill>
            <a:prstDash val="solid"/>
          </a:ln>
        </p:spPr>
        <p:txBody>
          <a:bodyPr/>
          <a:lstStyle/>
          <a:p>
            <a:endParaRPr lang="en-US"/>
          </a:p>
        </p:txBody>
      </p:sp>
      <p:sp>
        <p:nvSpPr>
          <p:cNvPr id="7" name="Shape 4"/>
          <p:cNvSpPr/>
          <p:nvPr/>
        </p:nvSpPr>
        <p:spPr>
          <a:xfrm>
            <a:off x="914400" y="2377440"/>
            <a:ext cx="548640" cy="548640"/>
          </a:xfrm>
          <a:prstGeom prst="ellipse">
            <a:avLst/>
          </a:prstGeom>
          <a:solidFill>
            <a:srgbClr val="1E5A50"/>
          </a:solidFill>
          <a:ln/>
        </p:spPr>
        <p:txBody>
          <a:bodyPr/>
          <a:lstStyle/>
          <a:p>
            <a:endParaRPr lang="en-US"/>
          </a:p>
        </p:txBody>
      </p:sp>
      <p:sp>
        <p:nvSpPr>
          <p:cNvPr id="8" name="Text 5"/>
          <p:cNvSpPr/>
          <p:nvPr/>
        </p:nvSpPr>
        <p:spPr>
          <a:xfrm>
            <a:off x="914400" y="2377440"/>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914400" y="3154680"/>
            <a:ext cx="2834640" cy="411480"/>
          </a:xfrm>
          <a:prstGeom prst="rect">
            <a:avLst/>
          </a:prstGeom>
          <a:noFill/>
          <a:ln/>
        </p:spPr>
        <p:txBody>
          <a:bodyPr wrap="square" rtlCol="0" anchor="ctr"/>
          <a:lstStyle/>
          <a:p>
            <a:pPr marL="0" indent="0">
              <a:buNone/>
            </a:pPr>
            <a:r>
              <a:rPr lang="en-US" sz="1600" b="1" dirty="0">
                <a:solidFill>
                  <a:srgbClr val="0B3B36"/>
                </a:solidFill>
                <a:latin typeface="Cambria" pitchFamily="34" charset="0"/>
                <a:ea typeface="Cambria" pitchFamily="34" charset="-122"/>
                <a:cs typeface="Cambria" pitchFamily="34" charset="-120"/>
              </a:rPr>
              <a:t>We handle setup</a:t>
            </a:r>
            <a:endParaRPr lang="en-US" sz="1600" dirty="0"/>
          </a:p>
        </p:txBody>
      </p:sp>
      <p:sp>
        <p:nvSpPr>
          <p:cNvPr id="10" name="Text 7"/>
          <p:cNvSpPr/>
          <p:nvPr/>
        </p:nvSpPr>
        <p:spPr>
          <a:xfrm>
            <a:off x="914400" y="3611880"/>
            <a:ext cx="2834640" cy="1143000"/>
          </a:xfrm>
          <a:prstGeom prst="rect">
            <a:avLst/>
          </a:prstGeom>
          <a:noFill/>
          <a:ln/>
        </p:spPr>
        <p:txBody>
          <a:bodyPr wrap="square" rtlCol="0" anchor="ctr"/>
          <a:lstStyle/>
          <a:p>
            <a:pPr marL="0" indent="0">
              <a:lnSpc>
                <a:spcPct val="125000"/>
              </a:lnSpc>
              <a:buNone/>
            </a:pPr>
            <a:r>
              <a:rPr lang="en-US" sz="1350" dirty="0">
                <a:solidFill>
                  <a:srgbClr val="1B2B2E"/>
                </a:solidFill>
                <a:latin typeface="Calibri" pitchFamily="34" charset="0"/>
                <a:ea typeface="Calibri" pitchFamily="34" charset="-122"/>
                <a:cs typeface="Calibri" pitchFamily="34" charset="-120"/>
              </a:rPr>
              <a:t>We configure everything behind the scenes, working around your schedule.</a:t>
            </a:r>
            <a:endParaRPr lang="en-US" sz="1350" dirty="0"/>
          </a:p>
        </p:txBody>
      </p:sp>
      <p:sp>
        <p:nvSpPr>
          <p:cNvPr id="11" name="Shape 8"/>
          <p:cNvSpPr/>
          <p:nvPr/>
        </p:nvSpPr>
        <p:spPr>
          <a:xfrm>
            <a:off x="4389120" y="2103120"/>
            <a:ext cx="3383280" cy="2834640"/>
          </a:xfrm>
          <a:prstGeom prst="roundRect">
            <a:avLst>
              <a:gd name="adj" fmla="val 3871"/>
            </a:avLst>
          </a:prstGeom>
          <a:solidFill>
            <a:srgbClr val="F6F1DD"/>
          </a:solidFill>
          <a:ln w="12700">
            <a:solidFill>
              <a:srgbClr val="E6DDBE"/>
            </a:solidFill>
            <a:prstDash val="solid"/>
          </a:ln>
        </p:spPr>
        <p:txBody>
          <a:bodyPr/>
          <a:lstStyle/>
          <a:p>
            <a:endParaRPr lang="en-US"/>
          </a:p>
        </p:txBody>
      </p:sp>
      <p:sp>
        <p:nvSpPr>
          <p:cNvPr id="12" name="Shape 9"/>
          <p:cNvSpPr/>
          <p:nvPr/>
        </p:nvSpPr>
        <p:spPr>
          <a:xfrm>
            <a:off x="4663440" y="2377440"/>
            <a:ext cx="548640" cy="548640"/>
          </a:xfrm>
          <a:prstGeom prst="ellipse">
            <a:avLst/>
          </a:prstGeom>
          <a:solidFill>
            <a:srgbClr val="1E5A50"/>
          </a:solidFill>
          <a:ln/>
        </p:spPr>
        <p:txBody>
          <a:bodyPr/>
          <a:lstStyle/>
          <a:p>
            <a:endParaRPr lang="en-US"/>
          </a:p>
        </p:txBody>
      </p:sp>
      <p:sp>
        <p:nvSpPr>
          <p:cNvPr id="13" name="Text 10"/>
          <p:cNvSpPr/>
          <p:nvPr/>
        </p:nvSpPr>
        <p:spPr>
          <a:xfrm>
            <a:off x="4663440" y="2377440"/>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4" name="Text 11"/>
          <p:cNvSpPr/>
          <p:nvPr/>
        </p:nvSpPr>
        <p:spPr>
          <a:xfrm>
            <a:off x="4663440" y="3154680"/>
            <a:ext cx="2834640" cy="411480"/>
          </a:xfrm>
          <a:prstGeom prst="rect">
            <a:avLst/>
          </a:prstGeom>
          <a:noFill/>
          <a:ln/>
        </p:spPr>
        <p:txBody>
          <a:bodyPr wrap="square" rtlCol="0" anchor="ctr"/>
          <a:lstStyle/>
          <a:p>
            <a:pPr marL="0" indent="0">
              <a:buNone/>
            </a:pPr>
            <a:r>
              <a:rPr lang="en-US" sz="1600" b="1" dirty="0">
                <a:solidFill>
                  <a:srgbClr val="0B3B36"/>
                </a:solidFill>
                <a:latin typeface="Cambria" pitchFamily="34" charset="0"/>
                <a:ea typeface="Cambria" pitchFamily="34" charset="-122"/>
                <a:cs typeface="Cambria" pitchFamily="34" charset="-120"/>
              </a:rPr>
              <a:t>You keep working as usual</a:t>
            </a:r>
            <a:endParaRPr lang="en-US" sz="1600" dirty="0"/>
          </a:p>
        </p:txBody>
      </p:sp>
      <p:sp>
        <p:nvSpPr>
          <p:cNvPr id="15" name="Text 12"/>
          <p:cNvSpPr/>
          <p:nvPr/>
        </p:nvSpPr>
        <p:spPr>
          <a:xfrm>
            <a:off x="4663440" y="3611880"/>
            <a:ext cx="2834640" cy="1143000"/>
          </a:xfrm>
          <a:prstGeom prst="rect">
            <a:avLst/>
          </a:prstGeom>
          <a:noFill/>
          <a:ln/>
        </p:spPr>
        <p:txBody>
          <a:bodyPr wrap="square" rtlCol="0" anchor="ctr"/>
          <a:lstStyle/>
          <a:p>
            <a:pPr marL="0" indent="0">
              <a:lnSpc>
                <a:spcPct val="125000"/>
              </a:lnSpc>
              <a:buNone/>
            </a:pPr>
            <a:r>
              <a:rPr lang="en-US" sz="1350" dirty="0">
                <a:solidFill>
                  <a:srgbClr val="1B2B2E"/>
                </a:solidFill>
                <a:latin typeface="Calibri" pitchFamily="34" charset="0"/>
                <a:ea typeface="Calibri" pitchFamily="34" charset="-122"/>
                <a:cs typeface="Calibri" pitchFamily="34" charset="-120"/>
              </a:rPr>
              <a:t>There's no new screen to learn or dashboard to check every day.</a:t>
            </a:r>
            <a:endParaRPr lang="en-US" sz="1350" dirty="0"/>
          </a:p>
        </p:txBody>
      </p:sp>
      <p:sp>
        <p:nvSpPr>
          <p:cNvPr id="16" name="Shape 13"/>
          <p:cNvSpPr/>
          <p:nvPr/>
        </p:nvSpPr>
        <p:spPr>
          <a:xfrm>
            <a:off x="8138160" y="2103120"/>
            <a:ext cx="3383280" cy="2834640"/>
          </a:xfrm>
          <a:prstGeom prst="roundRect">
            <a:avLst>
              <a:gd name="adj" fmla="val 3871"/>
            </a:avLst>
          </a:prstGeom>
          <a:solidFill>
            <a:srgbClr val="F6F1DD"/>
          </a:solidFill>
          <a:ln w="12700">
            <a:solidFill>
              <a:srgbClr val="E6DDBE"/>
            </a:solidFill>
            <a:prstDash val="solid"/>
          </a:ln>
        </p:spPr>
        <p:txBody>
          <a:bodyPr/>
          <a:lstStyle/>
          <a:p>
            <a:endParaRPr lang="en-US"/>
          </a:p>
        </p:txBody>
      </p:sp>
      <p:sp>
        <p:nvSpPr>
          <p:cNvPr id="17" name="Shape 14"/>
          <p:cNvSpPr/>
          <p:nvPr/>
        </p:nvSpPr>
        <p:spPr>
          <a:xfrm>
            <a:off x="8412480" y="2377440"/>
            <a:ext cx="548640" cy="548640"/>
          </a:xfrm>
          <a:prstGeom prst="ellipse">
            <a:avLst/>
          </a:prstGeom>
          <a:solidFill>
            <a:srgbClr val="1E5A50"/>
          </a:solidFill>
          <a:ln/>
        </p:spPr>
        <p:txBody>
          <a:bodyPr/>
          <a:lstStyle/>
          <a:p>
            <a:endParaRPr lang="en-US"/>
          </a:p>
        </p:txBody>
      </p:sp>
      <p:sp>
        <p:nvSpPr>
          <p:cNvPr id="18" name="Text 15"/>
          <p:cNvSpPr/>
          <p:nvPr/>
        </p:nvSpPr>
        <p:spPr>
          <a:xfrm>
            <a:off x="8412480" y="2377440"/>
            <a:ext cx="548640" cy="54864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6"/>
          <p:cNvSpPr/>
          <p:nvPr/>
        </p:nvSpPr>
        <p:spPr>
          <a:xfrm>
            <a:off x="8412480" y="3154680"/>
            <a:ext cx="2834640" cy="411480"/>
          </a:xfrm>
          <a:prstGeom prst="rect">
            <a:avLst/>
          </a:prstGeom>
          <a:noFill/>
          <a:ln/>
        </p:spPr>
        <p:txBody>
          <a:bodyPr wrap="square" rtlCol="0" anchor="ctr"/>
          <a:lstStyle/>
          <a:p>
            <a:pPr marL="0" indent="0">
              <a:buNone/>
            </a:pPr>
            <a:r>
              <a:rPr lang="en-US" sz="1600" b="1" dirty="0">
                <a:solidFill>
                  <a:srgbClr val="0B3B36"/>
                </a:solidFill>
                <a:latin typeface="Cambria" pitchFamily="34" charset="0"/>
                <a:ea typeface="Cambria" pitchFamily="34" charset="-122"/>
                <a:cs typeface="Cambria" pitchFamily="34" charset="-120"/>
              </a:rPr>
              <a:t>We're the ones you call</a:t>
            </a:r>
            <a:endParaRPr lang="en-US" sz="1600" dirty="0"/>
          </a:p>
        </p:txBody>
      </p:sp>
      <p:sp>
        <p:nvSpPr>
          <p:cNvPr id="20" name="Text 17"/>
          <p:cNvSpPr/>
          <p:nvPr/>
        </p:nvSpPr>
        <p:spPr>
          <a:xfrm>
            <a:off x="8412480" y="3611880"/>
            <a:ext cx="2834640" cy="1143000"/>
          </a:xfrm>
          <a:prstGeom prst="rect">
            <a:avLst/>
          </a:prstGeom>
          <a:noFill/>
          <a:ln/>
        </p:spPr>
        <p:txBody>
          <a:bodyPr wrap="square" rtlCol="0" anchor="ctr"/>
          <a:lstStyle/>
          <a:p>
            <a:pPr marL="0" indent="0">
              <a:lnSpc>
                <a:spcPct val="125000"/>
              </a:lnSpc>
              <a:buNone/>
            </a:pPr>
            <a:r>
              <a:rPr lang="en-US" sz="1350" dirty="0">
                <a:solidFill>
                  <a:srgbClr val="1B2B2E"/>
                </a:solidFill>
                <a:latin typeface="Calibri" pitchFamily="34" charset="0"/>
                <a:ea typeface="Calibri" pitchFamily="34" charset="-122"/>
                <a:cs typeface="Calibri" pitchFamily="34" charset="-120"/>
              </a:rPr>
              <a:t>Updates, fixes, and questions come straight to us throughout the pilot — not a help desk.</a:t>
            </a:r>
            <a:endParaRPr lang="en-US" sz="1350" dirty="0"/>
          </a:p>
        </p:txBody>
      </p:sp>
      <p:sp>
        <p:nvSpPr>
          <p:cNvPr id="21" name="Text 18"/>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22" name="Text 19"/>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Getting started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42B2B"/>
        </a:solidFill>
        <a:effectLst/>
      </p:bgPr>
    </p:bg>
    <p:spTree>
      <p:nvGrpSpPr>
        <p:cNvPr id="1" name=""/>
        <p:cNvGrpSpPr/>
        <p:nvPr/>
      </p:nvGrpSpPr>
      <p:grpSpPr>
        <a:xfrm>
          <a:off x="0" y="0"/>
          <a:ext cx="0" cy="0"/>
          <a:chOff x="0" y="0"/>
          <a:chExt cx="0" cy="0"/>
        </a:xfrm>
      </p:grpSpPr>
      <p:sp>
        <p:nvSpPr>
          <p:cNvPr id="2" name="Shape 0"/>
          <p:cNvSpPr/>
          <p:nvPr/>
        </p:nvSpPr>
        <p:spPr>
          <a:xfrm>
            <a:off x="9326880" y="-1371600"/>
            <a:ext cx="4572000" cy="4572000"/>
          </a:xfrm>
          <a:prstGeom prst="ellipse">
            <a:avLst/>
          </a:prstGeom>
          <a:solidFill>
            <a:srgbClr val="1E5A50">
              <a:alpha val="45000"/>
            </a:srgbClr>
          </a:solidFill>
          <a:ln/>
        </p:spPr>
        <p:txBody>
          <a:bodyPr/>
          <a:lstStyle/>
          <a:p>
            <a:endParaRPr lang="en-US"/>
          </a:p>
        </p:txBody>
      </p:sp>
      <p:sp>
        <p:nvSpPr>
          <p:cNvPr id="3" name="Shape 1"/>
          <p:cNvSpPr/>
          <p:nvPr/>
        </p:nvSpPr>
        <p:spPr>
          <a:xfrm>
            <a:off x="640080" y="502920"/>
            <a:ext cx="868680" cy="868680"/>
          </a:xfrm>
          <a:prstGeom prst="ellipse">
            <a:avLst/>
          </a:prstGeom>
          <a:solidFill>
            <a:srgbClr val="DBAA47"/>
          </a:solidFill>
          <a:ln/>
        </p:spPr>
        <p:txBody>
          <a:bodyPr/>
          <a:lstStyle/>
          <a:p>
            <a:endParaRPr lang="en-US"/>
          </a:p>
        </p:txBody>
      </p:sp>
      <p:pic>
        <p:nvPicPr>
          <p:cNvPr id="4" name="Image 0" descr="/home/claude/pptxgen/icons/handshake.png"/>
          <p:cNvPicPr>
            <a:picLocks noChangeAspect="1"/>
          </p:cNvPicPr>
          <p:nvPr/>
        </p:nvPicPr>
        <p:blipFill>
          <a:blip r:embed="rId3"/>
          <a:stretch>
            <a:fillRect/>
          </a:stretch>
        </p:blipFill>
        <p:spPr>
          <a:xfrm>
            <a:off x="841248" y="704088"/>
            <a:ext cx="466344" cy="466344"/>
          </a:xfrm>
          <a:prstGeom prst="rect">
            <a:avLst/>
          </a:prstGeom>
        </p:spPr>
      </p:pic>
      <p:sp>
        <p:nvSpPr>
          <p:cNvPr id="5" name="Text 2"/>
          <p:cNvSpPr/>
          <p:nvPr/>
        </p:nvSpPr>
        <p:spPr>
          <a:xfrm>
            <a:off x="1737359" y="457200"/>
            <a:ext cx="10212363" cy="54864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How and why: a win-win collaboration</a:t>
            </a:r>
            <a:endParaRPr lang="en-US" sz="3000" dirty="0"/>
          </a:p>
        </p:txBody>
      </p:sp>
      <p:sp>
        <p:nvSpPr>
          <p:cNvPr id="6" name="Text 3"/>
          <p:cNvSpPr/>
          <p:nvPr/>
        </p:nvSpPr>
        <p:spPr>
          <a:xfrm>
            <a:off x="1737360" y="1005840"/>
            <a:ext cx="8229600" cy="457200"/>
          </a:xfrm>
          <a:prstGeom prst="rect">
            <a:avLst/>
          </a:prstGeom>
          <a:noFill/>
          <a:ln/>
        </p:spPr>
        <p:txBody>
          <a:bodyPr wrap="square" rtlCol="0" anchor="ctr"/>
          <a:lstStyle/>
          <a:p>
            <a:pPr marL="0" indent="0">
              <a:buNone/>
            </a:pPr>
            <a:r>
              <a:rPr lang="en-US" sz="1600" i="1" dirty="0">
                <a:solidFill>
                  <a:srgbClr val="F0E9CE"/>
                </a:solidFill>
                <a:latin typeface="Calibri" pitchFamily="34" charset="0"/>
                <a:ea typeface="Calibri" pitchFamily="34" charset="-122"/>
                <a:cs typeface="Calibri" pitchFamily="34" charset="-120"/>
              </a:rPr>
              <a:t>A real trial, with nothing hidden.</a:t>
            </a:r>
            <a:endParaRPr lang="en-US" sz="1600" dirty="0"/>
          </a:p>
        </p:txBody>
      </p:sp>
      <p:sp>
        <p:nvSpPr>
          <p:cNvPr id="7" name="Shape 4"/>
          <p:cNvSpPr/>
          <p:nvPr/>
        </p:nvSpPr>
        <p:spPr>
          <a:xfrm>
            <a:off x="822960" y="1965960"/>
            <a:ext cx="10515600" cy="1234440"/>
          </a:xfrm>
          <a:prstGeom prst="roundRect">
            <a:avLst>
              <a:gd name="adj" fmla="val 7407"/>
            </a:avLst>
          </a:prstGeom>
          <a:solidFill>
            <a:srgbClr val="0A3A34"/>
          </a:solidFill>
          <a:ln/>
        </p:spPr>
        <p:txBody>
          <a:bodyPr/>
          <a:lstStyle/>
          <a:p>
            <a:endParaRPr lang="en-US"/>
          </a:p>
        </p:txBody>
      </p:sp>
      <p:sp>
        <p:nvSpPr>
          <p:cNvPr id="8" name="Text 5"/>
          <p:cNvSpPr/>
          <p:nvPr/>
        </p:nvSpPr>
        <p:spPr>
          <a:xfrm>
            <a:off x="1143000" y="2130552"/>
            <a:ext cx="2926080" cy="914400"/>
          </a:xfrm>
          <a:prstGeom prst="rect">
            <a:avLst/>
          </a:prstGeom>
          <a:noFill/>
          <a:ln/>
        </p:spPr>
        <p:txBody>
          <a:bodyPr wrap="square" rtlCol="0" anchor="ctr"/>
          <a:lstStyle/>
          <a:p>
            <a:pPr marL="0" indent="0">
              <a:buNone/>
            </a:pPr>
            <a:r>
              <a:rPr lang="en-US" sz="1250" b="1" kern="0" spc="100" dirty="0">
                <a:solidFill>
                  <a:srgbClr val="DBAA47"/>
                </a:solidFill>
                <a:latin typeface="Calibri" pitchFamily="34" charset="0"/>
                <a:ea typeface="Calibri" pitchFamily="34" charset="-122"/>
                <a:cs typeface="Calibri" pitchFamily="34" charset="-120"/>
              </a:rPr>
              <a:t>COST TO YOUR PRACTICE</a:t>
            </a:r>
            <a:endParaRPr lang="en-US" sz="1250" dirty="0"/>
          </a:p>
        </p:txBody>
      </p:sp>
      <p:sp>
        <p:nvSpPr>
          <p:cNvPr id="9" name="Text 6"/>
          <p:cNvSpPr/>
          <p:nvPr/>
        </p:nvSpPr>
        <p:spPr>
          <a:xfrm>
            <a:off x="3704492" y="2130552"/>
            <a:ext cx="7359748" cy="91440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No charge for the system itself — you only cover the small, fixed monthly external infrastructure cost the system runs on — Estimated $200/month for at least first 3 months till completion </a:t>
            </a:r>
            <a:br>
              <a:rPr lang="en-US" sz="1450" dirty="0">
                <a:solidFill>
                  <a:srgbClr val="FFFFFF"/>
                </a:solidFill>
                <a:latin typeface="Calibri" pitchFamily="34" charset="0"/>
                <a:ea typeface="Calibri" pitchFamily="34" charset="-122"/>
                <a:cs typeface="Calibri" pitchFamily="34" charset="-120"/>
              </a:rPr>
            </a:br>
            <a:r>
              <a:rPr lang="en-US" sz="1450" i="1" dirty="0">
                <a:solidFill>
                  <a:srgbClr val="FFFFFF"/>
                </a:solidFill>
                <a:latin typeface="Calibri" pitchFamily="34" charset="0"/>
                <a:ea typeface="Calibri" pitchFamily="34" charset="-122"/>
                <a:cs typeface="Calibri" pitchFamily="34" charset="-120"/>
              </a:rPr>
              <a:t>(see cost breakdown in next slide).</a:t>
            </a:r>
            <a:endParaRPr lang="en-US" sz="1450" i="1" dirty="0">
              <a:solidFill>
                <a:srgbClr val="FFFFFF"/>
              </a:solidFill>
            </a:endParaRPr>
          </a:p>
        </p:txBody>
      </p:sp>
      <p:sp>
        <p:nvSpPr>
          <p:cNvPr id="10" name="Shape 7"/>
          <p:cNvSpPr/>
          <p:nvPr/>
        </p:nvSpPr>
        <p:spPr>
          <a:xfrm>
            <a:off x="822960" y="3383280"/>
            <a:ext cx="10515600" cy="1234440"/>
          </a:xfrm>
          <a:prstGeom prst="roundRect">
            <a:avLst>
              <a:gd name="adj" fmla="val 7407"/>
            </a:avLst>
          </a:prstGeom>
          <a:solidFill>
            <a:srgbClr val="0A3A34"/>
          </a:solidFill>
          <a:ln/>
        </p:spPr>
        <p:txBody>
          <a:bodyPr/>
          <a:lstStyle/>
          <a:p>
            <a:endParaRPr lang="en-US"/>
          </a:p>
        </p:txBody>
      </p:sp>
      <p:sp>
        <p:nvSpPr>
          <p:cNvPr id="11" name="Text 8"/>
          <p:cNvSpPr/>
          <p:nvPr/>
        </p:nvSpPr>
        <p:spPr>
          <a:xfrm>
            <a:off x="1143000" y="3547872"/>
            <a:ext cx="2926080" cy="914400"/>
          </a:xfrm>
          <a:prstGeom prst="rect">
            <a:avLst/>
          </a:prstGeom>
          <a:noFill/>
          <a:ln/>
        </p:spPr>
        <p:txBody>
          <a:bodyPr wrap="square" rtlCol="0" anchor="ctr"/>
          <a:lstStyle/>
          <a:p>
            <a:pPr marL="0" indent="0">
              <a:buNone/>
            </a:pPr>
            <a:r>
              <a:rPr lang="en-US" sz="1250" b="1" kern="0" spc="100" dirty="0">
                <a:solidFill>
                  <a:srgbClr val="DBAA47"/>
                </a:solidFill>
                <a:latin typeface="Calibri" pitchFamily="34" charset="0"/>
                <a:ea typeface="Calibri" pitchFamily="34" charset="-122"/>
                <a:cs typeface="Calibri" pitchFamily="34" charset="-120"/>
              </a:rPr>
              <a:t>COMMITMENT</a:t>
            </a:r>
            <a:endParaRPr lang="en-US" sz="1250" dirty="0"/>
          </a:p>
        </p:txBody>
      </p:sp>
      <p:sp>
        <p:nvSpPr>
          <p:cNvPr id="12" name="Text 9"/>
          <p:cNvSpPr/>
          <p:nvPr/>
        </p:nvSpPr>
        <p:spPr>
          <a:xfrm>
            <a:off x="3704492" y="3547872"/>
            <a:ext cx="7359748" cy="91440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No long-term contract. We revisit the numbers together after about 90 days of real use — and we only continue if you're happy with the system.</a:t>
            </a:r>
            <a:endParaRPr lang="en-US" sz="1450" dirty="0"/>
          </a:p>
        </p:txBody>
      </p:sp>
      <p:sp>
        <p:nvSpPr>
          <p:cNvPr id="13" name="Shape 10"/>
          <p:cNvSpPr/>
          <p:nvPr/>
        </p:nvSpPr>
        <p:spPr>
          <a:xfrm>
            <a:off x="822960" y="4800600"/>
            <a:ext cx="10515600" cy="1234440"/>
          </a:xfrm>
          <a:prstGeom prst="roundRect">
            <a:avLst>
              <a:gd name="adj" fmla="val 7407"/>
            </a:avLst>
          </a:prstGeom>
          <a:solidFill>
            <a:srgbClr val="0A3A34"/>
          </a:solidFill>
          <a:ln/>
        </p:spPr>
        <p:txBody>
          <a:bodyPr/>
          <a:lstStyle/>
          <a:p>
            <a:endParaRPr lang="en-US"/>
          </a:p>
        </p:txBody>
      </p:sp>
      <p:sp>
        <p:nvSpPr>
          <p:cNvPr id="14" name="Text 11"/>
          <p:cNvSpPr/>
          <p:nvPr/>
        </p:nvSpPr>
        <p:spPr>
          <a:xfrm>
            <a:off x="1143000" y="4965192"/>
            <a:ext cx="2926080" cy="914400"/>
          </a:xfrm>
          <a:prstGeom prst="rect">
            <a:avLst/>
          </a:prstGeom>
          <a:noFill/>
          <a:ln/>
        </p:spPr>
        <p:txBody>
          <a:bodyPr wrap="square" rtlCol="0" anchor="ctr"/>
          <a:lstStyle/>
          <a:p>
            <a:pPr marL="0" indent="0">
              <a:buNone/>
            </a:pPr>
            <a:r>
              <a:rPr lang="en-US" sz="1250" b="1" kern="0" spc="100" dirty="0">
                <a:solidFill>
                  <a:srgbClr val="DBAA47"/>
                </a:solidFill>
                <a:latin typeface="Calibri" pitchFamily="34" charset="0"/>
                <a:ea typeface="Calibri" pitchFamily="34" charset="-122"/>
                <a:cs typeface="Calibri" pitchFamily="34" charset="-120"/>
              </a:rPr>
              <a:t>WHY WE'RE DOING THIS</a:t>
            </a:r>
            <a:endParaRPr lang="en-US" sz="1250" dirty="0"/>
          </a:p>
        </p:txBody>
      </p:sp>
      <p:sp>
        <p:nvSpPr>
          <p:cNvPr id="15" name="Text 12"/>
          <p:cNvSpPr/>
          <p:nvPr/>
        </p:nvSpPr>
        <p:spPr>
          <a:xfrm>
            <a:off x="3704492" y="4965192"/>
            <a:ext cx="7359748" cy="914400"/>
          </a:xfrm>
          <a:prstGeom prst="rect">
            <a:avLst/>
          </a:prstGeom>
          <a:noFill/>
          <a:ln/>
        </p:spPr>
        <p:txBody>
          <a:bodyPr wrap="square" rtlCol="0" anchor="ctr"/>
          <a:lstStyle/>
          <a:p>
            <a:pPr marL="0" indent="0">
              <a:lnSpc>
                <a:spcPct val="120000"/>
              </a:lnSpc>
              <a:buNone/>
            </a:pPr>
            <a:r>
              <a:rPr lang="en-US" sz="1450" dirty="0">
                <a:solidFill>
                  <a:srgbClr val="FFFFFF"/>
                </a:solidFill>
                <a:latin typeface="Calibri" pitchFamily="34" charset="0"/>
                <a:ea typeface="Calibri" pitchFamily="34" charset="-122"/>
                <a:cs typeface="Calibri" pitchFamily="34" charset="-120"/>
              </a:rPr>
              <a:t>To prove this genuinely helps a practice like yours — and to build a proven case study for other independent clinics.</a:t>
            </a:r>
            <a:endParaRPr lang="en-US" sz="1450" dirty="0">
              <a:solidFill>
                <a:srgbClr val="FFFFFF"/>
              </a:solidFill>
            </a:endParaRPr>
          </a:p>
        </p:txBody>
      </p:sp>
      <p:sp>
        <p:nvSpPr>
          <p:cNvPr id="17" name="Text 14"/>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pilot offer</a:t>
            </a:r>
            <a:endParaRPr lang="en-US" sz="900" dirty="0"/>
          </a:p>
        </p:txBody>
      </p:sp>
      <p:sp>
        <p:nvSpPr>
          <p:cNvPr id="18" name="Text 1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A89D74"/>
                </a:solidFill>
                <a:latin typeface="Calibri" pitchFamily="34" charset="0"/>
                <a:ea typeface="Calibri" pitchFamily="34" charset="-122"/>
                <a:cs typeface="Calibri" pitchFamily="34" charset="-120"/>
              </a:rPr>
              <a:t>Halo Holdings  •  Confidential — for discussion</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326880" y="-1371600"/>
            <a:ext cx="4572000" cy="4572000"/>
          </a:xfrm>
          <a:prstGeom prst="ellipse">
            <a:avLst/>
          </a:prstGeom>
          <a:solidFill>
            <a:srgbClr val="1E5A50">
              <a:alpha val="45000"/>
            </a:srgbClr>
          </a:solidFill>
          <a:ln/>
        </p:spPr>
        <p:txBody>
          <a:bodyPr/>
          <a:lstStyle/>
          <a:p>
            <a:endParaRPr lang="en-US"/>
          </a:p>
        </p:txBody>
      </p:sp>
      <p:sp>
        <p:nvSpPr>
          <p:cNvPr id="3" name="Shape 1"/>
          <p:cNvSpPr/>
          <p:nvPr/>
        </p:nvSpPr>
        <p:spPr>
          <a:xfrm>
            <a:off x="640080" y="502920"/>
            <a:ext cx="868680" cy="868680"/>
          </a:xfrm>
          <a:prstGeom prst="ellipse">
            <a:avLst/>
          </a:prstGeom>
          <a:solidFill>
            <a:srgbClr val="DBAA47"/>
          </a:solidFill>
          <a:ln/>
        </p:spPr>
        <p:txBody>
          <a:bodyPr/>
          <a:lstStyle/>
          <a:p>
            <a:endParaRPr lang="en-US"/>
          </a:p>
        </p:txBody>
      </p:sp>
      <p:pic>
        <p:nvPicPr>
          <p:cNvPr id="4" name="Image 0" descr="icon.png"/>
          <p:cNvPicPr>
            <a:picLocks noChangeAspect="1"/>
          </p:cNvPicPr>
          <p:nvPr/>
        </p:nvPicPr>
        <p:blipFill>
          <a:blip r:embed="rId3"/>
          <a:stretch>
            <a:fillRect/>
          </a:stretch>
        </p:blipFill>
        <p:spPr>
          <a:xfrm>
            <a:off x="841248" y="704088"/>
            <a:ext cx="466344" cy="466344"/>
          </a:xfrm>
          <a:prstGeom prst="rect">
            <a:avLst/>
          </a:prstGeom>
        </p:spPr>
      </p:pic>
      <p:sp>
        <p:nvSpPr>
          <p:cNvPr id="5" name="Text 2"/>
          <p:cNvSpPr/>
          <p:nvPr/>
        </p:nvSpPr>
        <p:spPr>
          <a:xfrm>
            <a:off x="1737360" y="457200"/>
            <a:ext cx="65836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What the monthly cost covers</a:t>
            </a:r>
            <a:endParaRPr lang="en-US" sz="3000" dirty="0"/>
          </a:p>
        </p:txBody>
      </p:sp>
      <p:sp>
        <p:nvSpPr>
          <p:cNvPr id="6" name="Text 3"/>
          <p:cNvSpPr/>
          <p:nvPr/>
        </p:nvSpPr>
        <p:spPr>
          <a:xfrm>
            <a:off x="1737360" y="960120"/>
            <a:ext cx="6583680" cy="457200"/>
          </a:xfrm>
          <a:prstGeom prst="rect">
            <a:avLst/>
          </a:prstGeom>
          <a:noFill/>
          <a:ln/>
        </p:spPr>
        <p:txBody>
          <a:bodyPr wrap="square" lIns="0" tIns="0" rIns="0" bIns="0" rtlCol="0" anchor="ctr"/>
          <a:lstStyle/>
          <a:p>
            <a:pPr marL="0" indent="0" algn="l">
              <a:buNone/>
            </a:pPr>
            <a:r>
              <a:rPr lang="en-US" sz="1600" i="1" dirty="0">
                <a:solidFill>
                  <a:srgbClr val="F0E9CE"/>
                </a:solidFill>
                <a:latin typeface="Calibri" pitchFamily="34" charset="0"/>
                <a:ea typeface="Calibri" pitchFamily="34" charset="-122"/>
                <a:cs typeface="Calibri" pitchFamily="34" charset="-120"/>
              </a:rPr>
              <a:t>Four services running quietly in the background.</a:t>
            </a:r>
            <a:endParaRPr lang="en-US" sz="1600" dirty="0"/>
          </a:p>
        </p:txBody>
      </p:sp>
      <p:sp>
        <p:nvSpPr>
          <p:cNvPr id="7" name="Shape 4"/>
          <p:cNvSpPr/>
          <p:nvPr/>
        </p:nvSpPr>
        <p:spPr>
          <a:xfrm>
            <a:off x="8503920" y="457200"/>
            <a:ext cx="2834640" cy="960120"/>
          </a:xfrm>
          <a:prstGeom prst="roundRect">
            <a:avLst>
              <a:gd name="adj" fmla="val 11429"/>
            </a:avLst>
          </a:prstGeom>
          <a:solidFill>
            <a:srgbClr val="DBAA47"/>
          </a:solidFill>
          <a:ln/>
        </p:spPr>
        <p:txBody>
          <a:bodyPr/>
          <a:lstStyle/>
          <a:p>
            <a:endParaRPr lang="en-US"/>
          </a:p>
        </p:txBody>
      </p:sp>
      <p:sp>
        <p:nvSpPr>
          <p:cNvPr id="8" name="Text 5"/>
          <p:cNvSpPr/>
          <p:nvPr/>
        </p:nvSpPr>
        <p:spPr>
          <a:xfrm>
            <a:off x="8503920" y="566928"/>
            <a:ext cx="2834640" cy="274320"/>
          </a:xfrm>
          <a:prstGeom prst="rect">
            <a:avLst/>
          </a:prstGeom>
          <a:noFill/>
          <a:ln/>
        </p:spPr>
        <p:txBody>
          <a:bodyPr wrap="square" lIns="0" tIns="0" rIns="0" bIns="0" rtlCol="0" anchor="ctr"/>
          <a:lstStyle/>
          <a:p>
            <a:pPr marL="0" indent="0" algn="ctr">
              <a:buNone/>
            </a:pPr>
            <a:r>
              <a:rPr lang="en-US" sz="1100" b="1" kern="0" spc="100" dirty="0">
                <a:solidFill>
                  <a:srgbClr val="0B3B36"/>
                </a:solidFill>
                <a:latin typeface="Calibri" pitchFamily="34" charset="0"/>
                <a:ea typeface="Calibri" pitchFamily="34" charset="-122"/>
                <a:cs typeface="Calibri" pitchFamily="34" charset="-120"/>
              </a:rPr>
              <a:t>ESTIMATED TOTAL</a:t>
            </a:r>
            <a:endParaRPr lang="en-US" sz="1100" dirty="0"/>
          </a:p>
        </p:txBody>
      </p:sp>
      <p:sp>
        <p:nvSpPr>
          <p:cNvPr id="9" name="Text 6"/>
          <p:cNvSpPr/>
          <p:nvPr/>
        </p:nvSpPr>
        <p:spPr>
          <a:xfrm>
            <a:off x="8503920" y="841248"/>
            <a:ext cx="2834640" cy="457200"/>
          </a:xfrm>
          <a:prstGeom prst="rect">
            <a:avLst/>
          </a:prstGeom>
          <a:noFill/>
          <a:ln/>
        </p:spPr>
        <p:txBody>
          <a:bodyPr wrap="square" lIns="0" tIns="0" rIns="0" bIns="0" rtlCol="0" anchor="ctr"/>
          <a:lstStyle/>
          <a:p>
            <a:pPr marL="0" indent="0" algn="ctr">
              <a:buNone/>
            </a:pPr>
            <a:r>
              <a:rPr lang="en-US" sz="2200" b="1" dirty="0">
                <a:solidFill>
                  <a:srgbClr val="0B3B36"/>
                </a:solidFill>
                <a:latin typeface="Cambria" pitchFamily="34" charset="0"/>
                <a:ea typeface="Cambria" pitchFamily="34" charset="-122"/>
                <a:cs typeface="Cambria" pitchFamily="34" charset="-120"/>
              </a:rPr>
              <a:t>$150–215/mo</a:t>
            </a:r>
            <a:endParaRPr lang="en-US" sz="2200" dirty="0"/>
          </a:p>
        </p:txBody>
      </p:sp>
      <p:sp>
        <p:nvSpPr>
          <p:cNvPr id="10" name="Shape 7"/>
          <p:cNvSpPr/>
          <p:nvPr/>
        </p:nvSpPr>
        <p:spPr>
          <a:xfrm>
            <a:off x="822960" y="1783080"/>
            <a:ext cx="10515600" cy="868680"/>
          </a:xfrm>
          <a:prstGeom prst="roundRect">
            <a:avLst>
              <a:gd name="adj" fmla="val 9474"/>
            </a:avLst>
          </a:prstGeom>
          <a:solidFill>
            <a:srgbClr val="0A3A34"/>
          </a:solidFill>
          <a:ln/>
        </p:spPr>
        <p:txBody>
          <a:bodyPr/>
          <a:lstStyle/>
          <a:p>
            <a:endParaRPr lang="en-US"/>
          </a:p>
        </p:txBody>
      </p:sp>
      <p:sp>
        <p:nvSpPr>
          <p:cNvPr id="11" name="Text 8"/>
          <p:cNvSpPr/>
          <p:nvPr/>
        </p:nvSpPr>
        <p:spPr>
          <a:xfrm>
            <a:off x="1143000" y="1892808"/>
            <a:ext cx="2926080" cy="274320"/>
          </a:xfrm>
          <a:prstGeom prst="rect">
            <a:avLst/>
          </a:prstGeom>
          <a:noFill/>
          <a:ln/>
        </p:spPr>
        <p:txBody>
          <a:bodyPr wrap="square" lIns="0" tIns="0" rIns="0" bIns="0" rtlCol="0" anchor="ctr"/>
          <a:lstStyle/>
          <a:p>
            <a:pPr marL="0" indent="0" algn="l">
              <a:buNone/>
            </a:pPr>
            <a:r>
              <a:rPr lang="en-US" sz="1200" b="1" kern="0" spc="100" dirty="0">
                <a:solidFill>
                  <a:srgbClr val="DBAA47"/>
                </a:solidFill>
                <a:latin typeface="Calibri" pitchFamily="34" charset="0"/>
                <a:ea typeface="Calibri" pitchFamily="34" charset="-122"/>
                <a:cs typeface="Calibri" pitchFamily="34" charset="-120"/>
              </a:rPr>
              <a:t>MESSAGING &amp; REMINDERS</a:t>
            </a:r>
            <a:endParaRPr lang="en-US" sz="1200" dirty="0"/>
          </a:p>
        </p:txBody>
      </p:sp>
      <p:sp>
        <p:nvSpPr>
          <p:cNvPr id="12" name="Text 9"/>
          <p:cNvSpPr/>
          <p:nvPr/>
        </p:nvSpPr>
        <p:spPr>
          <a:xfrm>
            <a:off x="1143000" y="2185416"/>
            <a:ext cx="292608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$20–45/mo</a:t>
            </a:r>
            <a:endParaRPr lang="en-US" sz="1800" dirty="0"/>
          </a:p>
        </p:txBody>
      </p:sp>
      <p:sp>
        <p:nvSpPr>
          <p:cNvPr id="13" name="Text 10"/>
          <p:cNvSpPr/>
          <p:nvPr/>
        </p:nvSpPr>
        <p:spPr>
          <a:xfrm>
            <a:off x="4114800" y="1783080"/>
            <a:ext cx="6903720" cy="868680"/>
          </a:xfrm>
          <a:prstGeom prst="rect">
            <a:avLst/>
          </a:prstGeom>
          <a:noFill/>
          <a:ln/>
        </p:spPr>
        <p:txBody>
          <a:bodyPr wrap="square" lIns="0" tIns="0" rIns="0" bIns="0" rtlCol="0" anchor="ctr"/>
          <a:lstStyle/>
          <a:p>
            <a:pPr marL="0" indent="0" algn="l">
              <a:lnSpc>
                <a:spcPct val="115000"/>
              </a:lnSpc>
              <a:buNone/>
            </a:pPr>
            <a:r>
              <a:rPr lang="en-US" sz="1300" dirty="0">
                <a:solidFill>
                  <a:srgbClr val="FFFFFF"/>
                </a:solidFill>
                <a:latin typeface="Calibri" pitchFamily="34" charset="0"/>
                <a:ea typeface="Calibri" pitchFamily="34" charset="-122"/>
                <a:cs typeface="Calibri" pitchFamily="34" charset="-120"/>
              </a:rPr>
              <a:t>Text reminders, confirmations, and outreach for preventive-care visits.</a:t>
            </a:r>
            <a:endParaRPr lang="en-US" sz="1300" dirty="0"/>
          </a:p>
        </p:txBody>
      </p:sp>
      <p:sp>
        <p:nvSpPr>
          <p:cNvPr id="14" name="Shape 11"/>
          <p:cNvSpPr/>
          <p:nvPr/>
        </p:nvSpPr>
        <p:spPr>
          <a:xfrm>
            <a:off x="822960" y="2788920"/>
            <a:ext cx="10515600" cy="868680"/>
          </a:xfrm>
          <a:prstGeom prst="roundRect">
            <a:avLst>
              <a:gd name="adj" fmla="val 9474"/>
            </a:avLst>
          </a:prstGeom>
          <a:solidFill>
            <a:srgbClr val="0A3A34"/>
          </a:solidFill>
          <a:ln/>
        </p:spPr>
        <p:txBody>
          <a:bodyPr/>
          <a:lstStyle/>
          <a:p>
            <a:endParaRPr lang="en-US"/>
          </a:p>
        </p:txBody>
      </p:sp>
      <p:sp>
        <p:nvSpPr>
          <p:cNvPr id="15" name="Text 12"/>
          <p:cNvSpPr/>
          <p:nvPr/>
        </p:nvSpPr>
        <p:spPr>
          <a:xfrm>
            <a:off x="1143000" y="2898648"/>
            <a:ext cx="2926080" cy="274320"/>
          </a:xfrm>
          <a:prstGeom prst="rect">
            <a:avLst/>
          </a:prstGeom>
          <a:noFill/>
          <a:ln/>
        </p:spPr>
        <p:txBody>
          <a:bodyPr wrap="square" lIns="0" tIns="0" rIns="0" bIns="0" rtlCol="0" anchor="ctr"/>
          <a:lstStyle/>
          <a:p>
            <a:pPr marL="0" indent="0" algn="l">
              <a:buNone/>
            </a:pPr>
            <a:r>
              <a:rPr lang="en-US" sz="1200" b="1" kern="0" spc="100" dirty="0">
                <a:solidFill>
                  <a:srgbClr val="DBAA47"/>
                </a:solidFill>
                <a:latin typeface="Calibri" pitchFamily="34" charset="0"/>
                <a:ea typeface="Calibri" pitchFamily="34" charset="-122"/>
                <a:cs typeface="Calibri" pitchFamily="34" charset="-120"/>
              </a:rPr>
              <a:t>INSURANCE VERIFICATION</a:t>
            </a:r>
            <a:endParaRPr lang="en-US" sz="1200" dirty="0"/>
          </a:p>
        </p:txBody>
      </p:sp>
      <p:sp>
        <p:nvSpPr>
          <p:cNvPr id="16" name="Text 13"/>
          <p:cNvSpPr/>
          <p:nvPr/>
        </p:nvSpPr>
        <p:spPr>
          <a:xfrm>
            <a:off x="1143000" y="3191256"/>
            <a:ext cx="292608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$80–100/mo</a:t>
            </a:r>
            <a:endParaRPr lang="en-US" sz="1800" dirty="0"/>
          </a:p>
        </p:txBody>
      </p:sp>
      <p:sp>
        <p:nvSpPr>
          <p:cNvPr id="17" name="Text 14"/>
          <p:cNvSpPr/>
          <p:nvPr/>
        </p:nvSpPr>
        <p:spPr>
          <a:xfrm>
            <a:off x="4114800" y="2788920"/>
            <a:ext cx="6903720" cy="868680"/>
          </a:xfrm>
          <a:prstGeom prst="rect">
            <a:avLst/>
          </a:prstGeom>
          <a:noFill/>
          <a:ln/>
        </p:spPr>
        <p:txBody>
          <a:bodyPr wrap="square" lIns="0" tIns="0" rIns="0" bIns="0" rtlCol="0" anchor="ctr"/>
          <a:lstStyle/>
          <a:p>
            <a:pPr marL="0" indent="0" algn="l">
              <a:lnSpc>
                <a:spcPct val="115000"/>
              </a:lnSpc>
              <a:buNone/>
            </a:pPr>
            <a:r>
              <a:rPr lang="en-US" sz="1300" dirty="0">
                <a:solidFill>
                  <a:srgbClr val="FFFFFF"/>
                </a:solidFill>
                <a:latin typeface="Calibri" pitchFamily="34" charset="0"/>
                <a:ea typeface="Calibri" pitchFamily="34" charset="-122"/>
                <a:cs typeface="Calibri" pitchFamily="34" charset="-120"/>
              </a:rPr>
              <a:t>Automatic eligibility checks with your top insurance plans before each visit.</a:t>
            </a:r>
            <a:endParaRPr lang="en-US" sz="1300" dirty="0"/>
          </a:p>
        </p:txBody>
      </p:sp>
      <p:sp>
        <p:nvSpPr>
          <p:cNvPr id="18" name="Shape 15"/>
          <p:cNvSpPr/>
          <p:nvPr/>
        </p:nvSpPr>
        <p:spPr>
          <a:xfrm>
            <a:off x="822960" y="3794760"/>
            <a:ext cx="10515600" cy="868680"/>
          </a:xfrm>
          <a:prstGeom prst="roundRect">
            <a:avLst>
              <a:gd name="adj" fmla="val 9474"/>
            </a:avLst>
          </a:prstGeom>
          <a:solidFill>
            <a:srgbClr val="0A3A34"/>
          </a:solidFill>
          <a:ln/>
        </p:spPr>
        <p:txBody>
          <a:bodyPr/>
          <a:lstStyle/>
          <a:p>
            <a:endParaRPr lang="en-US"/>
          </a:p>
        </p:txBody>
      </p:sp>
      <p:sp>
        <p:nvSpPr>
          <p:cNvPr id="19" name="Text 16"/>
          <p:cNvSpPr/>
          <p:nvPr/>
        </p:nvSpPr>
        <p:spPr>
          <a:xfrm>
            <a:off x="1143000" y="3904488"/>
            <a:ext cx="2926080" cy="274320"/>
          </a:xfrm>
          <a:prstGeom prst="rect">
            <a:avLst/>
          </a:prstGeom>
          <a:noFill/>
          <a:ln/>
        </p:spPr>
        <p:txBody>
          <a:bodyPr wrap="square" lIns="0" tIns="0" rIns="0" bIns="0" rtlCol="0" anchor="ctr"/>
          <a:lstStyle/>
          <a:p>
            <a:pPr marL="0" indent="0" algn="l">
              <a:buNone/>
            </a:pPr>
            <a:r>
              <a:rPr lang="en-US" sz="1200" b="1" kern="0" spc="100" dirty="0">
                <a:solidFill>
                  <a:srgbClr val="DBAA47"/>
                </a:solidFill>
                <a:latin typeface="Calibri" pitchFamily="34" charset="0"/>
                <a:ea typeface="Calibri" pitchFamily="34" charset="-122"/>
                <a:cs typeface="Calibri" pitchFamily="34" charset="-120"/>
              </a:rPr>
              <a:t>FAX HANDLING</a:t>
            </a:r>
            <a:endParaRPr lang="en-US" sz="1200" dirty="0"/>
          </a:p>
        </p:txBody>
      </p:sp>
      <p:sp>
        <p:nvSpPr>
          <p:cNvPr id="20" name="Text 17"/>
          <p:cNvSpPr/>
          <p:nvPr/>
        </p:nvSpPr>
        <p:spPr>
          <a:xfrm>
            <a:off x="1143000" y="4197096"/>
            <a:ext cx="292608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$15–40/mo</a:t>
            </a:r>
            <a:endParaRPr lang="en-US" sz="1800" dirty="0"/>
          </a:p>
        </p:txBody>
      </p:sp>
      <p:sp>
        <p:nvSpPr>
          <p:cNvPr id="21" name="Text 18"/>
          <p:cNvSpPr/>
          <p:nvPr/>
        </p:nvSpPr>
        <p:spPr>
          <a:xfrm>
            <a:off x="4114800" y="3794760"/>
            <a:ext cx="6903720" cy="868680"/>
          </a:xfrm>
          <a:prstGeom prst="rect">
            <a:avLst/>
          </a:prstGeom>
          <a:noFill/>
          <a:ln/>
        </p:spPr>
        <p:txBody>
          <a:bodyPr wrap="square" lIns="0" tIns="0" rIns="0" bIns="0" rtlCol="0" anchor="ctr"/>
          <a:lstStyle/>
          <a:p>
            <a:pPr marL="0" indent="0" algn="l">
              <a:lnSpc>
                <a:spcPct val="115000"/>
              </a:lnSpc>
              <a:buNone/>
            </a:pPr>
            <a:r>
              <a:rPr lang="en-US" sz="1300" dirty="0">
                <a:solidFill>
                  <a:srgbClr val="FFFFFF"/>
                </a:solidFill>
                <a:latin typeface="Calibri" pitchFamily="34" charset="0"/>
                <a:ea typeface="Calibri" pitchFamily="34" charset="-122"/>
                <a:cs typeface="Calibri" pitchFamily="34" charset="-120"/>
              </a:rPr>
              <a:t>Secure routing for records coming in and going out of your office.</a:t>
            </a:r>
            <a:endParaRPr lang="en-US" sz="1300" dirty="0"/>
          </a:p>
        </p:txBody>
      </p:sp>
      <p:sp>
        <p:nvSpPr>
          <p:cNvPr id="22" name="Shape 19"/>
          <p:cNvSpPr/>
          <p:nvPr/>
        </p:nvSpPr>
        <p:spPr>
          <a:xfrm>
            <a:off x="822960" y="4800600"/>
            <a:ext cx="10515600" cy="868680"/>
          </a:xfrm>
          <a:prstGeom prst="roundRect">
            <a:avLst>
              <a:gd name="adj" fmla="val 9474"/>
            </a:avLst>
          </a:prstGeom>
          <a:solidFill>
            <a:srgbClr val="0A3A34"/>
          </a:solidFill>
          <a:ln/>
        </p:spPr>
        <p:txBody>
          <a:bodyPr/>
          <a:lstStyle/>
          <a:p>
            <a:endParaRPr lang="en-US"/>
          </a:p>
        </p:txBody>
      </p:sp>
      <p:sp>
        <p:nvSpPr>
          <p:cNvPr id="23" name="Text 20"/>
          <p:cNvSpPr/>
          <p:nvPr/>
        </p:nvSpPr>
        <p:spPr>
          <a:xfrm>
            <a:off x="1143000" y="4910328"/>
            <a:ext cx="2926080" cy="274320"/>
          </a:xfrm>
          <a:prstGeom prst="rect">
            <a:avLst/>
          </a:prstGeom>
          <a:noFill/>
          <a:ln/>
        </p:spPr>
        <p:txBody>
          <a:bodyPr wrap="square" lIns="0" tIns="0" rIns="0" bIns="0" rtlCol="0" anchor="ctr"/>
          <a:lstStyle/>
          <a:p>
            <a:pPr marL="0" indent="0" algn="l">
              <a:buNone/>
            </a:pPr>
            <a:r>
              <a:rPr lang="en-US" sz="1200" b="1" kern="0" spc="100" dirty="0">
                <a:solidFill>
                  <a:srgbClr val="DBAA47"/>
                </a:solidFill>
                <a:latin typeface="Calibri" pitchFamily="34" charset="0"/>
                <a:ea typeface="Calibri" pitchFamily="34" charset="-122"/>
                <a:cs typeface="Calibri" pitchFamily="34" charset="-120"/>
              </a:rPr>
              <a:t>SYSTEM HOSTING</a:t>
            </a:r>
            <a:endParaRPr lang="en-US" sz="1200" dirty="0"/>
          </a:p>
        </p:txBody>
      </p:sp>
      <p:sp>
        <p:nvSpPr>
          <p:cNvPr id="24" name="Text 21"/>
          <p:cNvSpPr/>
          <p:nvPr/>
        </p:nvSpPr>
        <p:spPr>
          <a:xfrm>
            <a:off x="1143000" y="5202936"/>
            <a:ext cx="2926080" cy="365760"/>
          </a:xfrm>
          <a:prstGeom prst="rect">
            <a:avLst/>
          </a:prstGeom>
          <a:noFill/>
          <a:ln/>
        </p:spPr>
        <p:txBody>
          <a:bodyPr wrap="square" lIns="0" tIns="0" rIns="0" bIns="0" rtlCol="0" anchor="ctr"/>
          <a:lstStyle/>
          <a:p>
            <a:pPr marL="0" indent="0" algn="l">
              <a:buNone/>
            </a:pPr>
            <a:r>
              <a:rPr lang="en-US" sz="1800" b="1" dirty="0">
                <a:solidFill>
                  <a:srgbClr val="FFFFFF"/>
                </a:solidFill>
                <a:latin typeface="Cambria" pitchFamily="34" charset="0"/>
                <a:ea typeface="Cambria" pitchFamily="34" charset="-122"/>
                <a:cs typeface="Cambria" pitchFamily="34" charset="-120"/>
              </a:rPr>
              <a:t>$30/mo</a:t>
            </a:r>
            <a:endParaRPr lang="en-US" sz="1800" dirty="0"/>
          </a:p>
        </p:txBody>
      </p:sp>
      <p:sp>
        <p:nvSpPr>
          <p:cNvPr id="25" name="Text 22"/>
          <p:cNvSpPr/>
          <p:nvPr/>
        </p:nvSpPr>
        <p:spPr>
          <a:xfrm>
            <a:off x="4114800" y="4800600"/>
            <a:ext cx="6903720" cy="868680"/>
          </a:xfrm>
          <a:prstGeom prst="rect">
            <a:avLst/>
          </a:prstGeom>
          <a:noFill/>
          <a:ln/>
        </p:spPr>
        <p:txBody>
          <a:bodyPr wrap="square" lIns="0" tIns="0" rIns="0" bIns="0" rtlCol="0" anchor="ctr"/>
          <a:lstStyle/>
          <a:p>
            <a:pPr marL="0" indent="0" algn="l">
              <a:lnSpc>
                <a:spcPct val="115000"/>
              </a:lnSpc>
              <a:buNone/>
            </a:pPr>
            <a:r>
              <a:rPr lang="en-US" sz="1300" dirty="0">
                <a:solidFill>
                  <a:srgbClr val="FFFFFF"/>
                </a:solidFill>
                <a:latin typeface="Calibri" pitchFamily="34" charset="0"/>
                <a:ea typeface="Calibri" pitchFamily="34" charset="-122"/>
                <a:cs typeface="Calibri" pitchFamily="34" charset="-120"/>
              </a:rPr>
              <a:t>The secure, compliant infrastructure everything runs on behind the scenes.</a:t>
            </a:r>
            <a:endParaRPr lang="en-US" sz="1300" dirty="0"/>
          </a:p>
        </p:txBody>
      </p:sp>
      <p:sp>
        <p:nvSpPr>
          <p:cNvPr id="26" name="Text 23"/>
          <p:cNvSpPr/>
          <p:nvPr/>
        </p:nvSpPr>
        <p:spPr>
          <a:xfrm>
            <a:off x="822960" y="5879592"/>
            <a:ext cx="10908792" cy="457200"/>
          </a:xfrm>
          <a:prstGeom prst="rect">
            <a:avLst/>
          </a:prstGeom>
          <a:noFill/>
          <a:ln/>
        </p:spPr>
        <p:txBody>
          <a:bodyPr wrap="square" lIns="0" tIns="0" rIns="0" bIns="0" rtlCol="0" anchor="t"/>
          <a:lstStyle/>
          <a:p>
            <a:pPr marL="0" indent="0" algn="l">
              <a:lnSpc>
                <a:spcPct val="115000"/>
              </a:lnSpc>
              <a:buNone/>
            </a:pPr>
            <a:r>
              <a:rPr lang="en-US" sz="1200" i="1" dirty="0">
                <a:solidFill>
                  <a:srgbClr val="FFCC66"/>
                </a:solidFill>
                <a:latin typeface="Calibri" pitchFamily="34" charset="0"/>
                <a:ea typeface="Calibri" pitchFamily="34" charset="-122"/>
                <a:cs typeface="Calibri" pitchFamily="34" charset="-120"/>
              </a:rPr>
              <a:t>A working estimate, confirmed against real usage during the first 90 days. Any one-time setup costs are ours to cover — this is only what keeps the system running each month.</a:t>
            </a:r>
            <a:endParaRPr lang="en-US" sz="1200" dirty="0">
              <a:solidFill>
                <a:srgbClr val="FFCC66"/>
              </a:solidFill>
            </a:endParaRPr>
          </a:p>
        </p:txBody>
      </p:sp>
      <p:sp>
        <p:nvSpPr>
          <p:cNvPr id="27" name="Text 24"/>
          <p:cNvSpPr/>
          <p:nvPr/>
        </p:nvSpPr>
        <p:spPr>
          <a:xfrm>
            <a:off x="457200" y="6473952"/>
            <a:ext cx="7315200" cy="274320"/>
          </a:xfrm>
          <a:prstGeom prst="rect">
            <a:avLst/>
          </a:prstGeom>
          <a:noFill/>
          <a:ln/>
        </p:spPr>
        <p:txBody>
          <a:bodyPr wrap="square" lIns="0" tIns="0" rIns="0" bIns="0" rtlCol="0" anchor="ctr"/>
          <a:lstStyle/>
          <a:p>
            <a:pPr marL="0" indent="0" algn="l">
              <a:buNone/>
            </a:pPr>
            <a:r>
              <a:rPr lang="en-US" sz="900" dirty="0">
                <a:solidFill>
                  <a:srgbClr val="A89D74"/>
                </a:solidFill>
                <a:latin typeface="Calibri" pitchFamily="34" charset="0"/>
                <a:ea typeface="Calibri" pitchFamily="34" charset="-122"/>
                <a:cs typeface="Calibri" pitchFamily="34" charset="-120"/>
              </a:rPr>
              <a:t>Halo Holdings  •  Confidential — for discussion</a:t>
            </a:r>
            <a:endParaRPr lang="en-US" sz="900" dirty="0"/>
          </a:p>
        </p:txBody>
      </p:sp>
      <p:sp>
        <p:nvSpPr>
          <p:cNvPr id="28" name="Text 25"/>
          <p:cNvSpPr/>
          <p:nvPr/>
        </p:nvSpPr>
        <p:spPr>
          <a:xfrm>
            <a:off x="8988552" y="6473952"/>
            <a:ext cx="2743200" cy="274320"/>
          </a:xfrm>
          <a:prstGeom prst="rect">
            <a:avLst/>
          </a:prstGeom>
          <a:noFill/>
          <a:ln/>
        </p:spPr>
        <p:txBody>
          <a:bodyPr wrap="square" lIns="0" tIns="0" rIns="0" bIns="0"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The cost, in detail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0136" y="1188720"/>
            <a:ext cx="868680" cy="868680"/>
          </a:xfrm>
          <a:prstGeom prst="ellipse">
            <a:avLst/>
          </a:prstGeom>
          <a:solidFill>
            <a:srgbClr val="042B2B"/>
          </a:solidFill>
          <a:ln/>
        </p:spPr>
        <p:txBody>
          <a:bodyPr/>
          <a:lstStyle/>
          <a:p>
            <a:endParaRPr lang="en-US"/>
          </a:p>
        </p:txBody>
      </p:sp>
      <p:pic>
        <p:nvPicPr>
          <p:cNvPr id="3" name="Image 0" descr="/home/claude/pptxgen/icons/smile.png"/>
          <p:cNvPicPr>
            <a:picLocks noChangeAspect="1"/>
          </p:cNvPicPr>
          <p:nvPr/>
        </p:nvPicPr>
        <p:blipFill>
          <a:blip r:embed="rId3"/>
          <a:stretch>
            <a:fillRect/>
          </a:stretch>
        </p:blipFill>
        <p:spPr>
          <a:xfrm>
            <a:off x="5861304" y="1389888"/>
            <a:ext cx="466344" cy="466344"/>
          </a:xfrm>
          <a:prstGeom prst="rect">
            <a:avLst/>
          </a:prstGeom>
        </p:spPr>
      </p:pic>
      <p:sp>
        <p:nvSpPr>
          <p:cNvPr id="4" name="Text 1"/>
          <p:cNvSpPr/>
          <p:nvPr/>
        </p:nvSpPr>
        <p:spPr>
          <a:xfrm>
            <a:off x="914400" y="2286000"/>
            <a:ext cx="10360152" cy="822960"/>
          </a:xfrm>
          <a:prstGeom prst="rect">
            <a:avLst/>
          </a:prstGeom>
          <a:noFill/>
          <a:ln/>
        </p:spPr>
        <p:txBody>
          <a:bodyPr wrap="square" rtlCol="0" anchor="ctr"/>
          <a:lstStyle/>
          <a:p>
            <a:pPr marL="0" indent="0" algn="ctr">
              <a:buNone/>
            </a:pPr>
            <a:r>
              <a:rPr lang="en-US" sz="3200" b="1" dirty="0">
                <a:solidFill>
                  <a:srgbClr val="1B2B2E"/>
                </a:solidFill>
                <a:latin typeface="Cambria" pitchFamily="34" charset="0"/>
                <a:ea typeface="Cambria" pitchFamily="34" charset="-122"/>
                <a:cs typeface="Cambria" pitchFamily="34" charset="-120"/>
              </a:rPr>
              <a:t>Let's give your team more time for patients.</a:t>
            </a:r>
            <a:endParaRPr lang="en-US" sz="3200" dirty="0"/>
          </a:p>
        </p:txBody>
      </p:sp>
      <p:sp>
        <p:nvSpPr>
          <p:cNvPr id="5" name="Text 2"/>
          <p:cNvSpPr/>
          <p:nvPr/>
        </p:nvSpPr>
        <p:spPr>
          <a:xfrm>
            <a:off x="1645920" y="3200400"/>
            <a:ext cx="8897112" cy="640080"/>
          </a:xfrm>
          <a:prstGeom prst="rect">
            <a:avLst/>
          </a:prstGeom>
          <a:noFill/>
          <a:ln/>
        </p:spPr>
        <p:txBody>
          <a:bodyPr wrap="square" rtlCol="0" anchor="ctr"/>
          <a:lstStyle/>
          <a:p>
            <a:pPr marL="0" indent="0" algn="ctr">
              <a:buNone/>
            </a:pPr>
            <a:r>
              <a:rPr lang="en-US" sz="1600" dirty="0">
                <a:solidFill>
                  <a:srgbClr val="6E6857"/>
                </a:solidFill>
                <a:latin typeface="Calibri" pitchFamily="34" charset="0"/>
                <a:ea typeface="Calibri" pitchFamily="34" charset="-122"/>
                <a:cs typeface="Calibri" pitchFamily="34" charset="-120"/>
              </a:rPr>
              <a:t>Next step: we pick one of these — reminders, insurance checks, fax handling, or preventive care outreach — and I'll set it up around your clinic from there.</a:t>
            </a:r>
            <a:endParaRPr lang="en-US" sz="1600" dirty="0"/>
          </a:p>
        </p:txBody>
      </p:sp>
      <p:sp>
        <p:nvSpPr>
          <p:cNvPr id="6" name="Shape 3"/>
          <p:cNvSpPr/>
          <p:nvPr/>
        </p:nvSpPr>
        <p:spPr>
          <a:xfrm>
            <a:off x="4114800" y="4206240"/>
            <a:ext cx="3959352" cy="0"/>
          </a:xfrm>
          <a:prstGeom prst="line">
            <a:avLst/>
          </a:prstGeom>
          <a:noFill/>
          <a:ln w="19050">
            <a:solidFill>
              <a:srgbClr val="E6DDBE"/>
            </a:solidFill>
            <a:prstDash val="solid"/>
          </a:ln>
        </p:spPr>
        <p:txBody>
          <a:bodyPr/>
          <a:lstStyle/>
          <a:p>
            <a:endParaRPr lang="en-US"/>
          </a:p>
        </p:txBody>
      </p:sp>
      <p:sp>
        <p:nvSpPr>
          <p:cNvPr id="7" name="Text 4"/>
          <p:cNvSpPr/>
          <p:nvPr/>
        </p:nvSpPr>
        <p:spPr>
          <a:xfrm>
            <a:off x="1645920" y="4434840"/>
            <a:ext cx="8897112" cy="457200"/>
          </a:xfrm>
          <a:prstGeom prst="rect">
            <a:avLst/>
          </a:prstGeom>
          <a:noFill/>
          <a:ln/>
        </p:spPr>
        <p:txBody>
          <a:bodyPr wrap="square" rtlCol="0" anchor="ctr"/>
          <a:lstStyle/>
          <a:p>
            <a:pPr marL="0" indent="0" algn="ctr">
              <a:buNone/>
            </a:pPr>
            <a:r>
              <a:rPr lang="en-US" sz="1400" i="1" dirty="0">
                <a:solidFill>
                  <a:srgbClr val="6E6857"/>
                </a:solidFill>
                <a:latin typeface="Calibri" pitchFamily="34" charset="0"/>
                <a:ea typeface="Calibri" pitchFamily="34" charset="-122"/>
                <a:cs typeface="Calibri" pitchFamily="34" charset="-120"/>
              </a:rPr>
              <a:t>Questions welcome, any time.</a:t>
            </a:r>
            <a:endParaRPr lang="en-US" sz="1400" dirty="0"/>
          </a:p>
        </p:txBody>
      </p:sp>
      <p:sp>
        <p:nvSpPr>
          <p:cNvPr id="8" name="Text 5"/>
          <p:cNvSpPr/>
          <p:nvPr/>
        </p:nvSpPr>
        <p:spPr>
          <a:xfrm>
            <a:off x="457200" y="6473952"/>
            <a:ext cx="7315200" cy="274320"/>
          </a:xfrm>
          <a:prstGeom prst="rect">
            <a:avLst/>
          </a:prstGeom>
          <a:noFill/>
          <a:ln/>
        </p:spPr>
        <p:txBody>
          <a:bodyPr wrap="square" rtlCol="0" anchor="ctr"/>
          <a:lstStyle/>
          <a:p>
            <a:pPr marL="0" indent="0">
              <a:buNone/>
            </a:pPr>
            <a:r>
              <a:rPr lang="en-US" sz="900" dirty="0">
                <a:solidFill>
                  <a:srgbClr val="6E6857"/>
                </a:solidFill>
                <a:latin typeface="Calibri" pitchFamily="34" charset="0"/>
                <a:ea typeface="Calibri" pitchFamily="34" charset="-122"/>
                <a:cs typeface="Calibri" pitchFamily="34" charset="-120"/>
              </a:rPr>
              <a:t>Halo Holdings  •  Confidential — for discussion</a:t>
            </a:r>
            <a:endParaRPr lang="en-US" sz="900" dirty="0"/>
          </a:p>
        </p:txBody>
      </p:sp>
      <p:sp>
        <p:nvSpPr>
          <p:cNvPr id="9" name="Text 6"/>
          <p:cNvSpPr/>
          <p:nvPr/>
        </p:nvSpPr>
        <p:spPr>
          <a:xfrm>
            <a:off x="8988552" y="6473952"/>
            <a:ext cx="2743200" cy="274320"/>
          </a:xfrm>
          <a:prstGeom prst="rect">
            <a:avLst/>
          </a:prstGeom>
          <a:noFill/>
          <a:ln/>
        </p:spPr>
        <p:txBody>
          <a:bodyPr wrap="square" rtlCol="0" anchor="ctr"/>
          <a:lstStyle/>
          <a:p>
            <a:pPr marL="0" indent="0" algn="r">
              <a:buNone/>
            </a:pPr>
            <a:r>
              <a:rPr lang="en-US" sz="900" dirty="0">
                <a:solidFill>
                  <a:srgbClr val="6E6857"/>
                </a:solidFill>
                <a:latin typeface="Calibri" pitchFamily="34" charset="0"/>
                <a:ea typeface="Calibri" pitchFamily="34" charset="-122"/>
                <a:cs typeface="Calibri" pitchFamily="34" charset="-120"/>
              </a:rPr>
              <a:t>Thank you</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1556</Words>
  <Application>Microsoft Office PowerPoint</Application>
  <PresentationFormat>Widescreen</PresentationFormat>
  <Paragraphs>178</Paragraphs>
  <Slides>13</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RACHEL GUO</cp:lastModifiedBy>
  <cp:revision>1</cp:revision>
  <dcterms:created xsi:type="dcterms:W3CDTF">2026-07-29T02:03:28Z</dcterms:created>
  <dcterms:modified xsi:type="dcterms:W3CDTF">2026-07-31T01:18:31Z</dcterms:modified>
</cp:coreProperties>
</file>