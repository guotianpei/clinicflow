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1" r:id="rId22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ALOVOX">
    <p:bg>
      <p:bgPr>
        <a:solidFill>
          <a:srgbClr val="0E2E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CDDC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HALOVOX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02920" y="6537960"/>
            <a:ext cx="11155680" cy="0"/>
          </a:xfrm>
          <a:prstGeom prst="line">
            <a:avLst/>
          </a:prstGeom>
          <a:noFill/>
          <a:ln w="7620">
            <a:solidFill>
              <a:srgbClr val="4E6B68">
                <a:alpha val="6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732520" y="6574536"/>
            <a:ext cx="2907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93A9A6"/>
                </a:solidFill>
              </a:rPr>
              <a:t>CONFIDENTIAL • INVESTOR OVERVIEW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7453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80">
                <a:solidFill>
                  <a:srgbClr val="93A9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7453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80">
                <a:solidFill>
                  <a:srgbClr val="93A9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dark_luxurious_futuristic_infographic_tech_i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E2C">
              <a:alpha val="72000"/>
            </a:srgbClr>
          </a:solidFill>
          <a:ln w="12700">
            <a:solidFill>
              <a:srgbClr val="0E2E2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1"/>
          <p:cNvSpPr/>
          <p:nvPr/>
        </p:nvSpPr>
        <p:spPr>
          <a:xfrm>
            <a:off x="0" y="0"/>
            <a:ext cx="7132320" cy="6858000"/>
          </a:xfrm>
          <a:prstGeom prst="rect">
            <a:avLst/>
          </a:prstGeom>
          <a:solidFill>
            <a:srgbClr val="0E2E2C">
              <a:alpha val="95000"/>
            </a:srgbClr>
          </a:solidFill>
          <a:ln w="12700">
            <a:solidFill>
              <a:srgbClr val="0E2E2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658368" y="457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6A15B"/>
                </a:solidFill>
              </a:rPr>
              <a:t>HALOVOX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58368" y="1417320"/>
            <a:ext cx="658368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ECDDC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AI Automation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ECDDC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 Autonomous Practice Operations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676656" y="3246120"/>
            <a:ext cx="5806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7F4ED"/>
                </a:solidFill>
              </a:rPr>
              <a:t>Building the Operational Intelligence Layer for independent medical practices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76656" y="4224528"/>
            <a:ext cx="1828800" cy="0"/>
          </a:xfrm>
          <a:prstGeom prst="line">
            <a:avLst/>
          </a:prstGeom>
          <a:noFill/>
          <a:ln w="25400">
            <a:solidFill>
              <a:srgbClr val="C6A15B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676656" y="44074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7C5C2"/>
                </a:solidFill>
              </a:rPr>
              <a:t>Investor Overview • 2026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76656" y="614476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C6A15B"/>
                </a:solidFill>
              </a:rPr>
              <a:t>YOUR PRACTICE. ALWAYS ANSWERED.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ECDDC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agents are becoming easy to build.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58368" y="1124712"/>
            <a:ext cx="10835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7C5C2"/>
                </a:solidFill>
              </a:rPr>
              <a:t>Reliable execution inside healthcare is not.</a:t>
            </a:r>
            <a:endParaRPr lang="en-US" sz="1250" dirty="0"/>
          </a:p>
        </p:txBody>
      </p:sp>
      <p:pic>
        <p:nvPicPr>
          <p:cNvPr id="4" name="Image 0" descr="/mnt/data/a_wide_interior_scene_of_a_busy_modern_medical_cl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627632"/>
            <a:ext cx="4709160" cy="4160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8368" y="1691640"/>
            <a:ext cx="5669280" cy="3886200"/>
          </a:xfrm>
          <a:prstGeom prst="roundRect">
            <a:avLst>
              <a:gd name="adj" fmla="val 2353"/>
            </a:avLst>
          </a:prstGeom>
          <a:solidFill>
            <a:srgbClr val="081F1E">
              <a:alpha val="97000"/>
            </a:srgbClr>
          </a:solidFill>
          <a:ln w="12700">
            <a:solidFill>
              <a:srgbClr val="52706D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932688" y="202996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6A15B"/>
                </a:solidFill>
              </a:rPr>
              <a:t>The hidden barrier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932688" y="2487168"/>
            <a:ext cx="5074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1550" b="0">
                <a:solidFill>
                  <a:srgbClr val="D0D6D2"/>
                </a:solidFill>
              </a:rPr>
              <a:t>Healthcare workflows depend on accumulated healthcare operational domain knowledge: payer behavior, provider preferences, EMR quirks, exceptions, handoffs, and human judgment.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32688" y="3419856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1400" b="1">
                <a:solidFill>
                  <a:srgbClr val="C6A15B"/>
                </a:solidFill>
              </a:rPr>
              <a:t>Core thesis: model capability is increasingly accessible; reliable operational domain context is not.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32688" y="4315968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7C5C2"/>
                </a:solidFill>
              </a:rPr>
              <a:t>Healthcare workflows depend on years of accumulated operational knowledge: payer behavior, provider preferences, EMR quirks, exceptions, handoffs, and judgment learned through experience.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58368" y="6199632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i="1" dirty="0">
                <a:solidFill>
                  <a:srgbClr val="7F9995"/>
                </a:solidFill>
              </a:rPr>
              <a:t>Core thesis: model capability is increasingly accessible; reliable operational context is not.</a:t>
            </a:r>
            <a:endParaRPr lang="en-US" sz="7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7453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80">
                <a:solidFill>
                  <a:srgbClr val="93A9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ECDDC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patient request can cross multiple organizations.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58368" y="1124712"/>
            <a:ext cx="10835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7C5C2"/>
                </a:solidFill>
              </a:rPr>
              <a:t>No single system owns the full workflow.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1234440" cy="1234440"/>
          </a:xfrm>
          <a:prstGeom prst="ellipse">
            <a:avLst/>
          </a:prstGeom>
          <a:solidFill>
            <a:srgbClr val="C6A15B"/>
          </a:solidFill>
          <a:ln w="12700">
            <a:solidFill>
              <a:srgbClr val="C6A15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2679192"/>
            <a:ext cx="1014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2E2C"/>
                </a:solidFill>
              </a:rPr>
              <a:t>PATIENT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95528" y="2926080"/>
            <a:ext cx="923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0E2E2C"/>
                </a:solidFill>
              </a:rPr>
              <a:t>Request</a:t>
            </a:r>
            <a:endParaRPr lang="en-US" sz="720" dirty="0"/>
          </a:p>
        </p:txBody>
      </p:sp>
      <p:sp>
        <p:nvSpPr>
          <p:cNvPr id="7" name="Shape 5"/>
          <p:cNvSpPr/>
          <p:nvPr/>
        </p:nvSpPr>
        <p:spPr>
          <a:xfrm>
            <a:off x="1965960" y="2734056"/>
            <a:ext cx="502920" cy="384048"/>
          </a:xfrm>
          <a:prstGeom prst="chevron">
            <a:avLst/>
          </a:prstGeom>
          <a:solidFill>
            <a:srgbClr val="C6A15B"/>
          </a:solidFill>
          <a:ln w="12700">
            <a:solidFill>
              <a:srgbClr val="C6A15B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2560320" y="2331720"/>
            <a:ext cx="1234440" cy="1234440"/>
          </a:xfrm>
          <a:prstGeom prst="ellipse">
            <a:avLst/>
          </a:prstGeom>
          <a:solidFill>
            <a:srgbClr val="163B38"/>
          </a:solidFill>
          <a:ln w="12700">
            <a:solidFill>
              <a:srgbClr val="52706D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670048" y="2679192"/>
            <a:ext cx="1014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CDDC0"/>
                </a:solidFill>
              </a:rPr>
              <a:t>CLINIC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715768" y="2926080"/>
            <a:ext cx="923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B7C5C2"/>
                </a:solidFill>
              </a:rPr>
              <a:t>Rules</a:t>
            </a:r>
            <a:endParaRPr lang="en-US" sz="720" dirty="0"/>
          </a:p>
        </p:txBody>
      </p:sp>
      <p:sp>
        <p:nvSpPr>
          <p:cNvPr id="11" name="Shape 9"/>
          <p:cNvSpPr/>
          <p:nvPr/>
        </p:nvSpPr>
        <p:spPr>
          <a:xfrm>
            <a:off x="3886200" y="2734056"/>
            <a:ext cx="502920" cy="384048"/>
          </a:xfrm>
          <a:prstGeom prst="chevron">
            <a:avLst/>
          </a:prstGeom>
          <a:solidFill>
            <a:srgbClr val="C6A15B"/>
          </a:solidFill>
          <a:ln w="12700">
            <a:solidFill>
              <a:srgbClr val="C6A15B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480560" y="2331720"/>
            <a:ext cx="1234440" cy="1234440"/>
          </a:xfrm>
          <a:prstGeom prst="ellipse">
            <a:avLst/>
          </a:prstGeom>
          <a:solidFill>
            <a:srgbClr val="163B38"/>
          </a:solidFill>
          <a:ln w="12700">
            <a:solidFill>
              <a:srgbClr val="52706D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590288" y="2679192"/>
            <a:ext cx="1014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CDDC0"/>
                </a:solidFill>
              </a:rPr>
              <a:t>EMR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636008" y="2926080"/>
            <a:ext cx="923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B7C5C2"/>
                </a:solidFill>
              </a:rPr>
              <a:t>Record</a:t>
            </a:r>
            <a:endParaRPr lang="en-US" sz="720" dirty="0"/>
          </a:p>
        </p:txBody>
      </p:sp>
      <p:sp>
        <p:nvSpPr>
          <p:cNvPr id="15" name="Shape 13"/>
          <p:cNvSpPr/>
          <p:nvPr/>
        </p:nvSpPr>
        <p:spPr>
          <a:xfrm>
            <a:off x="5806440" y="2734056"/>
            <a:ext cx="502920" cy="384048"/>
          </a:xfrm>
          <a:prstGeom prst="chevron">
            <a:avLst/>
          </a:prstGeom>
          <a:solidFill>
            <a:srgbClr val="C6A15B"/>
          </a:solidFill>
          <a:ln w="12700">
            <a:solidFill>
              <a:srgbClr val="C6A15B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400800" y="2331720"/>
            <a:ext cx="1234440" cy="1234440"/>
          </a:xfrm>
          <a:prstGeom prst="ellipse">
            <a:avLst/>
          </a:prstGeom>
          <a:solidFill>
            <a:srgbClr val="163B38"/>
          </a:solidFill>
          <a:ln w="12700">
            <a:solidFill>
              <a:srgbClr val="52706D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510528" y="2679192"/>
            <a:ext cx="1014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CDDC0"/>
                </a:solidFill>
              </a:rPr>
              <a:t>PAYER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556248" y="2926080"/>
            <a:ext cx="923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B7C5C2"/>
                </a:solidFill>
              </a:rPr>
              <a:t>Coverage</a:t>
            </a:r>
            <a:endParaRPr lang="en-US" sz="720" dirty="0"/>
          </a:p>
        </p:txBody>
      </p:sp>
      <p:sp>
        <p:nvSpPr>
          <p:cNvPr id="19" name="Shape 17"/>
          <p:cNvSpPr/>
          <p:nvPr/>
        </p:nvSpPr>
        <p:spPr>
          <a:xfrm>
            <a:off x="7726680" y="2734056"/>
            <a:ext cx="502920" cy="384048"/>
          </a:xfrm>
          <a:prstGeom prst="chevron">
            <a:avLst/>
          </a:prstGeom>
          <a:solidFill>
            <a:srgbClr val="C6A15B"/>
          </a:solidFill>
          <a:ln w="12700">
            <a:solidFill>
              <a:srgbClr val="C6A15B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321040" y="2331720"/>
            <a:ext cx="1234440" cy="1234440"/>
          </a:xfrm>
          <a:prstGeom prst="ellipse">
            <a:avLst/>
          </a:prstGeom>
          <a:solidFill>
            <a:srgbClr val="163B38"/>
          </a:solidFill>
          <a:ln w="12700">
            <a:solidFill>
              <a:srgbClr val="52706D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430768" y="2679192"/>
            <a:ext cx="1014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CDDC0"/>
                </a:solidFill>
              </a:rPr>
              <a:t>LAB / IMAGING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476488" y="2926080"/>
            <a:ext cx="923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B7C5C2"/>
                </a:solidFill>
              </a:rPr>
              <a:t>Requirements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9646920" y="2734056"/>
            <a:ext cx="502920" cy="384048"/>
          </a:xfrm>
          <a:prstGeom prst="chevron">
            <a:avLst/>
          </a:prstGeom>
          <a:solidFill>
            <a:srgbClr val="C6A15B"/>
          </a:solidFill>
          <a:ln w="12700">
            <a:solidFill>
              <a:srgbClr val="C6A15B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10241280" y="2331720"/>
            <a:ext cx="1234440" cy="1234440"/>
          </a:xfrm>
          <a:prstGeom prst="ellipse">
            <a:avLst/>
          </a:prstGeom>
          <a:solidFill>
            <a:srgbClr val="163B38"/>
          </a:solidFill>
          <a:ln w="12700">
            <a:solidFill>
              <a:srgbClr val="52706D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10351008" y="2679192"/>
            <a:ext cx="1014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CDDC0"/>
                </a:solidFill>
              </a:rPr>
              <a:t>PHARMACY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0396728" y="2926080"/>
            <a:ext cx="923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B7C5C2"/>
                </a:solidFill>
              </a:rPr>
              <a:t>Fulfillment</a:t>
            </a:r>
            <a:endParaRPr lang="en-US" sz="720" dirty="0"/>
          </a:p>
        </p:txBody>
      </p:sp>
      <p:sp>
        <p:nvSpPr>
          <p:cNvPr id="27" name="Shape 25"/>
          <p:cNvSpPr/>
          <p:nvPr/>
        </p:nvSpPr>
        <p:spPr>
          <a:xfrm>
            <a:off x="1051560" y="4160520"/>
            <a:ext cx="1901952" cy="329184"/>
          </a:xfrm>
          <a:prstGeom prst="roundRect">
            <a:avLst>
              <a:gd name="adj" fmla="val 22222"/>
            </a:avLst>
          </a:prstGeom>
          <a:solidFill>
            <a:srgbClr val="081F1E"/>
          </a:solidFill>
          <a:ln w="12700">
            <a:solidFill>
              <a:srgbClr val="081F1E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1106424" y="4224528"/>
            <a:ext cx="1792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CDDC0"/>
                </a:solidFill>
              </a:rPr>
              <a:t>Different rules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09544" y="4160520"/>
            <a:ext cx="1901952" cy="329184"/>
          </a:xfrm>
          <a:prstGeom prst="roundRect">
            <a:avLst>
              <a:gd name="adj" fmla="val 22222"/>
            </a:avLst>
          </a:prstGeom>
          <a:solidFill>
            <a:srgbClr val="214A46"/>
          </a:solidFill>
          <a:ln w="12700">
            <a:solidFill>
              <a:srgbClr val="214A46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3264408" y="4224528"/>
            <a:ext cx="1792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CDDC0"/>
                </a:solidFill>
              </a:rPr>
              <a:t>Different systems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367528" y="4160520"/>
            <a:ext cx="1901952" cy="329184"/>
          </a:xfrm>
          <a:prstGeom prst="roundRect">
            <a:avLst>
              <a:gd name="adj" fmla="val 22222"/>
            </a:avLst>
          </a:prstGeom>
          <a:solidFill>
            <a:srgbClr val="081F1E"/>
          </a:solidFill>
          <a:ln w="12700">
            <a:solidFill>
              <a:srgbClr val="081F1E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5422392" y="4224528"/>
            <a:ext cx="1792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CDDC0"/>
                </a:solidFill>
              </a:rPr>
              <a:t>Different terminology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525512" y="4160520"/>
            <a:ext cx="1901952" cy="329184"/>
          </a:xfrm>
          <a:prstGeom prst="roundRect">
            <a:avLst>
              <a:gd name="adj" fmla="val 22222"/>
            </a:avLst>
          </a:prstGeom>
          <a:solidFill>
            <a:srgbClr val="214A46"/>
          </a:solidFill>
          <a:ln w="12700">
            <a:solidFill>
              <a:srgbClr val="214A46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7580376" y="4224528"/>
            <a:ext cx="1792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CDDC0"/>
                </a:solidFill>
              </a:rPr>
              <a:t>Different exceptions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9683496" y="4160520"/>
            <a:ext cx="1901952" cy="329184"/>
          </a:xfrm>
          <a:prstGeom prst="roundRect">
            <a:avLst>
              <a:gd name="adj" fmla="val 22222"/>
            </a:avLst>
          </a:prstGeom>
          <a:solidFill>
            <a:srgbClr val="081F1E"/>
          </a:solidFill>
          <a:ln w="12700">
            <a:solidFill>
              <a:srgbClr val="081F1E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9738360" y="4224528"/>
            <a:ext cx="1792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CDDC0"/>
                </a:solidFill>
              </a:rPr>
              <a:t>Different failure modes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960120" y="5010912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CDDC0"/>
                </a:solidFill>
              </a:rPr>
              <a:t>Healthcare complexity is not just technical integration. It is distributed operational knowledge.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7453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80">
                <a:solidFill>
                  <a:srgbClr val="93A9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ECDDC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Experienced staff carry the workflow in their heads.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58368" y="1124712"/>
            <a:ext cx="10835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7C5C2"/>
                </a:solidFill>
              </a:rPr>
              <a:t>Much of the knowledge that keeps a clinic running is tacit, local, and undocumented.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3337560" cy="2788920"/>
          </a:xfrm>
          <a:prstGeom prst="roundRect">
            <a:avLst>
              <a:gd name="adj" fmla="val 2192"/>
            </a:avLst>
          </a:prstGeom>
          <a:solidFill>
            <a:srgbClr val="163B38"/>
          </a:solidFill>
          <a:ln w="10160">
            <a:solidFill>
              <a:srgbClr val="52706D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86968" y="1901952"/>
            <a:ext cx="2935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C6A15B"/>
                </a:solidFill>
              </a:rPr>
              <a:t>DOCUMENTED KNOWLEDGE</a:t>
            </a:r>
            <a:endParaRPr lang="en-US" sz="740" dirty="0"/>
          </a:p>
        </p:txBody>
      </p:sp>
      <p:sp>
        <p:nvSpPr>
          <p:cNvPr id="6" name="Text 4"/>
          <p:cNvSpPr/>
          <p:nvPr/>
        </p:nvSpPr>
        <p:spPr>
          <a:xfrm>
            <a:off x="886968" y="2176272"/>
            <a:ext cx="2935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CDDC0"/>
                </a:solidFill>
              </a:rPr>
              <a:t>What the handbook says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86968" y="2706624"/>
            <a:ext cx="2935224" cy="165506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 b="0">
                <a:solidFill>
                  <a:srgbClr val="D0D6D2"/>
                </a:solidFill>
              </a:rPr>
              <a:t>• Answer the phone</a:t>
            </a:r>
            <a:endParaRPr lang="en-US" sz="1040" dirty="0"/>
          </a:p>
          <a:p>
            <a:pPr indent="0" marL="0">
              <a:buNone/>
            </a:pPr>
            <a:r>
              <a:rPr lang="en-US" sz="1150" dirty="0" b="0">
                <a:solidFill>
                  <a:srgbClr val="D0D6D2"/>
                </a:solidFill>
              </a:rPr>
              <a:t>• Verify insurance</a:t>
            </a:r>
            <a:endParaRPr lang="en-US" sz="1040" dirty="0"/>
          </a:p>
          <a:p>
            <a:pPr indent="0" marL="0">
              <a:buNone/>
            </a:pPr>
            <a:r>
              <a:rPr lang="en-US" sz="1150" dirty="0" b="0">
                <a:solidFill>
                  <a:srgbClr val="D0D6D2"/>
                </a:solidFill>
              </a:rPr>
              <a:t>• Schedule appointments</a:t>
            </a:r>
            <a:endParaRPr lang="en-US" sz="1040" dirty="0"/>
          </a:p>
          <a:p>
            <a:pPr indent="0" marL="0">
              <a:buNone/>
            </a:pPr>
            <a:r>
              <a:rPr lang="en-US" sz="1150" dirty="0" b="0">
                <a:solidFill>
                  <a:srgbClr val="D0D6D2"/>
                </a:solidFill>
              </a:rPr>
              <a:t>• Follow documented procedures</a:t>
            </a:r>
            <a:endParaRPr lang="en-US" sz="1040" dirty="0"/>
          </a:p>
        </p:txBody>
      </p:sp>
      <p:sp>
        <p:nvSpPr>
          <p:cNvPr id="8" name="Shape 6"/>
          <p:cNvSpPr/>
          <p:nvPr/>
        </p:nvSpPr>
        <p:spPr>
          <a:xfrm>
            <a:off x="4425696" y="1737360"/>
            <a:ext cx="3337560" cy="2788920"/>
          </a:xfrm>
          <a:prstGeom prst="roundRect">
            <a:avLst>
              <a:gd name="adj" fmla="val 2192"/>
            </a:avLst>
          </a:prstGeom>
          <a:solidFill>
            <a:srgbClr val="214A46"/>
          </a:solidFill>
          <a:ln w="10160">
            <a:solidFill>
              <a:srgbClr val="52706D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26864" y="1901952"/>
            <a:ext cx="2935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C6A15B"/>
                </a:solidFill>
              </a:rPr>
              <a:t>TACIT KNOWLEDGE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4626864" y="2176272"/>
            <a:ext cx="2935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CDDC0"/>
                </a:solidFill>
              </a:rPr>
              <a:t>What experienced staff know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626864" y="2706624"/>
            <a:ext cx="2935224" cy="165506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 b="0">
                <a:solidFill>
                  <a:srgbClr val="D0D6D2"/>
                </a:solidFill>
              </a:rPr>
              <a:t>• Which payer response is misleading</a:t>
            </a:r>
            <a:endParaRPr lang="en-US" sz="1040" dirty="0"/>
          </a:p>
          <a:p>
            <a:pPr indent="0" marL="0">
              <a:buNone/>
            </a:pPr>
            <a:r>
              <a:rPr lang="en-US" sz="1150" dirty="0" b="0">
                <a:solidFill>
                  <a:srgbClr val="D0D6D2"/>
                </a:solidFill>
              </a:rPr>
              <a:t>• Which provider rule overrides the template</a:t>
            </a:r>
            <a:endParaRPr lang="en-US" sz="1040" dirty="0"/>
          </a:p>
          <a:p>
            <a:pPr indent="0" marL="0">
              <a:buNone/>
            </a:pPr>
            <a:r>
              <a:rPr lang="en-US" sz="1150" dirty="0" b="0">
                <a:solidFill>
                  <a:srgbClr val="D0D6D2"/>
                </a:solidFill>
              </a:rPr>
              <a:t>• Which exception needs a phone call</a:t>
            </a:r>
            <a:endParaRPr lang="en-US" sz="1040" dirty="0"/>
          </a:p>
          <a:p>
            <a:pPr indent="0" marL="0">
              <a:buNone/>
            </a:pPr>
            <a:r>
              <a:rPr lang="en-US" sz="1150" dirty="0" b="0">
                <a:solidFill>
                  <a:srgbClr val="D0D6D2"/>
                </a:solidFill>
              </a:rPr>
              <a:t>• Which workflow fails and what workaround works</a:t>
            </a:r>
            <a:endParaRPr lang="en-US" sz="1040" dirty="0"/>
          </a:p>
        </p:txBody>
      </p:sp>
      <p:sp>
        <p:nvSpPr>
          <p:cNvPr id="12" name="Shape 10"/>
          <p:cNvSpPr/>
          <p:nvPr/>
        </p:nvSpPr>
        <p:spPr>
          <a:xfrm>
            <a:off x="8165592" y="1737360"/>
            <a:ext cx="3337560" cy="2788920"/>
          </a:xfrm>
          <a:prstGeom prst="roundRect">
            <a:avLst>
              <a:gd name="adj" fmla="val 2192"/>
            </a:avLst>
          </a:prstGeom>
          <a:solidFill>
            <a:srgbClr val="081F1E"/>
          </a:solidFill>
          <a:ln w="10160">
            <a:solidFill>
              <a:srgbClr val="C6A15B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66760" y="1901952"/>
            <a:ext cx="2935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C6A15B"/>
                </a:solidFill>
              </a:rPr>
              <a:t>OPERATIONAL INTELLIGENCE</a:t>
            </a:r>
            <a:endParaRPr lang="en-US" sz="740" dirty="0"/>
          </a:p>
        </p:txBody>
      </p:sp>
      <p:sp>
        <p:nvSpPr>
          <p:cNvPr id="14" name="Text 12"/>
          <p:cNvSpPr/>
          <p:nvPr/>
        </p:nvSpPr>
        <p:spPr>
          <a:xfrm>
            <a:off x="8366760" y="2176272"/>
            <a:ext cx="2935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CDDC0"/>
                </a:solidFill>
              </a:rPr>
              <a:t>What HaloVox must learn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366760" y="2706624"/>
            <a:ext cx="2935224" cy="165506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 b="0">
                <a:solidFill>
                  <a:srgbClr val="D0D6D2"/>
                </a:solidFill>
              </a:rPr>
              <a:t>• Capture the rule</a:t>
            </a:r>
            <a:endParaRPr lang="en-US" sz="1040" dirty="0"/>
          </a:p>
          <a:p>
            <a:pPr indent="0" marL="0">
              <a:buNone/>
            </a:pPr>
            <a:r>
              <a:rPr lang="en-US" sz="1150" dirty="0" b="0">
                <a:solidFill>
                  <a:srgbClr val="D0D6D2"/>
                </a:solidFill>
              </a:rPr>
              <a:t>• Apply it in context</a:t>
            </a:r>
            <a:endParaRPr lang="en-US" sz="1040" dirty="0"/>
          </a:p>
          <a:p>
            <a:pPr indent="0" marL="0">
              <a:buNone/>
            </a:pPr>
            <a:r>
              <a:rPr lang="en-US" sz="1150" dirty="0" b="0">
                <a:solidFill>
                  <a:srgbClr val="D0D6D2"/>
                </a:solidFill>
              </a:rPr>
              <a:t>• Observe the outcome</a:t>
            </a:r>
            <a:endParaRPr lang="en-US" sz="1040" dirty="0"/>
          </a:p>
          <a:p>
            <a:pPr indent="0" marL="0">
              <a:buNone/>
            </a:pPr>
            <a:r>
              <a:rPr lang="en-US" sz="1150" dirty="0" b="0">
                <a:solidFill>
                  <a:srgbClr val="D0D6D2"/>
                </a:solidFill>
              </a:rPr>
              <a:t>• Improve the next decision</a:t>
            </a:r>
            <a:endParaRPr lang="en-US" sz="1040" dirty="0"/>
          </a:p>
          <a:p>
            <a:pPr indent="0" marL="0">
              <a:buNone/>
            </a:pPr>
            <a:r>
              <a:rPr lang="en-US" sz="1150" dirty="0" b="0">
                <a:solidFill>
                  <a:srgbClr val="D0D6D2"/>
                </a:solidFill>
              </a:rPr>
              <a:t>• Share validated learning across workflows</a:t>
            </a:r>
            <a:endParaRPr lang="en-US" sz="1040" dirty="0"/>
          </a:p>
        </p:txBody>
      </p:sp>
      <p:sp>
        <p:nvSpPr>
          <p:cNvPr id="16" name="Text 14"/>
          <p:cNvSpPr/>
          <p:nvPr/>
        </p:nvSpPr>
        <p:spPr>
          <a:xfrm>
            <a:off x="914400" y="5486400"/>
            <a:ext cx="103632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1450" b="1">
                <a:solidFill>
                  <a:srgbClr val="C6A15B"/>
                </a:solidFill>
              </a:rPr>
              <a:t>AI can know healthcare. HaloVox’s advantage is knowing how each practice actually operates.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7453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80">
                <a:solidFill>
                  <a:srgbClr val="93A9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ECDDC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vision is a progression—not a feature list.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58368" y="1124712"/>
            <a:ext cx="10835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7C5C2"/>
                </a:solidFill>
              </a:rPr>
              <a:t>Each stage creates the foundation for the next.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21792" y="1993392"/>
            <a:ext cx="1901952" cy="2148840"/>
          </a:xfrm>
          <a:prstGeom prst="roundRect">
            <a:avLst>
              <a:gd name="adj" fmla="val 3846"/>
            </a:avLst>
          </a:prstGeom>
          <a:solidFill>
            <a:srgbClr val="163B38"/>
          </a:solidFill>
          <a:ln w="10160">
            <a:solidFill>
              <a:srgbClr val="52706D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86384" y="2157984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A15B"/>
                </a:solidFill>
              </a:rPr>
              <a:t>1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786384" y="2706624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ECDDC0"/>
                </a:solidFill>
              </a:rPr>
              <a:t>AUTOMATE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6384" y="3227832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0D6D2"/>
                </a:solidFill>
              </a:rPr>
              <a:t>Execute repetitive work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23744" y="2875788"/>
            <a:ext cx="402336" cy="384048"/>
          </a:xfrm>
          <a:prstGeom prst="chevron">
            <a:avLst/>
          </a:prstGeom>
          <a:solidFill>
            <a:srgbClr val="C6A15B"/>
          </a:solidFill>
          <a:ln w="12700">
            <a:solidFill>
              <a:srgbClr val="C6A15B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2926080" y="1993392"/>
            <a:ext cx="1901952" cy="2148840"/>
          </a:xfrm>
          <a:prstGeom prst="roundRect">
            <a:avLst>
              <a:gd name="adj" fmla="val 3846"/>
            </a:avLst>
          </a:prstGeom>
          <a:solidFill>
            <a:srgbClr val="214A46"/>
          </a:solidFill>
          <a:ln w="10160">
            <a:solidFill>
              <a:srgbClr val="52706D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090672" y="2157984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A15B"/>
                </a:solidFill>
              </a:rPr>
              <a:t>2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3090672" y="2706624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ECDDC0"/>
                </a:solidFill>
              </a:rPr>
              <a:t>LEARN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90672" y="3227832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0D6D2"/>
                </a:solidFill>
              </a:rPr>
              <a:t>Capture operational knowledge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28032" y="2875788"/>
            <a:ext cx="402336" cy="384048"/>
          </a:xfrm>
          <a:prstGeom prst="chevron">
            <a:avLst/>
          </a:prstGeom>
          <a:solidFill>
            <a:srgbClr val="C6A15B"/>
          </a:solidFill>
          <a:ln w="12700">
            <a:solidFill>
              <a:srgbClr val="C6A15B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5230368" y="1993392"/>
            <a:ext cx="1901952" cy="2148840"/>
          </a:xfrm>
          <a:prstGeom prst="roundRect">
            <a:avLst>
              <a:gd name="adj" fmla="val 3846"/>
            </a:avLst>
          </a:prstGeom>
          <a:solidFill>
            <a:srgbClr val="163B38"/>
          </a:solidFill>
          <a:ln w="10160">
            <a:solidFill>
              <a:srgbClr val="52706D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394960" y="2157984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A15B"/>
                </a:solidFill>
              </a:rPr>
              <a:t>3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5394960" y="2706624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ECDDC0"/>
                </a:solidFill>
              </a:rPr>
              <a:t>DECIDE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94960" y="3227832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0D6D2"/>
                </a:solidFill>
              </a:rPr>
              <a:t>Apply context to real-time decisions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132320" y="2875788"/>
            <a:ext cx="402336" cy="384048"/>
          </a:xfrm>
          <a:prstGeom prst="chevron">
            <a:avLst/>
          </a:prstGeom>
          <a:solidFill>
            <a:srgbClr val="C6A15B"/>
          </a:solidFill>
          <a:ln w="12700">
            <a:solidFill>
              <a:srgbClr val="C6A15B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534656" y="1993392"/>
            <a:ext cx="1901952" cy="2148840"/>
          </a:xfrm>
          <a:prstGeom prst="roundRect">
            <a:avLst>
              <a:gd name="adj" fmla="val 3846"/>
            </a:avLst>
          </a:prstGeom>
          <a:solidFill>
            <a:srgbClr val="214A46"/>
          </a:solidFill>
          <a:ln w="10160">
            <a:solidFill>
              <a:srgbClr val="52706D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699248" y="2157984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A15B"/>
                </a:solidFill>
              </a:rPr>
              <a:t>4</a:t>
            </a:r>
            <a:endParaRPr lang="en-US" sz="2500" dirty="0"/>
          </a:p>
        </p:txBody>
      </p:sp>
      <p:sp>
        <p:nvSpPr>
          <p:cNvPr id="21" name="Text 19"/>
          <p:cNvSpPr/>
          <p:nvPr/>
        </p:nvSpPr>
        <p:spPr>
          <a:xfrm>
            <a:off x="7699248" y="2706624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ECDDC0"/>
                </a:solidFill>
              </a:rPr>
              <a:t>IMPROVE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699248" y="3227832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0D6D2"/>
                </a:solidFill>
              </a:rPr>
              <a:t>Learn continuously from outcomes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436608" y="2875788"/>
            <a:ext cx="402336" cy="384048"/>
          </a:xfrm>
          <a:prstGeom prst="chevron">
            <a:avLst/>
          </a:prstGeom>
          <a:solidFill>
            <a:srgbClr val="C6A15B"/>
          </a:solidFill>
          <a:ln w="12700">
            <a:solidFill>
              <a:srgbClr val="C6A15B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9838944" y="1993392"/>
            <a:ext cx="1901952" cy="2148840"/>
          </a:xfrm>
          <a:prstGeom prst="roundRect">
            <a:avLst>
              <a:gd name="adj" fmla="val 3846"/>
            </a:avLst>
          </a:prstGeom>
          <a:solidFill>
            <a:srgbClr val="C6A15B"/>
          </a:solidFill>
          <a:ln w="10160">
            <a:solidFill>
              <a:srgbClr val="C6A15B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10003536" y="2157984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A15B"/>
                </a:solidFill>
              </a:rPr>
              <a:t>5</a:t>
            </a:r>
            <a:endParaRPr lang="en-US" sz="2500" dirty="0"/>
          </a:p>
        </p:txBody>
      </p:sp>
      <p:sp>
        <p:nvSpPr>
          <p:cNvPr id="26" name="Text 24"/>
          <p:cNvSpPr/>
          <p:nvPr/>
        </p:nvSpPr>
        <p:spPr>
          <a:xfrm>
            <a:off x="10003536" y="2706624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ECDDC0"/>
                </a:solidFill>
              </a:rPr>
              <a:t>AUTONOMOUS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003536" y="3227832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0D6D2"/>
                </a:solidFill>
              </a:rPr>
              <a:t>Manage workflows end-to-end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234440" y="5074920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6A15B"/>
                </a:solidFill>
              </a:rPr>
              <a:t>From AI automation  →  to a system that becomes more experienced after every task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7453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80">
                <a:solidFill>
                  <a:srgbClr val="93A9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ECDDC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HaloVox Operational Intelligence Layer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58368" y="1124712"/>
            <a:ext cx="10835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1450">
                <a:solidFill>
                  <a:srgbClr val="D0D6D2"/>
                </a:solidFill>
              </a:rPr>
              <a:t>The system that captures healthcare operational domain knowledge, applies it to decisions, learns from outcomes, and improves future execution.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874520"/>
            <a:ext cx="2148840" cy="2542032"/>
          </a:xfrm>
          <a:prstGeom prst="roundRect">
            <a:avLst>
              <a:gd name="adj" fmla="val 3404"/>
            </a:avLst>
          </a:prstGeom>
          <a:solidFill>
            <a:srgbClr val="081F1E"/>
          </a:solidFill>
          <a:ln w="10160">
            <a:solidFill>
              <a:srgbClr val="52706D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59536" y="2039112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C6A15B"/>
                </a:solidFill>
              </a:rPr>
              <a:t>KNOWLEDGE</a:t>
            </a:r>
            <a:endParaRPr lang="en-US" sz="740" dirty="0"/>
          </a:p>
        </p:txBody>
      </p:sp>
      <p:sp>
        <p:nvSpPr>
          <p:cNvPr id="6" name="Text 4"/>
          <p:cNvSpPr/>
          <p:nvPr/>
        </p:nvSpPr>
        <p:spPr>
          <a:xfrm>
            <a:off x="859536" y="2313432"/>
            <a:ext cx="1746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CDDC0"/>
                </a:solidFill>
              </a:rPr>
              <a:t>KNOW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59536" y="2843784"/>
            <a:ext cx="1746504" cy="140817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sz="1300">
                <a:solidFill>
                  <a:srgbClr val="D0D6D2"/>
                </a:solidFill>
              </a:rPr>
              <a:t>Clinic rules
Payer behavior
EMR behavior
Workflow patterns
Exception knowledge
Human resolutions</a:t>
            </a:r>
            <a:endParaRPr lang="en-US" sz="1040" dirty="0"/>
          </a:p>
        </p:txBody>
      </p:sp>
      <p:sp>
        <p:nvSpPr>
          <p:cNvPr id="8" name="Shape 6"/>
          <p:cNvSpPr/>
          <p:nvPr/>
        </p:nvSpPr>
        <p:spPr>
          <a:xfrm>
            <a:off x="2944368" y="1874520"/>
            <a:ext cx="2148840" cy="2542032"/>
          </a:xfrm>
          <a:prstGeom prst="roundRect">
            <a:avLst>
              <a:gd name="adj" fmla="val 3404"/>
            </a:avLst>
          </a:prstGeom>
          <a:solidFill>
            <a:srgbClr val="163B38"/>
          </a:solidFill>
          <a:ln w="10160">
            <a:solidFill>
              <a:srgbClr val="52706D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145536" y="2039112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C6A15B"/>
                </a:solidFill>
              </a:rPr>
              <a:t>DECISION ENGINE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3145536" y="2313432"/>
            <a:ext cx="1746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CDDC0"/>
                </a:solidFill>
              </a:rPr>
              <a:t>DECIDE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3145536" y="2843784"/>
            <a:ext cx="1746504" cy="140817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 b="0">
                <a:solidFill>
                  <a:srgbClr val="D0D6D2"/>
                </a:solidFill>
              </a:rPr>
              <a:t>Interpret context</a:t>
            </a:r>
            <a:endParaRPr lang="en-US" sz="1040" dirty="0"/>
          </a:p>
          <a:p>
            <a:pPr indent="0" marL="0">
              <a:buNone/>
            </a:pPr>
            <a:r>
              <a:rPr lang="en-US" sz="1150" dirty="0" b="0">
                <a:solidFill>
                  <a:srgbClr val="D0D6D2"/>
                </a:solidFill>
              </a:rPr>
              <a:t>Choose next action</a:t>
            </a:r>
            <a:endParaRPr lang="en-US" sz="1040" dirty="0"/>
          </a:p>
          <a:p>
            <a:pPr indent="0" marL="0">
              <a:buNone/>
            </a:pPr>
            <a:r>
              <a:rPr lang="en-US" sz="1150" dirty="0" b="0">
                <a:solidFill>
                  <a:srgbClr val="D0D6D2"/>
                </a:solidFill>
              </a:rPr>
              <a:t>Select fallback</a:t>
            </a:r>
            <a:endParaRPr lang="en-US" sz="1040" dirty="0"/>
          </a:p>
          <a:p>
            <a:pPr indent="0" marL="0">
              <a:buNone/>
            </a:pPr>
            <a:r>
              <a:rPr lang="en-US" sz="1150" dirty="0" b="0">
                <a:solidFill>
                  <a:srgbClr val="D0D6D2"/>
                </a:solidFill>
              </a:rPr>
              <a:t>Set confidence</a:t>
            </a:r>
            <a:endParaRPr lang="en-US" sz="1040" dirty="0"/>
          </a:p>
          <a:p>
            <a:pPr indent="0" marL="0">
              <a:buNone/>
            </a:pPr>
            <a:r>
              <a:rPr lang="en-US" sz="1150" dirty="0" b="0">
                <a:solidFill>
                  <a:srgbClr val="D0D6D2"/>
                </a:solidFill>
              </a:rPr>
              <a:t>Escalate when needed</a:t>
            </a:r>
            <a:endParaRPr lang="en-US" sz="1040" dirty="0"/>
          </a:p>
        </p:txBody>
      </p:sp>
      <p:sp>
        <p:nvSpPr>
          <p:cNvPr id="12" name="Shape 10"/>
          <p:cNvSpPr/>
          <p:nvPr/>
        </p:nvSpPr>
        <p:spPr>
          <a:xfrm>
            <a:off x="5230368" y="1874520"/>
            <a:ext cx="2148840" cy="2542032"/>
          </a:xfrm>
          <a:prstGeom prst="roundRect">
            <a:avLst>
              <a:gd name="adj" fmla="val 3404"/>
            </a:avLst>
          </a:prstGeom>
          <a:solidFill>
            <a:srgbClr val="214A46"/>
          </a:solidFill>
          <a:ln w="10160">
            <a:solidFill>
              <a:srgbClr val="52706D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31536" y="2039112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C6A15B"/>
                </a:solidFill>
              </a:rPr>
              <a:t>AGENT APPLICATIONS</a:t>
            </a:r>
            <a:endParaRPr lang="en-US" sz="740" dirty="0"/>
          </a:p>
        </p:txBody>
      </p:sp>
      <p:sp>
        <p:nvSpPr>
          <p:cNvPr id="14" name="Text 12"/>
          <p:cNvSpPr/>
          <p:nvPr/>
        </p:nvSpPr>
        <p:spPr>
          <a:xfrm>
            <a:off x="5431536" y="2313432"/>
            <a:ext cx="1746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CDDC0"/>
                </a:solidFill>
              </a:rPr>
              <a:t>EXECUTE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5431536" y="2843784"/>
            <a:ext cx="1746504" cy="140817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 b="0">
                <a:solidFill>
                  <a:srgbClr val="D0D6D2"/>
                </a:solidFill>
              </a:rPr>
              <a:t>Voice</a:t>
            </a:r>
            <a:endParaRPr lang="en-US" sz="1040" dirty="0"/>
          </a:p>
          <a:p>
            <a:pPr indent="0" marL="0">
              <a:buNone/>
            </a:pPr>
            <a:r>
              <a:rPr lang="en-US" sz="1150" dirty="0" b="0">
                <a:solidFill>
                  <a:srgbClr val="D0D6D2"/>
                </a:solidFill>
              </a:rPr>
              <a:t>Eligibility</a:t>
            </a:r>
            <a:endParaRPr lang="en-US" sz="1040" dirty="0"/>
          </a:p>
          <a:p>
            <a:pPr indent="0" marL="0">
              <a:buNone/>
            </a:pPr>
            <a:r>
              <a:rPr lang="en-US" sz="1150" dirty="0" b="0">
                <a:solidFill>
                  <a:srgbClr val="D0D6D2"/>
                </a:solidFill>
              </a:rPr>
              <a:t>Scheduling</a:t>
            </a:r>
            <a:endParaRPr lang="en-US" sz="1040" dirty="0"/>
          </a:p>
          <a:p>
            <a:pPr indent="0" marL="0">
              <a:buNone/>
            </a:pPr>
            <a:r>
              <a:rPr lang="en-US" sz="1150" dirty="0" b="0">
                <a:solidFill>
                  <a:srgbClr val="D0D6D2"/>
                </a:solidFill>
              </a:rPr>
              <a:t>Messaging</a:t>
            </a:r>
            <a:endParaRPr lang="en-US" sz="1040" dirty="0"/>
          </a:p>
          <a:p>
            <a:pPr indent="0" marL="0">
              <a:buNone/>
            </a:pPr>
            <a:r>
              <a:rPr lang="en-US" sz="1150" dirty="0" b="0">
                <a:solidFill>
                  <a:srgbClr val="D0D6D2"/>
                </a:solidFill>
              </a:rPr>
              <a:t>Future workflows</a:t>
            </a:r>
            <a:endParaRPr lang="en-US" sz="1040" dirty="0"/>
          </a:p>
        </p:txBody>
      </p:sp>
      <p:sp>
        <p:nvSpPr>
          <p:cNvPr id="16" name="Shape 14"/>
          <p:cNvSpPr/>
          <p:nvPr/>
        </p:nvSpPr>
        <p:spPr>
          <a:xfrm>
            <a:off x="7516368" y="1874520"/>
            <a:ext cx="2148840" cy="2542032"/>
          </a:xfrm>
          <a:prstGeom prst="roundRect">
            <a:avLst>
              <a:gd name="adj" fmla="val 3404"/>
            </a:avLst>
          </a:prstGeom>
          <a:solidFill>
            <a:srgbClr val="163B38"/>
          </a:solidFill>
          <a:ln w="10160">
            <a:solidFill>
              <a:srgbClr val="52706D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717536" y="2039112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C6A15B"/>
                </a:solidFill>
              </a:rPr>
              <a:t>OUTCOME INTELLIGENCE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7717536" y="2313432"/>
            <a:ext cx="1746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CDDC0"/>
                </a:solidFill>
              </a:rPr>
              <a:t>EVALUATE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717536" y="2843784"/>
            <a:ext cx="1746504" cy="140817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 b="0">
                <a:solidFill>
                  <a:srgbClr val="D0D6D2"/>
                </a:solidFill>
              </a:rPr>
              <a:t>Did it work?</a:t>
            </a:r>
            <a:endParaRPr lang="en-US" sz="1040" dirty="0"/>
          </a:p>
          <a:p>
            <a:pPr indent="0" marL="0">
              <a:buNone/>
            </a:pPr>
            <a:r>
              <a:rPr lang="en-US" sz="1150" dirty="0" b="0">
                <a:solidFill>
                  <a:srgbClr val="D0D6D2"/>
                </a:solidFill>
              </a:rPr>
              <a:t>What failed?</a:t>
            </a:r>
            <a:endParaRPr lang="en-US" sz="1040" dirty="0"/>
          </a:p>
          <a:p>
            <a:pPr indent="0" marL="0">
              <a:buNone/>
            </a:pPr>
            <a:r>
              <a:rPr lang="en-US" sz="1150" dirty="0" b="0">
                <a:solidFill>
                  <a:srgbClr val="D0D6D2"/>
                </a:solidFill>
              </a:rPr>
              <a:t>Was intervention needed?</a:t>
            </a:r>
            <a:endParaRPr lang="en-US" sz="1040" dirty="0"/>
          </a:p>
          <a:p>
            <a:pPr indent="0" marL="0">
              <a:buNone/>
            </a:pPr>
            <a:r>
              <a:rPr lang="en-US" sz="1150" dirty="0" b="0">
                <a:solidFill>
                  <a:srgbClr val="D0D6D2"/>
                </a:solidFill>
              </a:rPr>
              <a:t>What was the outcome?</a:t>
            </a:r>
            <a:endParaRPr lang="en-US" sz="1040" dirty="0"/>
          </a:p>
        </p:txBody>
      </p:sp>
      <p:sp>
        <p:nvSpPr>
          <p:cNvPr id="20" name="Shape 18"/>
          <p:cNvSpPr/>
          <p:nvPr/>
        </p:nvSpPr>
        <p:spPr>
          <a:xfrm>
            <a:off x="9802368" y="1874520"/>
            <a:ext cx="1719072" cy="2542032"/>
          </a:xfrm>
          <a:prstGeom prst="roundRect">
            <a:avLst>
              <a:gd name="adj" fmla="val 4255"/>
            </a:avLst>
          </a:prstGeom>
          <a:solidFill>
            <a:srgbClr val="C6A15B"/>
          </a:solidFill>
          <a:ln w="10160">
            <a:solidFill>
              <a:srgbClr val="C6A15B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03536" y="2039112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C6A15B"/>
                </a:solidFill>
              </a:rPr>
              <a:t>LEARNING LOOP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0003536" y="2313432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CDDC0"/>
                </a:solidFill>
              </a:rPr>
              <a:t>LEARN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0003536" y="2843784"/>
            <a:ext cx="1316736" cy="140817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 b="0">
                <a:solidFill>
                  <a:srgbClr val="D0D6D2"/>
                </a:solidFill>
              </a:rPr>
              <a:t>Validate</a:t>
            </a:r>
            <a:endParaRPr lang="en-US" sz="1040" dirty="0"/>
          </a:p>
          <a:p>
            <a:pPr indent="0" marL="0">
              <a:buNone/>
            </a:pPr>
            <a:r>
              <a:rPr lang="en-US" sz="1150" dirty="0" b="0">
                <a:solidFill>
                  <a:srgbClr val="D0D6D2"/>
                </a:solidFill>
              </a:rPr>
              <a:t>Update</a:t>
            </a:r>
            <a:endParaRPr lang="en-US" sz="1040" dirty="0"/>
          </a:p>
          <a:p>
            <a:pPr indent="0" marL="0">
              <a:buNone/>
            </a:pPr>
            <a:r>
              <a:rPr lang="en-US" sz="1150" dirty="0" b="0">
                <a:solidFill>
                  <a:srgbClr val="D0D6D2"/>
                </a:solidFill>
              </a:rPr>
              <a:t>Generalize</a:t>
            </a:r>
            <a:endParaRPr lang="en-US" sz="1040" dirty="0"/>
          </a:p>
          <a:p>
            <a:pPr indent="0" marL="0">
              <a:buNone/>
            </a:pPr>
            <a:r>
              <a:rPr lang="en-US" sz="1150" dirty="0" b="0">
                <a:solidFill>
                  <a:srgbClr val="D0D6D2"/>
                </a:solidFill>
              </a:rPr>
              <a:t>Improve</a:t>
            </a:r>
            <a:endParaRPr lang="en-US" sz="1040" dirty="0"/>
          </a:p>
        </p:txBody>
      </p:sp>
      <p:sp>
        <p:nvSpPr>
          <p:cNvPr id="25" name="Text 23"/>
          <p:cNvSpPr/>
          <p:nvPr/>
        </p:nvSpPr>
        <p:spPr>
          <a:xfrm>
            <a:off x="3474720" y="565099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6A15B"/>
                </a:solidFill>
              </a:rPr>
              <a:t>Every workflow creates new operational experience.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566160" y="4892040"/>
            <a:ext cx="5120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wrap="square"/>
          <a:lstStyle>
            <a:lvl1pPr>
              <a:defRPr sz="680">
                <a:solidFill>
                  <a:srgbClr val="93A9A6"/>
                </a:solidFill>
              </a:defRPr>
            </a:lvl1pPr>
          </a:lstStyle>
          <a:p>
            <a:pPr algn="ct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2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6A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280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ECDDC0"/>
                </a:solidFill>
                <a:latin typeface="Aptos"/>
              </a:rPr>
              <a:t>HALOVOX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934456"/>
            <a:ext cx="10881360" cy="9144"/>
          </a:xfrm>
          <a:prstGeom prst="rect">
            <a:avLst/>
          </a:prstGeom>
          <a:solidFill>
            <a:srgbClr val="5671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5971032"/>
            <a:ext cx="224028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700">
                <a:solidFill>
                  <a:srgbClr val="D0D6D2"/>
                </a:solidFill>
              </a:rPr>
              <a:t>CONFIDENTIAL • INVESTOR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5971032"/>
            <a:ext cx="54864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700">
                <a:solidFill>
                  <a:srgbClr val="ECDDC0"/>
                </a:solidFill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66928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ECDDC0"/>
                </a:solidFill>
              </a:rPr>
              <a:t>How HaloVox accumulates operational domain knowledge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097280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>
                <a:solidFill>
                  <a:srgbClr val="D0D6D2"/>
                </a:solidFill>
              </a:rPr>
              <a:t>Every workflow produces evidence. Every exception can produce human-resolved knowledge that becomes future automation.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645920"/>
            <a:ext cx="2084831" cy="1371600"/>
          </a:xfrm>
          <a:prstGeom prst="roundRect">
            <a:avLst/>
          </a:prstGeom>
          <a:solidFill>
            <a:srgbClr val="091F1E"/>
          </a:solidFill>
          <a:ln w="13970">
            <a:solidFill>
              <a:srgbClr val="5671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50392" y="1801368"/>
            <a:ext cx="310896" cy="310896"/>
          </a:xfrm>
          <a:prstGeom prst="ellipse">
            <a:avLst/>
          </a:prstGeom>
          <a:solidFill>
            <a:srgbClr val="C6A15B"/>
          </a:solidFill>
          <a:ln>
            <a:solidFill>
              <a:srgbClr val="C6A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0E2E2C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43584" y="1810512"/>
            <a:ext cx="1426463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CDDC0"/>
                </a:solidFill>
              </a:rPr>
              <a:t>EXECUTE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2194560"/>
            <a:ext cx="1719072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>
                <a:solidFill>
                  <a:srgbClr val="D0D6D2"/>
                </a:solidFill>
              </a:rPr>
              <a:t>Agent, workflow, and approved tools perform real clinic work.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07792" y="2139696"/>
            <a:ext cx="2560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C6A15B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18688" y="1645920"/>
            <a:ext cx="2084831" cy="1371600"/>
          </a:xfrm>
          <a:prstGeom prst="roundRect">
            <a:avLst/>
          </a:prstGeom>
          <a:solidFill>
            <a:srgbClr val="091F1E"/>
          </a:solidFill>
          <a:ln w="13970">
            <a:solidFill>
              <a:srgbClr val="5671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355848" y="1801368"/>
            <a:ext cx="310896" cy="310896"/>
          </a:xfrm>
          <a:prstGeom prst="ellipse">
            <a:avLst/>
          </a:prstGeom>
          <a:solidFill>
            <a:srgbClr val="C6A15B"/>
          </a:solidFill>
          <a:ln>
            <a:solidFill>
              <a:srgbClr val="C6A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0E2E2C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1810512"/>
            <a:ext cx="1426463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CDDC0"/>
                </a:solidFill>
              </a:rPr>
              <a:t>CAPTURE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01568" y="2194560"/>
            <a:ext cx="1719072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>
                <a:solidFill>
                  <a:srgbClr val="D0D6D2"/>
                </a:solidFill>
              </a:rPr>
              <a:t>Record context, decision, exception, outcome, and staff action when intervention is needed.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31536" y="2139696"/>
            <a:ext cx="2560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C6A15B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42432" y="1645920"/>
            <a:ext cx="2084831" cy="1371600"/>
          </a:xfrm>
          <a:prstGeom prst="roundRect">
            <a:avLst/>
          </a:prstGeom>
          <a:solidFill>
            <a:srgbClr val="091F1E"/>
          </a:solidFill>
          <a:ln w="13970">
            <a:solidFill>
              <a:srgbClr val="5671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879592" y="1801368"/>
            <a:ext cx="310896" cy="310896"/>
          </a:xfrm>
          <a:prstGeom prst="ellipse">
            <a:avLst/>
          </a:prstGeom>
          <a:solidFill>
            <a:srgbClr val="C6A15B"/>
          </a:solidFill>
          <a:ln>
            <a:solidFill>
              <a:srgbClr val="C6A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0E2E2C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2784" y="1810512"/>
            <a:ext cx="1426463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CDDC0"/>
                </a:solidFill>
              </a:rPr>
              <a:t>PERSIST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25312" y="2194560"/>
            <a:ext cx="1719072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>
                <a:solidFill>
                  <a:srgbClr val="D0D6D2"/>
                </a:solidFill>
              </a:rPr>
              <a:t>Store events, resolutions, evidence, confidence, and provenance in persistent data stores.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2139696"/>
            <a:ext cx="2560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C6A15B"/>
                </a:solidFill>
                <a:latin typeface="Aptos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66175" y="1645920"/>
            <a:ext cx="2606040" cy="1371600"/>
          </a:xfrm>
          <a:prstGeom prst="roundRect">
            <a:avLst/>
          </a:prstGeom>
          <a:solidFill>
            <a:srgbClr val="091F1E"/>
          </a:solidFill>
          <a:ln w="13970">
            <a:solidFill>
              <a:srgbClr val="5671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403336" y="1801368"/>
            <a:ext cx="310896" cy="310896"/>
          </a:xfrm>
          <a:prstGeom prst="ellipse">
            <a:avLst/>
          </a:prstGeom>
          <a:solidFill>
            <a:srgbClr val="C6A15B"/>
          </a:solidFill>
          <a:ln>
            <a:solidFill>
              <a:srgbClr val="C6A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0E2E2C"/>
                </a:solidFill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96528" y="1810512"/>
            <a:ext cx="19476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ECDDC0"/>
                </a:solidFill>
              </a:rPr>
              <a:t>VALIDATE / APPLY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49055" y="2194560"/>
            <a:ext cx="224028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>
                <a:solidFill>
                  <a:srgbClr val="D0D6D2"/>
                </a:solidFill>
              </a:rPr>
              <a:t>Convert repeated patterns into rules, fallbacks, workflows, or new capabilities.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9808" y="3246120"/>
            <a:ext cx="10469880" cy="1691640"/>
          </a:xfrm>
          <a:prstGeom prst="roundRect">
            <a:avLst/>
          </a:prstGeom>
          <a:solidFill>
            <a:srgbClr val="0E2E2C"/>
          </a:solidFill>
          <a:ln w="15240">
            <a:solidFill>
              <a:srgbClr val="C6A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3401568"/>
            <a:ext cx="530352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350" b="1">
                <a:solidFill>
                  <a:srgbClr val="C6A15B"/>
                </a:solidFill>
              </a:rPr>
              <a:t>Second learning loop: human-resolved exceptions become future automation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05840" y="3813048"/>
            <a:ext cx="1298448" cy="512064"/>
          </a:xfrm>
          <a:prstGeom prst="roundRect">
            <a:avLst/>
          </a:prstGeom>
          <a:solidFill>
            <a:srgbClr val="082624"/>
          </a:solidFill>
          <a:ln w="15240">
            <a:solidFill>
              <a:srgbClr val="5C78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78992" y="3877056"/>
            <a:ext cx="1152144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00" b="1">
                <a:solidFill>
                  <a:srgbClr val="ECDDC0"/>
                </a:solidFill>
              </a:rPr>
              <a:t>Automation
exception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670048" y="3813048"/>
            <a:ext cx="1298448" cy="512064"/>
          </a:xfrm>
          <a:prstGeom prst="roundRect">
            <a:avLst/>
          </a:prstGeom>
          <a:solidFill>
            <a:srgbClr val="082624"/>
          </a:solidFill>
          <a:ln w="15240">
            <a:solidFill>
              <a:srgbClr val="5C78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0" y="3877056"/>
            <a:ext cx="1152144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00" b="1">
                <a:solidFill>
                  <a:srgbClr val="ECDDC0"/>
                </a:solidFill>
              </a:rPr>
              <a:t>Staff resolves
edge case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70832" y="3813048"/>
            <a:ext cx="1298448" cy="512064"/>
          </a:xfrm>
          <a:prstGeom prst="roundRect">
            <a:avLst/>
          </a:prstGeom>
          <a:solidFill>
            <a:srgbClr val="082624"/>
          </a:solidFill>
          <a:ln w="15240">
            <a:solidFill>
              <a:srgbClr val="5C78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43984" y="3877056"/>
            <a:ext cx="1152144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00" b="1">
                <a:solidFill>
                  <a:srgbClr val="ECDDC0"/>
                </a:solidFill>
              </a:rPr>
              <a:t>Capture action
+ outcome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035040" y="3813048"/>
            <a:ext cx="1298448" cy="512064"/>
          </a:xfrm>
          <a:prstGeom prst="roundRect">
            <a:avLst/>
          </a:prstGeom>
          <a:solidFill>
            <a:srgbClr val="082624"/>
          </a:solidFill>
          <a:ln w="15240">
            <a:solidFill>
              <a:srgbClr val="5C78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08192" y="3877056"/>
            <a:ext cx="1152144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00" b="1">
                <a:solidFill>
                  <a:srgbClr val="ECDDC0"/>
                </a:solidFill>
              </a:rPr>
              <a:t>Consolidate
pattern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644383" y="3813048"/>
            <a:ext cx="1298448" cy="512064"/>
          </a:xfrm>
          <a:prstGeom prst="roundRect">
            <a:avLst/>
          </a:prstGeom>
          <a:solidFill>
            <a:srgbClr val="082624"/>
          </a:solidFill>
          <a:ln w="15240">
            <a:solidFill>
              <a:srgbClr val="5C78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17536" y="3877056"/>
            <a:ext cx="1152144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00" b="1">
                <a:solidFill>
                  <a:srgbClr val="ECDDC0"/>
                </a:solidFill>
              </a:rPr>
              <a:t>Propose technical
solution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308592" y="3813048"/>
            <a:ext cx="1298448" cy="512064"/>
          </a:xfrm>
          <a:prstGeom prst="roundRect">
            <a:avLst/>
          </a:prstGeom>
          <a:solidFill>
            <a:srgbClr val="082624"/>
          </a:solidFill>
          <a:ln w="15240">
            <a:solidFill>
              <a:srgbClr val="5C78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81744" y="3877056"/>
            <a:ext cx="1152144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00" b="1">
                <a:solidFill>
                  <a:srgbClr val="ECDDC0"/>
                </a:solidFill>
              </a:rPr>
              <a:t>Review / approve
/ apply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31720" y="3895344"/>
            <a:ext cx="201168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800" b="1">
                <a:solidFill>
                  <a:srgbClr val="C6A15B"/>
                </a:solidFill>
              </a:rPr>
              <a:t>→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995928" y="3895344"/>
            <a:ext cx="201168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800" b="1">
                <a:solidFill>
                  <a:srgbClr val="C6A15B"/>
                </a:solidFill>
              </a:rPr>
              <a:t>→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0" y="3895344"/>
            <a:ext cx="201168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800" b="1">
                <a:solidFill>
                  <a:srgbClr val="C6A15B"/>
                </a:solidFill>
              </a:rPr>
              <a:t>→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69480" y="3895344"/>
            <a:ext cx="201168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800" b="1">
                <a:solidFill>
                  <a:srgbClr val="C6A15B"/>
                </a:solidFill>
              </a:rPr>
              <a:t>→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42832" y="3895344"/>
            <a:ext cx="201168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800" b="1">
                <a:solidFill>
                  <a:srgbClr val="C6A15B"/>
                </a:solidFill>
              </a:rPr>
              <a:t>→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0120" y="4507992"/>
            <a:ext cx="9966960" cy="2377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060" b="1">
                <a:solidFill>
                  <a:srgbClr val="C6A15B"/>
                </a:solidFill>
              </a:rPr>
              <a:t>Every workflow produces evidence. Every exception can produce new healthcare operational domain knowledge. Validated human resolutions become future automation.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" y="4956048"/>
            <a:ext cx="102412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40" b="0">
                <a:solidFill>
                  <a:srgbClr val="D0D6D2"/>
                </a:solidFill>
              </a:rPr>
              <a:t>Operational intelligence lives in persistent, versioned, auditable data—not inside vague “AI memory.”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ECDDC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Example: “Book me with Dr. Lee Tuesday afternoon.”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58368" y="1124712"/>
            <a:ext cx="10835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7C5C2"/>
                </a:solidFill>
              </a:rPr>
              <a:t>The language is easy. The operational decision is not.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13232" y="1737360"/>
            <a:ext cx="4983480" cy="3401568"/>
          </a:xfrm>
          <a:prstGeom prst="roundRect">
            <a:avLst>
              <a:gd name="adj" fmla="val 1758"/>
            </a:avLst>
          </a:prstGeom>
          <a:solidFill>
            <a:srgbClr val="081F1E"/>
          </a:solidFill>
          <a:ln w="10160">
            <a:solidFill>
              <a:srgbClr val="52706D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14400" y="1901952"/>
            <a:ext cx="4581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C6A15B"/>
                </a:solidFill>
              </a:rPr>
              <a:t>TASK AUTOMATION</a:t>
            </a:r>
            <a:endParaRPr lang="en-US" sz="740" dirty="0"/>
          </a:p>
        </p:txBody>
      </p:sp>
      <p:sp>
        <p:nvSpPr>
          <p:cNvPr id="6" name="Text 4"/>
          <p:cNvSpPr/>
          <p:nvPr/>
        </p:nvSpPr>
        <p:spPr>
          <a:xfrm>
            <a:off x="914400" y="2176272"/>
            <a:ext cx="4581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CDDC0"/>
                </a:solidFill>
              </a:rPr>
              <a:t>Generic AI agent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914400" y="2651760"/>
            <a:ext cx="4581144" cy="1920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0D6D2"/>
                </a:solidFill>
              </a:rPr>
              <a:t>1. Understands the request</a:t>
            </a:r>
            <a:endParaRPr lang="en-US" sz="1040" dirty="0"/>
          </a:p>
          <a:p>
            <a:pPr indent="0" marL="0">
              <a:buNone/>
            </a:pPr>
            <a:r>
              <a:rPr lang="en-US" sz="1150" dirty="0">
                <a:solidFill>
                  <a:srgbClr val="D0D6D2"/>
                </a:solidFill>
              </a:rPr>
              <a:t>2. Finds an open slot</a:t>
            </a:r>
            <a:endParaRPr lang="en-US" sz="1040" dirty="0"/>
          </a:p>
          <a:p>
            <a:pPr indent="0" marL="0">
              <a:buNone/>
            </a:pPr>
            <a:r>
              <a:rPr lang="en-US" sz="1150" dirty="0">
                <a:solidFill>
                  <a:srgbClr val="D0D6D2"/>
                </a:solidFill>
              </a:rPr>
              <a:t>3. Books Tuesday at 2 PM</a:t>
            </a:r>
            <a:endParaRPr lang="en-US" sz="1040" dirty="0"/>
          </a:p>
          <a:p>
            <a:pPr indent="0" marL="0">
              <a:buNone/>
            </a:pPr>
            <a:endParaRPr lang="en-US" sz="1040" dirty="0"/>
          </a:p>
          <a:p>
            <a:pPr indent="0" marL="0">
              <a:buNone/>
            </a:pPr>
            <a:r>
              <a:rPr lang="en-US" sz="1150" dirty="0">
                <a:solidFill>
                  <a:srgbClr val="D0D6D2"/>
                </a:solidFill>
              </a:rPr>
              <a:t>Technically correct. Operationally incomplete.</a:t>
            </a:r>
            <a:endParaRPr lang="en-US" sz="1040" dirty="0"/>
          </a:p>
        </p:txBody>
      </p:sp>
      <p:sp>
        <p:nvSpPr>
          <p:cNvPr id="8" name="Shape 6"/>
          <p:cNvSpPr/>
          <p:nvPr/>
        </p:nvSpPr>
        <p:spPr>
          <a:xfrm>
            <a:off x="6492240" y="1737360"/>
            <a:ext cx="4983480" cy="3401568"/>
          </a:xfrm>
          <a:prstGeom prst="roundRect">
            <a:avLst>
              <a:gd name="adj" fmla="val 1758"/>
            </a:avLst>
          </a:prstGeom>
          <a:solidFill>
            <a:srgbClr val="214A46"/>
          </a:solidFill>
          <a:ln w="10160">
            <a:solidFill>
              <a:srgbClr val="C6A15B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693408" y="1901952"/>
            <a:ext cx="4581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C6A15B"/>
                </a:solidFill>
              </a:rPr>
              <a:t>OPERATIONAL DECISION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6693408" y="2176272"/>
            <a:ext cx="4581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CDDC0"/>
                </a:solidFill>
              </a:rPr>
              <a:t>HaloVox with Operational Intelligence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693408" y="2651760"/>
            <a:ext cx="4581144" cy="1920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0D6D2"/>
                </a:solidFill>
              </a:rPr>
              <a:t>1. Identifies visit type and required duration</a:t>
            </a:r>
            <a:endParaRPr lang="en-US" sz="1040" dirty="0"/>
          </a:p>
          <a:p>
            <a:pPr indent="0" marL="0">
              <a:buNone/>
            </a:pPr>
            <a:r>
              <a:rPr lang="en-US" sz="1150" dirty="0">
                <a:solidFill>
                  <a:srgbClr val="D0D6D2"/>
                </a:solidFill>
              </a:rPr>
              <a:t>2. Checks provider-specific rules</a:t>
            </a:r>
            <a:endParaRPr lang="en-US" sz="1040" dirty="0"/>
          </a:p>
          <a:p>
            <a:pPr indent="0" marL="0">
              <a:buNone/>
            </a:pPr>
            <a:r>
              <a:rPr lang="en-US" sz="1150" dirty="0">
                <a:solidFill>
                  <a:srgbClr val="D0D6D2"/>
                </a:solidFill>
              </a:rPr>
              <a:t>3. Verifies plan acceptance / referral requirements</a:t>
            </a:r>
            <a:endParaRPr lang="en-US" sz="1040" dirty="0"/>
          </a:p>
          <a:p>
            <a:pPr indent="0" marL="0">
              <a:buNone/>
            </a:pPr>
            <a:r>
              <a:rPr lang="en-US" sz="1150" dirty="0">
                <a:solidFill>
                  <a:srgbClr val="D0D6D2"/>
                </a:solidFill>
              </a:rPr>
              <a:t>4. Detects missing prerequisite</a:t>
            </a:r>
            <a:endParaRPr lang="en-US" sz="1040" dirty="0"/>
          </a:p>
          <a:p>
            <a:pPr indent="0" marL="0">
              <a:buNone/>
            </a:pPr>
            <a:r>
              <a:rPr lang="en-US" sz="1150" dirty="0">
                <a:solidFill>
                  <a:srgbClr val="D0D6D2"/>
                </a:solidFill>
              </a:rPr>
              <a:t>5. Chooses the correct slot or next action</a:t>
            </a:r>
            <a:endParaRPr lang="en-US" sz="1040" dirty="0"/>
          </a:p>
          <a:p>
            <a:pPr indent="0" marL="0">
              <a:buNone/>
            </a:pPr>
            <a:r>
              <a:rPr lang="en-US" sz="1150" dirty="0">
                <a:solidFill>
                  <a:srgbClr val="D0D6D2"/>
                </a:solidFill>
              </a:rPr>
              <a:t>6. Learns from outcome</a:t>
            </a:r>
            <a:endParaRPr lang="en-US" sz="1040" dirty="0"/>
          </a:p>
        </p:txBody>
      </p:sp>
      <p:sp>
        <p:nvSpPr>
          <p:cNvPr id="12" name="Shape 10"/>
          <p:cNvSpPr/>
          <p:nvPr/>
        </p:nvSpPr>
        <p:spPr>
          <a:xfrm>
            <a:off x="5806440" y="3246120"/>
            <a:ext cx="502920" cy="438912"/>
          </a:xfrm>
          <a:prstGeom prst="chevron">
            <a:avLst/>
          </a:prstGeom>
          <a:solidFill>
            <a:srgbClr val="C6A15B"/>
          </a:solidFill>
          <a:ln w="12700">
            <a:solidFill>
              <a:srgbClr val="C6A15B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627632" y="4983480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C6A15B"/>
                </a:solidFill>
              </a:rPr>
              <a:t>UNDERSTANDS WORDS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60920" y="4983480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C6A15B"/>
                </a:solidFill>
              </a:rPr>
              <a:t>UNDERSTANDS THE WORK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7453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80">
                <a:solidFill>
                  <a:srgbClr val="93A9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ECDDC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Example: eligibility evolves from a feature into intelligence.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58368" y="1124712"/>
            <a:ext cx="10835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1450">
                <a:solidFill>
                  <a:srgbClr val="D0D6D2"/>
                </a:solidFill>
              </a:rPr>
              <a:t>The same workflow becomes more valuable as HaloVox accumulates healthcare operational domain knowledge.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13232" y="1691640"/>
            <a:ext cx="2057400" cy="566928"/>
          </a:xfrm>
          <a:prstGeom prst="roundRect">
            <a:avLst>
              <a:gd name="adj" fmla="val 8065"/>
            </a:avLst>
          </a:prstGeom>
          <a:solidFill>
            <a:srgbClr val="214A46"/>
          </a:solidFill>
          <a:ln w="12700">
            <a:solidFill>
              <a:srgbClr val="52706D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68680" y="18562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CDDC0"/>
                </a:solidFill>
              </a:rPr>
              <a:t>AUTOMATE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944368" y="1773936"/>
            <a:ext cx="457200" cy="384048"/>
          </a:xfrm>
          <a:prstGeom prst="chevron">
            <a:avLst/>
          </a:prstGeom>
          <a:solidFill>
            <a:srgbClr val="C6A15B"/>
          </a:solidFill>
          <a:ln w="12700">
            <a:solidFill>
              <a:srgbClr val="C6A15B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66160" y="1719072"/>
            <a:ext cx="7818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7C5C2"/>
                </a:solidFill>
              </a:rPr>
              <a:t>Submit eligibility request and return coverage information.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13232" y="2514600"/>
            <a:ext cx="2057400" cy="566928"/>
          </a:xfrm>
          <a:prstGeom prst="roundRect">
            <a:avLst>
              <a:gd name="adj" fmla="val 8065"/>
            </a:avLst>
          </a:prstGeom>
          <a:solidFill>
            <a:srgbClr val="214A46"/>
          </a:solidFill>
          <a:ln w="12700">
            <a:solidFill>
              <a:srgbClr val="52706D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68680" y="267919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CDDC0"/>
                </a:solidFill>
              </a:rPr>
              <a:t>LEARN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944368" y="2596896"/>
            <a:ext cx="457200" cy="384048"/>
          </a:xfrm>
          <a:prstGeom prst="chevron">
            <a:avLst/>
          </a:prstGeom>
          <a:solidFill>
            <a:srgbClr val="C6A15B"/>
          </a:solidFill>
          <a:ln w="12700">
            <a:solidFill>
              <a:srgbClr val="C6A15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566160" y="2542032"/>
            <a:ext cx="7818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7C5C2"/>
                </a:solidFill>
              </a:rPr>
              <a:t>Know which benefits this clinic needs and how this payer typically responds.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13232" y="3337560"/>
            <a:ext cx="2057400" cy="566928"/>
          </a:xfrm>
          <a:prstGeom prst="roundRect">
            <a:avLst>
              <a:gd name="adj" fmla="val 8065"/>
            </a:avLst>
          </a:prstGeom>
          <a:solidFill>
            <a:srgbClr val="214A46"/>
          </a:solidFill>
          <a:ln w="12700">
            <a:solidFill>
              <a:srgbClr val="52706D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68680" y="350215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CDDC0"/>
                </a:solidFill>
              </a:rPr>
              <a:t>DECIDE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944368" y="3419856"/>
            <a:ext cx="457200" cy="384048"/>
          </a:xfrm>
          <a:prstGeom prst="chevron">
            <a:avLst/>
          </a:prstGeom>
          <a:solidFill>
            <a:srgbClr val="C6A15B"/>
          </a:solidFill>
          <a:ln w="12700">
            <a:solidFill>
              <a:srgbClr val="C6A15B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566160" y="3364992"/>
            <a:ext cx="7818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7C5C2"/>
                </a:solidFill>
              </a:rPr>
              <a:t>Recognize ambiguous responses and choose the next verification path.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13232" y="4160520"/>
            <a:ext cx="2057400" cy="566928"/>
          </a:xfrm>
          <a:prstGeom prst="roundRect">
            <a:avLst>
              <a:gd name="adj" fmla="val 8065"/>
            </a:avLst>
          </a:prstGeom>
          <a:solidFill>
            <a:srgbClr val="214A46"/>
          </a:solidFill>
          <a:ln w="12700">
            <a:solidFill>
              <a:srgbClr val="52706D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68680" y="432511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CDDC0"/>
                </a:solidFill>
              </a:rPr>
              <a:t>IMPROVE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944368" y="4242816"/>
            <a:ext cx="457200" cy="384048"/>
          </a:xfrm>
          <a:prstGeom prst="chevron">
            <a:avLst/>
          </a:prstGeom>
          <a:solidFill>
            <a:srgbClr val="C6A15B"/>
          </a:solidFill>
          <a:ln w="12700">
            <a:solidFill>
              <a:srgbClr val="C6A15B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3566160" y="4187952"/>
            <a:ext cx="7818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7C5C2"/>
                </a:solidFill>
              </a:rPr>
              <a:t>Learn which method works best for this payer, plan, time, and context.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13232" y="4983480"/>
            <a:ext cx="2057400" cy="566928"/>
          </a:xfrm>
          <a:prstGeom prst="roundRect">
            <a:avLst>
              <a:gd name="adj" fmla="val 8065"/>
            </a:avLst>
          </a:prstGeom>
          <a:solidFill>
            <a:srgbClr val="C6A15B"/>
          </a:solidFill>
          <a:ln w="12700">
            <a:solidFill>
              <a:srgbClr val="C6A15B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68680" y="514807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2E2C"/>
                </a:solidFill>
              </a:rPr>
              <a:t>AUTONOMOUS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944368" y="5065776"/>
            <a:ext cx="457200" cy="384048"/>
          </a:xfrm>
          <a:prstGeom prst="chevron">
            <a:avLst/>
          </a:prstGeom>
          <a:solidFill>
            <a:srgbClr val="C6A15B"/>
          </a:solidFill>
          <a:ln w="12700">
            <a:solidFill>
              <a:srgbClr val="C6A15B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3566160" y="5010912"/>
            <a:ext cx="7818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ECDDC0"/>
                </a:solidFill>
              </a:rPr>
              <a:t>Ensure scheduled patients are verified before visits; surface only exceptions.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60120" y="5897880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6A15B"/>
                </a:solidFill>
              </a:rPr>
              <a:t>The workflow is not the moat. The accumulated experience surrounding the workflow is.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7453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80">
                <a:solidFill>
                  <a:srgbClr val="93A9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ECDDC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core asset is a closed learning loop.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58368" y="1124712"/>
            <a:ext cx="10835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1450">
                <a:solidFill>
                  <a:srgbClr val="D0D6D2"/>
                </a:solidFill>
              </a:rPr>
              <a:t>HaloVox continuously converts operational experience into healthcare operational domain knowledge.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51560" y="2788920"/>
            <a:ext cx="1828800" cy="960120"/>
          </a:xfrm>
          <a:prstGeom prst="ellipse">
            <a:avLst/>
          </a:prstGeom>
          <a:solidFill>
            <a:srgbClr val="163B38"/>
          </a:solidFill>
          <a:ln w="12700">
            <a:solidFill>
              <a:srgbClr val="52706D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216152" y="3008376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CDDC0"/>
                </a:solidFill>
              </a:rPr>
              <a:t>OBSERVE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216152" y="3291840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B7C5C2"/>
                </a:solidFill>
              </a:rPr>
              <a:t>Request + context</a:t>
            </a:r>
            <a:endParaRPr lang="en-US" sz="830" dirty="0"/>
          </a:p>
        </p:txBody>
      </p:sp>
      <p:sp>
        <p:nvSpPr>
          <p:cNvPr id="7" name="Shape 5"/>
          <p:cNvSpPr/>
          <p:nvPr/>
        </p:nvSpPr>
        <p:spPr>
          <a:xfrm>
            <a:off x="3063240" y="1755648"/>
            <a:ext cx="1828800" cy="960120"/>
          </a:xfrm>
          <a:prstGeom prst="ellipse">
            <a:avLst/>
          </a:prstGeom>
          <a:solidFill>
            <a:srgbClr val="163B38"/>
          </a:solidFill>
          <a:ln w="12700">
            <a:solidFill>
              <a:srgbClr val="52706D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227832" y="1975104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CDDC0"/>
                </a:solidFill>
              </a:rPr>
              <a:t>DECIDE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27832" y="2258568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B7C5C2"/>
                </a:solidFill>
              </a:rPr>
              <a:t>Best next action</a:t>
            </a:r>
            <a:endParaRPr lang="en-US" sz="830" dirty="0"/>
          </a:p>
        </p:txBody>
      </p:sp>
      <p:sp>
        <p:nvSpPr>
          <p:cNvPr id="10" name="Shape 8"/>
          <p:cNvSpPr/>
          <p:nvPr/>
        </p:nvSpPr>
        <p:spPr>
          <a:xfrm>
            <a:off x="5623560" y="1755648"/>
            <a:ext cx="1828800" cy="960120"/>
          </a:xfrm>
          <a:prstGeom prst="ellipse">
            <a:avLst/>
          </a:prstGeom>
          <a:solidFill>
            <a:srgbClr val="163B38"/>
          </a:solidFill>
          <a:ln w="12700">
            <a:solidFill>
              <a:srgbClr val="52706D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788152" y="1975104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CDDC0"/>
                </a:solidFill>
              </a:rPr>
              <a:t>EXECUTE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788152" y="2258568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B7C5C2"/>
                </a:solidFill>
              </a:rPr>
              <a:t>Run workflow</a:t>
            </a:r>
            <a:endParaRPr lang="en-US" sz="830" dirty="0"/>
          </a:p>
        </p:txBody>
      </p:sp>
      <p:sp>
        <p:nvSpPr>
          <p:cNvPr id="13" name="Shape 11"/>
          <p:cNvSpPr/>
          <p:nvPr/>
        </p:nvSpPr>
        <p:spPr>
          <a:xfrm>
            <a:off x="8183880" y="2788920"/>
            <a:ext cx="1828800" cy="960120"/>
          </a:xfrm>
          <a:prstGeom prst="ellipse">
            <a:avLst/>
          </a:prstGeom>
          <a:solidFill>
            <a:srgbClr val="163B38"/>
          </a:solidFill>
          <a:ln w="12700">
            <a:solidFill>
              <a:srgbClr val="52706D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348472" y="3008376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CDDC0"/>
                </a:solidFill>
              </a:rPr>
              <a:t>MEASURE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348472" y="3291840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B7C5C2"/>
                </a:solidFill>
              </a:rPr>
              <a:t>Outcome + exceptions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4709160" y="4526280"/>
            <a:ext cx="1828800" cy="960120"/>
          </a:xfrm>
          <a:prstGeom prst="ellipse">
            <a:avLst/>
          </a:prstGeom>
          <a:solidFill>
            <a:srgbClr val="C6A15B"/>
          </a:solidFill>
          <a:ln w="12700">
            <a:solidFill>
              <a:srgbClr val="C6A15B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873752" y="4745736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2E2C"/>
                </a:solidFill>
              </a:rPr>
              <a:t>LEARN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73752" y="5029200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081F1E"/>
                </a:solidFill>
              </a:rPr>
              <a:t>Update knowledge</a:t>
            </a:r>
            <a:endParaRPr lang="en-US" sz="830" dirty="0"/>
          </a:p>
        </p:txBody>
      </p:sp>
      <p:sp>
        <p:nvSpPr>
          <p:cNvPr id="19" name="Shape 17"/>
          <p:cNvSpPr/>
          <p:nvPr/>
        </p:nvSpPr>
        <p:spPr>
          <a:xfrm>
            <a:off x="2816352" y="3054096"/>
            <a:ext cx="274320" cy="-603504"/>
          </a:xfrm>
          <a:prstGeom prst="line">
            <a:avLst/>
          </a:prstGeom>
          <a:noFill/>
          <a:ln w="25400">
            <a:solidFill>
              <a:srgbClr val="C6A15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4846320" y="2212848"/>
            <a:ext cx="685800" cy="0"/>
          </a:xfrm>
          <a:prstGeom prst="line">
            <a:avLst/>
          </a:prstGeom>
          <a:noFill/>
          <a:ln w="25400">
            <a:solidFill>
              <a:srgbClr val="C6A15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7452360" y="2468880"/>
            <a:ext cx="704088" cy="420624"/>
          </a:xfrm>
          <a:prstGeom prst="line">
            <a:avLst/>
          </a:prstGeom>
          <a:noFill/>
          <a:ln w="25400">
            <a:solidFill>
              <a:srgbClr val="C6A15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7955280" y="3703320"/>
            <a:ext cx="-1572768" cy="896112"/>
          </a:xfrm>
          <a:prstGeom prst="line">
            <a:avLst/>
          </a:prstGeom>
          <a:noFill/>
          <a:ln w="25400">
            <a:solidFill>
              <a:srgbClr val="C6A15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4681728" y="4617720"/>
            <a:ext cx="-2029968" cy="-960120"/>
          </a:xfrm>
          <a:prstGeom prst="line">
            <a:avLst/>
          </a:prstGeom>
          <a:noFill/>
          <a:ln w="25400">
            <a:solidFill>
              <a:srgbClr val="C6A15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2103120" y="5650992"/>
            <a:ext cx="8001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CDDC0"/>
                </a:solidFill>
              </a:rPr>
              <a:t>Every completed workflow should leave the platform smarter than before.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7453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80">
                <a:solidFill>
                  <a:srgbClr val="93A9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2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6A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280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ECDDC0"/>
                </a:solidFill>
                <a:latin typeface="Aptos"/>
              </a:rPr>
              <a:t>HALOVOX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934456"/>
            <a:ext cx="10881360" cy="9144"/>
          </a:xfrm>
          <a:prstGeom prst="rect">
            <a:avLst/>
          </a:prstGeom>
          <a:solidFill>
            <a:srgbClr val="5671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5971032"/>
            <a:ext cx="224028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700">
                <a:solidFill>
                  <a:srgbClr val="D0D6D2"/>
                </a:solidFill>
              </a:rPr>
              <a:t>CONFIDENTIAL • INVESTOR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5971032"/>
            <a:ext cx="54864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700">
                <a:solidFill>
                  <a:srgbClr val="ECDDC0"/>
                </a:solidFill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66928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300" b="1">
                <a:solidFill>
                  <a:srgbClr val="ECDDC0"/>
                </a:solidFill>
              </a:rPr>
              <a:t>Every clinic makes HaloVox smarter.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207008"/>
            <a:ext cx="10241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20">
                <a:solidFill>
                  <a:srgbClr val="D0D6D2"/>
                </a:solidFill>
              </a:rPr>
              <a:t>HaloVox is a growing intelligence system: every clinic, workflow, exception, human resolution, and outcome expands accumulated healthcare operational domain knowledge.</a:t>
            </a:r>
          </a:p>
        </p:txBody>
      </p:sp>
      <p:sp>
        <p:nvSpPr>
          <p:cNvPr id="10" name="Oval 9"/>
          <p:cNvSpPr/>
          <p:nvPr/>
        </p:nvSpPr>
        <p:spPr>
          <a:xfrm>
            <a:off x="4389120" y="2441448"/>
            <a:ext cx="2697480" cy="1143000"/>
          </a:xfrm>
          <a:prstGeom prst="ellipse">
            <a:avLst/>
          </a:prstGeom>
          <a:solidFill>
            <a:srgbClr val="091F1E"/>
          </a:solidFill>
          <a:ln w="22860">
            <a:solidFill>
              <a:srgbClr val="C6A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90872" y="2761488"/>
            <a:ext cx="2103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C6A15B"/>
                </a:solidFill>
                <a:latin typeface="Aptos"/>
              </a:rPr>
              <a:t>OPERATIONAL
INTELLIGENCE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1874519"/>
            <a:ext cx="1783080" cy="914400"/>
          </a:xfrm>
          <a:prstGeom prst="roundRect">
            <a:avLst/>
          </a:prstGeom>
          <a:solidFill>
            <a:srgbClr val="113936"/>
          </a:solidFill>
          <a:ln w="13970">
            <a:solidFill>
              <a:srgbClr val="5671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78407" y="2002536"/>
            <a:ext cx="310896" cy="310896"/>
          </a:xfrm>
          <a:prstGeom prst="ellipse">
            <a:avLst/>
          </a:prstGeom>
          <a:solidFill>
            <a:srgbClr val="C6A15B"/>
          </a:solidFill>
          <a:ln>
            <a:solidFill>
              <a:srgbClr val="C6A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0E2E2C"/>
                </a:solidFill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020824"/>
            <a:ext cx="1188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ECDDC0"/>
                </a:solidFill>
                <a:latin typeface="Aptos"/>
              </a:rPr>
              <a:t>More clinics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2377439"/>
            <a:ext cx="14173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69" b="0" i="0">
                <a:solidFill>
                  <a:srgbClr val="D0D6D2"/>
                </a:solidFill>
                <a:latin typeface="Aptos"/>
              </a:rPr>
              <a:t>More real operating environments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80360" y="1645920"/>
            <a:ext cx="1783080" cy="914400"/>
          </a:xfrm>
          <a:prstGeom prst="roundRect">
            <a:avLst/>
          </a:prstGeom>
          <a:solidFill>
            <a:srgbClr val="113936"/>
          </a:solidFill>
          <a:ln w="13970">
            <a:solidFill>
              <a:srgbClr val="5671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90088" y="1773936"/>
            <a:ext cx="310896" cy="310896"/>
          </a:xfrm>
          <a:prstGeom prst="ellipse">
            <a:avLst/>
          </a:prstGeom>
          <a:solidFill>
            <a:srgbClr val="C6A15B"/>
          </a:solidFill>
          <a:ln>
            <a:solidFill>
              <a:srgbClr val="C6A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0E2E2C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1792224"/>
            <a:ext cx="1188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ECDDC0"/>
                </a:solidFill>
                <a:latin typeface="Aptos"/>
              </a:rPr>
              <a:t>More workflows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3240" y="2148840"/>
            <a:ext cx="14173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69" b="0" i="0">
                <a:solidFill>
                  <a:srgbClr val="D0D6D2"/>
                </a:solidFill>
                <a:latin typeface="Aptos"/>
              </a:rPr>
              <a:t>More executions and edge cases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69480" y="1645920"/>
            <a:ext cx="1783080" cy="914400"/>
          </a:xfrm>
          <a:prstGeom prst="roundRect">
            <a:avLst/>
          </a:prstGeom>
          <a:solidFill>
            <a:srgbClr val="113936"/>
          </a:solidFill>
          <a:ln w="13970">
            <a:solidFill>
              <a:srgbClr val="5671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79208" y="1773936"/>
            <a:ext cx="310896" cy="310896"/>
          </a:xfrm>
          <a:prstGeom prst="ellipse">
            <a:avLst/>
          </a:prstGeom>
          <a:solidFill>
            <a:srgbClr val="C6A15B"/>
          </a:solidFill>
          <a:ln>
            <a:solidFill>
              <a:srgbClr val="C6A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0E2E2C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1792224"/>
            <a:ext cx="1188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ECDDC0"/>
                </a:solidFill>
              </a:rPr>
              <a:t>Human
resolutions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60" y="2148840"/>
            <a:ext cx="14173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19">
                <a:solidFill>
                  <a:srgbClr val="D0D6D2"/>
                </a:solidFill>
              </a:rPr>
              <a:t>Manual fixes, edge cases, outcomes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81160" y="1874519"/>
            <a:ext cx="1783080" cy="914400"/>
          </a:xfrm>
          <a:prstGeom prst="roundRect">
            <a:avLst/>
          </a:prstGeom>
          <a:solidFill>
            <a:srgbClr val="113936"/>
          </a:solidFill>
          <a:ln w="13970">
            <a:solidFill>
              <a:srgbClr val="5671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90888" y="2002536"/>
            <a:ext cx="310896" cy="310896"/>
          </a:xfrm>
          <a:prstGeom prst="ellipse">
            <a:avLst/>
          </a:prstGeom>
          <a:solidFill>
            <a:srgbClr val="C6A15B"/>
          </a:solidFill>
          <a:ln>
            <a:solidFill>
              <a:srgbClr val="C6A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0E2E2C"/>
                </a:solidFill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0" y="2020824"/>
            <a:ext cx="11887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ECDDC0"/>
                </a:solidFill>
              </a:rPr>
              <a:t>Validated
knowledge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4040" y="2377439"/>
            <a:ext cx="141732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">
                <a:solidFill>
                  <a:srgbClr val="D0D6D2"/>
                </a:solidFill>
              </a:rPr>
              <a:t>Approved rules
with evidence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69480" y="4069080"/>
            <a:ext cx="1783080" cy="914400"/>
          </a:xfrm>
          <a:prstGeom prst="roundRect">
            <a:avLst/>
          </a:prstGeom>
          <a:solidFill>
            <a:srgbClr val="113936"/>
          </a:solidFill>
          <a:ln w="13970">
            <a:solidFill>
              <a:srgbClr val="5671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379208" y="4197096"/>
            <a:ext cx="310896" cy="310896"/>
          </a:xfrm>
          <a:prstGeom prst="ellipse">
            <a:avLst/>
          </a:prstGeom>
          <a:solidFill>
            <a:srgbClr val="C6A15B"/>
          </a:solidFill>
          <a:ln>
            <a:solidFill>
              <a:srgbClr val="C6A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0E2E2C"/>
                </a:solidFill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4215384"/>
            <a:ext cx="1188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ECDDC0"/>
                </a:solidFill>
                <a:latin typeface="Aptos"/>
              </a:rPr>
              <a:t>Better decisions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52360" y="4572000"/>
            <a:ext cx="14173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69" b="0" i="0">
                <a:solidFill>
                  <a:srgbClr val="D0D6D2"/>
                </a:solidFill>
                <a:latin typeface="Aptos"/>
              </a:rPr>
              <a:t>Higher-confidence next actions and fallbacks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880360" y="4069080"/>
            <a:ext cx="1783080" cy="914400"/>
          </a:xfrm>
          <a:prstGeom prst="roundRect">
            <a:avLst/>
          </a:prstGeom>
          <a:solidFill>
            <a:srgbClr val="113936"/>
          </a:solidFill>
          <a:ln w="13970">
            <a:solidFill>
              <a:srgbClr val="5671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990088" y="4197096"/>
            <a:ext cx="310896" cy="310896"/>
          </a:xfrm>
          <a:prstGeom prst="ellipse">
            <a:avLst/>
          </a:prstGeom>
          <a:solidFill>
            <a:srgbClr val="C6A15B"/>
          </a:solidFill>
          <a:ln>
            <a:solidFill>
              <a:srgbClr val="C6A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0E2E2C"/>
                </a:solidFill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83280" y="4215384"/>
            <a:ext cx="1188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ECDDC0"/>
                </a:solidFill>
                <a:latin typeface="Aptos"/>
              </a:rPr>
              <a:t>Higher value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63240" y="4572000"/>
            <a:ext cx="14173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69" b="0" i="0">
                <a:solidFill>
                  <a:srgbClr val="D0D6D2"/>
                </a:solidFill>
                <a:latin typeface="Aptos"/>
              </a:rPr>
              <a:t>Less staff intervention, stronger retention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70048" y="2148840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C6A15B"/>
                </a:solidFill>
                <a:latin typeface="Aptos"/>
              </a:rPr>
              <a:t>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95160" y="2148840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C6A15B"/>
                </a:solidFill>
                <a:latin typeface="Aptos"/>
              </a:rPr>
              <a:t>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70848" y="2148840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C6A15B"/>
                </a:solidFill>
                <a:latin typeface="Aptos"/>
              </a:rPr>
              <a:t>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85248" y="2907792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C6A15B"/>
                </a:solidFill>
                <a:latin typeface="Aptos"/>
              </a:rPr>
              <a:t>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70848" y="4379976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C6A15B"/>
                </a:solidFill>
                <a:latin typeface="Aptos"/>
              </a:rPr>
              <a:t>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19472" y="4379976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C6A15B"/>
                </a:solidFill>
                <a:latin typeface="Aptos"/>
              </a:rPr>
              <a:t>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91056" y="3063240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C6A15B"/>
                </a:solidFill>
                <a:latin typeface="Aptos"/>
              </a:rPr>
              <a:t>↑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68680" y="5349240"/>
            <a:ext cx="10195560" cy="438912"/>
          </a:xfrm>
          <a:prstGeom prst="roundRect">
            <a:avLst/>
          </a:prstGeom>
          <a:solidFill>
            <a:srgbClr val="113936"/>
          </a:solidFill>
          <a:ln w="13970">
            <a:solidFill>
              <a:srgbClr val="C6A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78992" y="5175504"/>
            <a:ext cx="9784080" cy="530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ctr"/>
            <a:r>
              <a:rPr sz="1100" b="1">
                <a:solidFill>
                  <a:srgbClr val="C6A15B"/>
                </a:solidFill>
              </a:rPr>
              <a:t>HaloVox accumulates validated healthcare operational domain knowledge that improves the next workflow.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ECDDC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product stack separates replaceable AI from proprietary intelligence.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58368" y="1124712"/>
            <a:ext cx="10835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7C5C2"/>
                </a:solidFill>
              </a:rPr>
              <a:t>Models can change. Operational knowledge and workflow experience persist.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914400" y="1627632"/>
            <a:ext cx="10332720" cy="658368"/>
          </a:xfrm>
          <a:prstGeom prst="roundRect">
            <a:avLst>
              <a:gd name="adj" fmla="val 5556"/>
            </a:avLst>
          </a:prstGeom>
          <a:solidFill>
            <a:srgbClr val="214A46"/>
          </a:solidFill>
          <a:ln w="8890">
            <a:solidFill>
              <a:srgbClr val="5270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0" y="180136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CDDC0"/>
                </a:solidFill>
              </a:rPr>
              <a:t>EXPERIENCES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154680" y="1792224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ECDDC0"/>
                </a:solidFill>
              </a:rPr>
              <a:t>Voice • SMS • Web • Staff Console</a:t>
            </a:r>
            <a:endParaRPr lang="en-US" sz="1060" dirty="0"/>
          </a:p>
        </p:txBody>
      </p:sp>
      <p:sp>
        <p:nvSpPr>
          <p:cNvPr id="7" name="Shape 5"/>
          <p:cNvSpPr/>
          <p:nvPr/>
        </p:nvSpPr>
        <p:spPr>
          <a:xfrm>
            <a:off x="914400" y="2505456"/>
            <a:ext cx="10332720" cy="658368"/>
          </a:xfrm>
          <a:prstGeom prst="roundRect">
            <a:avLst>
              <a:gd name="adj" fmla="val 5556"/>
            </a:avLst>
          </a:prstGeom>
          <a:solidFill>
            <a:srgbClr val="163B38"/>
          </a:solidFill>
          <a:ln w="8890">
            <a:solidFill>
              <a:srgbClr val="5270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267919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CDDC0"/>
                </a:solidFill>
              </a:rPr>
              <a:t>AGENT APPLICATIONS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154680" y="2670048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ECDDC0"/>
                </a:solidFill>
              </a:rPr>
              <a:t>Reception • Eligibility • Scheduling • Referrals • Prior Auth</a:t>
            </a:r>
            <a:endParaRPr lang="en-US" sz="1060" dirty="0"/>
          </a:p>
        </p:txBody>
      </p:sp>
      <p:sp>
        <p:nvSpPr>
          <p:cNvPr id="10" name="Shape 8"/>
          <p:cNvSpPr/>
          <p:nvPr/>
        </p:nvSpPr>
        <p:spPr>
          <a:xfrm>
            <a:off x="914400" y="3383280"/>
            <a:ext cx="10332720" cy="658368"/>
          </a:xfrm>
          <a:prstGeom prst="roundRect">
            <a:avLst>
              <a:gd name="adj" fmla="val 5556"/>
            </a:avLst>
          </a:prstGeom>
          <a:solidFill>
            <a:srgbClr val="C6A15B"/>
          </a:solidFill>
          <a:ln w="22860">
            <a:solidFill>
              <a:srgbClr val="C6A1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355701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2E2C"/>
                </a:solidFill>
              </a:rPr>
              <a:t>OPERATIONAL INTELLIGENCE LAYER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154680" y="3547872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0E2E2C"/>
                </a:solidFill>
              </a:rPr>
              <a:t>Knowledge • Decision • Learning • Outcome Intelligence • Optimization</a:t>
            </a:r>
            <a:endParaRPr lang="en-US" sz="1060" dirty="0"/>
          </a:p>
        </p:txBody>
      </p:sp>
      <p:sp>
        <p:nvSpPr>
          <p:cNvPr id="13" name="Shape 11"/>
          <p:cNvSpPr/>
          <p:nvPr/>
        </p:nvSpPr>
        <p:spPr>
          <a:xfrm>
            <a:off x="914400" y="4261104"/>
            <a:ext cx="10332720" cy="658368"/>
          </a:xfrm>
          <a:prstGeom prst="roundRect">
            <a:avLst>
              <a:gd name="adj" fmla="val 5556"/>
            </a:avLst>
          </a:prstGeom>
          <a:solidFill>
            <a:srgbClr val="163B38"/>
          </a:solidFill>
          <a:ln w="8890">
            <a:solidFill>
              <a:srgbClr val="52706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8720" y="44348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CDDC0"/>
                </a:solidFill>
              </a:rPr>
              <a:t>CONNECTIVITY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154680" y="4425696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ECDDC0"/>
                </a:solidFill>
              </a:rPr>
              <a:t>EMRs • Payers • Clearinghouses • Communications • Partner APIs</a:t>
            </a:r>
            <a:endParaRPr lang="en-US" sz="1060" dirty="0"/>
          </a:p>
        </p:txBody>
      </p:sp>
      <p:sp>
        <p:nvSpPr>
          <p:cNvPr id="16" name="Shape 14"/>
          <p:cNvSpPr/>
          <p:nvPr/>
        </p:nvSpPr>
        <p:spPr>
          <a:xfrm>
            <a:off x="914400" y="5138928"/>
            <a:ext cx="10332720" cy="658368"/>
          </a:xfrm>
          <a:prstGeom prst="roundRect">
            <a:avLst>
              <a:gd name="adj" fmla="val 5556"/>
            </a:avLst>
          </a:prstGeom>
          <a:solidFill>
            <a:srgbClr val="081F1E"/>
          </a:solidFill>
          <a:ln w="8890">
            <a:solidFill>
              <a:srgbClr val="52706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0" y="531266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7C5C2"/>
                </a:solidFill>
              </a:rPr>
              <a:t>FOUNDATION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154680" y="5303520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B7C5C2"/>
                </a:solidFill>
              </a:rPr>
              <a:t>Security • HIPAA Controls • Auditability • Identity • Data Governance</a:t>
            </a:r>
            <a:endParaRPr lang="en-US" sz="1060" dirty="0"/>
          </a:p>
        </p:txBody>
      </p:sp>
      <p:sp>
        <p:nvSpPr>
          <p:cNvPr id="19" name="Text 17"/>
          <p:cNvSpPr/>
          <p:nvPr/>
        </p:nvSpPr>
        <p:spPr>
          <a:xfrm>
            <a:off x="3246120" y="5897880"/>
            <a:ext cx="5715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C6A15B"/>
                </a:solidFill>
              </a:rPr>
              <a:t>LLMs / models are components—not the moat.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7453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80">
                <a:solidFill>
                  <a:srgbClr val="93A9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ECDDC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gets easier to copy—and what does not.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58368" y="1124712"/>
            <a:ext cx="10835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1450">
                <a:solidFill>
                  <a:srgbClr val="D0D6D2"/>
                </a:solidFill>
              </a:rPr>
              <a:t>AI coding compresses software development cost. It increases the relative value of accumulated healthcare operational domain knowledge.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783080"/>
            <a:ext cx="3401568" cy="2788920"/>
          </a:xfrm>
          <a:prstGeom prst="roundRect">
            <a:avLst>
              <a:gd name="adj" fmla="val 2151"/>
            </a:avLst>
          </a:prstGeom>
          <a:solidFill>
            <a:srgbClr val="163B38"/>
          </a:solidFill>
          <a:ln w="10160">
            <a:solidFill>
              <a:srgbClr val="52706D">
                <a:alpha val="7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9536" y="1947672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C6A15B"/>
                </a:solidFill>
              </a:rPr>
              <a:t>FEATURE LAYER</a:t>
            </a:r>
            <a:endParaRPr lang="en-US" sz="740" dirty="0"/>
          </a:p>
        </p:txBody>
      </p:sp>
      <p:sp>
        <p:nvSpPr>
          <p:cNvPr id="6" name="Text 4"/>
          <p:cNvSpPr/>
          <p:nvPr/>
        </p:nvSpPr>
        <p:spPr>
          <a:xfrm>
            <a:off x="859536" y="2221992"/>
            <a:ext cx="2999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CDDC0"/>
                </a:solidFill>
              </a:rPr>
              <a:t>EASY TO REPRODUCE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59536" y="2752344"/>
            <a:ext cx="2999232" cy="165506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 b="0">
                <a:solidFill>
                  <a:srgbClr val="D0D6D2"/>
                </a:solidFill>
              </a:rPr>
              <a:t>AI chatbot</a:t>
            </a:r>
            <a:endParaRPr lang="en-US" sz="1040" dirty="0"/>
          </a:p>
          <a:p>
            <a:pPr indent="0" marL="0">
              <a:buNone/>
            </a:pPr>
            <a:r>
              <a:rPr lang="en-US" sz="1150" dirty="0" b="0">
                <a:solidFill>
                  <a:srgbClr val="D0D6D2"/>
                </a:solidFill>
              </a:rPr>
              <a:t>Voice agent</a:t>
            </a:r>
            <a:endParaRPr lang="en-US" sz="1040" dirty="0"/>
          </a:p>
          <a:p>
            <a:pPr indent="0" marL="0">
              <a:buNone/>
            </a:pPr>
            <a:r>
              <a:rPr lang="en-US" sz="1150" dirty="0" b="0">
                <a:solidFill>
                  <a:srgbClr val="D0D6D2"/>
                </a:solidFill>
              </a:rPr>
              <a:t>Prompts</a:t>
            </a:r>
            <a:endParaRPr lang="en-US" sz="1040" dirty="0"/>
          </a:p>
          <a:p>
            <a:pPr indent="0" marL="0">
              <a:buNone/>
            </a:pPr>
            <a:r>
              <a:rPr lang="en-US" sz="1150" dirty="0" b="0">
                <a:solidFill>
                  <a:srgbClr val="D0D6D2"/>
                </a:solidFill>
              </a:rPr>
              <a:t>Basic UI</a:t>
            </a:r>
            <a:endParaRPr lang="en-US" sz="1040" dirty="0"/>
          </a:p>
          <a:p>
            <a:pPr indent="0" marL="0">
              <a:buNone/>
            </a:pPr>
            <a:r>
              <a:rPr lang="en-US" sz="1150" dirty="0" b="0">
                <a:solidFill>
                  <a:srgbClr val="D0D6D2"/>
                </a:solidFill>
              </a:rPr>
              <a:t>Standard API connector</a:t>
            </a:r>
            <a:endParaRPr lang="en-US" sz="1040" dirty="0"/>
          </a:p>
        </p:txBody>
      </p:sp>
      <p:sp>
        <p:nvSpPr>
          <p:cNvPr id="8" name="Shape 6"/>
          <p:cNvSpPr/>
          <p:nvPr/>
        </p:nvSpPr>
        <p:spPr>
          <a:xfrm>
            <a:off x="4480560" y="1783080"/>
            <a:ext cx="3401568" cy="2788920"/>
          </a:xfrm>
          <a:prstGeom prst="roundRect">
            <a:avLst>
              <a:gd name="adj" fmla="val 2151"/>
            </a:avLst>
          </a:prstGeom>
          <a:solidFill>
            <a:srgbClr val="214A46"/>
          </a:solidFill>
          <a:ln w="10160">
            <a:solidFill>
              <a:srgbClr val="52706D">
                <a:alpha val="7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81728" y="1947672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C6A15B"/>
                </a:solidFill>
              </a:rPr>
              <a:t>PLATFORM LAYER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4681728" y="2221992"/>
            <a:ext cx="2999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CDDC0"/>
                </a:solidFill>
              </a:rPr>
              <a:t>TAKES TIME TO BUILD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681728" y="2752344"/>
            <a:ext cx="2999232" cy="165506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 b="0">
                <a:solidFill>
                  <a:srgbClr val="D0D6D2"/>
                </a:solidFill>
              </a:rPr>
              <a:t>EMR connector library</a:t>
            </a:r>
            <a:endParaRPr lang="en-US" sz="1040" dirty="0"/>
          </a:p>
          <a:p>
            <a:pPr indent="0" marL="0">
              <a:buNone/>
            </a:pPr>
            <a:r>
              <a:rPr lang="en-US" sz="1150" dirty="0" b="0">
                <a:solidFill>
                  <a:srgbClr val="D0D6D2"/>
                </a:solidFill>
              </a:rPr>
              <a:t>Clinic configuration</a:t>
            </a:r>
            <a:endParaRPr lang="en-US" sz="1040" dirty="0"/>
          </a:p>
          <a:p>
            <a:pPr indent="0" marL="0">
              <a:buNone/>
            </a:pPr>
            <a:r>
              <a:rPr lang="en-US" sz="1150" dirty="0" b="0">
                <a:solidFill>
                  <a:srgbClr val="D0D6D2"/>
                </a:solidFill>
              </a:rPr>
              <a:t>Workflow engine</a:t>
            </a:r>
            <a:endParaRPr lang="en-US" sz="1040" dirty="0"/>
          </a:p>
          <a:p>
            <a:pPr indent="0" marL="0">
              <a:buNone/>
            </a:pPr>
            <a:r>
              <a:rPr lang="en-US" sz="1150" dirty="0" b="0">
                <a:solidFill>
                  <a:srgbClr val="D0D6D2"/>
                </a:solidFill>
              </a:rPr>
              <a:t>Exception handling</a:t>
            </a:r>
            <a:endParaRPr lang="en-US" sz="1040" dirty="0"/>
          </a:p>
        </p:txBody>
      </p:sp>
      <p:sp>
        <p:nvSpPr>
          <p:cNvPr id="12" name="Shape 10"/>
          <p:cNvSpPr/>
          <p:nvPr/>
        </p:nvSpPr>
        <p:spPr>
          <a:xfrm>
            <a:off x="8302752" y="1783080"/>
            <a:ext cx="3401568" cy="2788920"/>
          </a:xfrm>
          <a:prstGeom prst="roundRect">
            <a:avLst>
              <a:gd name="adj" fmla="val 2151"/>
            </a:avLst>
          </a:prstGeom>
          <a:solidFill>
            <a:srgbClr val="081F1E"/>
          </a:solidFill>
          <a:ln w="10160">
            <a:solidFill>
              <a:srgbClr val="C6A15B">
                <a:alpha val="7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0" y="1947672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C6A15B"/>
                </a:solidFill>
              </a:rPr>
              <a:t>INTELLIGENCE MOAT</a:t>
            </a:r>
            <a:endParaRPr lang="en-US" sz="740" dirty="0"/>
          </a:p>
        </p:txBody>
      </p:sp>
      <p:sp>
        <p:nvSpPr>
          <p:cNvPr id="14" name="Text 12"/>
          <p:cNvSpPr/>
          <p:nvPr/>
        </p:nvSpPr>
        <p:spPr>
          <a:xfrm>
            <a:off x="8503920" y="2221992"/>
            <a:ext cx="2999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CDDC0"/>
                </a:solidFill>
              </a:rPr>
              <a:t>COMPOUNDS WITH USE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503920" y="2752344"/>
            <a:ext cx="2999232" cy="165506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sz="1200">
                <a:solidFill>
                  <a:srgbClr val="D0D6D2"/>
                </a:solidFill>
              </a:rPr>
              <a:t>Payer behavior knowledge
Validated human resolutions
Outcome data
Cross-clinic pattern learning
Approved decision rules</a:t>
            </a:r>
            <a:endParaRPr lang="en-US" sz="1040" dirty="0"/>
          </a:p>
        </p:txBody>
      </p:sp>
      <p:sp>
        <p:nvSpPr>
          <p:cNvPr id="16" name="Text 14"/>
          <p:cNvSpPr/>
          <p:nvPr/>
        </p:nvSpPr>
        <p:spPr>
          <a:xfrm>
            <a:off x="1188720" y="5486400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1500" b="0">
                <a:solidFill>
                  <a:srgbClr val="C6A15B"/>
                </a:solidFill>
              </a:rPr>
              <a:t>Competitors can copy a feature. They cannot instantly copy accumulated healthcare operational domain knowledge earned across real workflows, exceptions, and outcomes.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7453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80">
                <a:solidFill>
                  <a:srgbClr val="93A9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ECDDC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 to market: start narrow, compound inside the workflow.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58368" y="1124712"/>
            <a:ext cx="10835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7C5C2"/>
                </a:solidFill>
              </a:rPr>
              <a:t>Independent practices provide a focused environment where measurable automation value can expand use case by use case.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901952" cy="2286000"/>
          </a:xfrm>
          <a:prstGeom prst="roundRect">
            <a:avLst>
              <a:gd name="adj" fmla="val 3365"/>
            </a:avLst>
          </a:prstGeom>
          <a:solidFill>
            <a:srgbClr val="081F1E"/>
          </a:solidFill>
          <a:ln w="12700">
            <a:solidFill>
              <a:srgbClr val="5270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203911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6A15B"/>
                </a:solidFill>
              </a:rPr>
              <a:t>01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04672" y="2587752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CDDC0"/>
                </a:solidFill>
              </a:rPr>
              <a:t>LAND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4672" y="3108960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D0D6D2"/>
                </a:solidFill>
              </a:rPr>
              <a:t>One clinic</a:t>
            </a:r>
            <a:endParaRPr lang="en-US" sz="1020" dirty="0"/>
          </a:p>
          <a:p>
            <a:pPr indent="0" marL="0">
              <a:buNone/>
            </a:pPr>
            <a:r>
              <a:rPr lang="en-US" sz="1100" dirty="0">
                <a:solidFill>
                  <a:srgbClr val="D0D6D2"/>
                </a:solidFill>
              </a:rPr>
              <a:t>One concrete pain point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2542032" y="2825496"/>
            <a:ext cx="402336" cy="384048"/>
          </a:xfrm>
          <a:prstGeom prst="chevron">
            <a:avLst/>
          </a:prstGeom>
          <a:solidFill>
            <a:srgbClr val="C6A15B"/>
          </a:solidFill>
          <a:ln w="12700">
            <a:solidFill>
              <a:srgbClr val="C6A15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44368" y="1874520"/>
            <a:ext cx="1901952" cy="2286000"/>
          </a:xfrm>
          <a:prstGeom prst="roundRect">
            <a:avLst>
              <a:gd name="adj" fmla="val 3365"/>
            </a:avLst>
          </a:prstGeom>
          <a:solidFill>
            <a:srgbClr val="214A46"/>
          </a:solidFill>
          <a:ln w="12700">
            <a:solidFill>
              <a:srgbClr val="52706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08960" y="203911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6A15B"/>
                </a:solidFill>
              </a:rPr>
              <a:t>02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108960" y="2587752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CDDC0"/>
                </a:solidFill>
              </a:rPr>
              <a:t>PROVE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108960" y="3108960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D0D6D2"/>
                </a:solidFill>
              </a:rPr>
              <a:t>Measure time saved</a:t>
            </a:r>
            <a:endParaRPr lang="en-US" sz="1020" dirty="0"/>
          </a:p>
          <a:p>
            <a:pPr indent="0" marL="0">
              <a:buNone/>
            </a:pPr>
            <a:r>
              <a:rPr lang="en-US" sz="1100" dirty="0">
                <a:solidFill>
                  <a:srgbClr val="D0D6D2"/>
                </a:solidFill>
              </a:rPr>
              <a:t>and intervention reduced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4846320" y="2825496"/>
            <a:ext cx="402336" cy="384048"/>
          </a:xfrm>
          <a:prstGeom prst="chevron">
            <a:avLst/>
          </a:prstGeom>
          <a:solidFill>
            <a:srgbClr val="C6A15B"/>
          </a:solidFill>
          <a:ln w="12700">
            <a:solidFill>
              <a:srgbClr val="C6A15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48656" y="1874520"/>
            <a:ext cx="1901952" cy="2286000"/>
          </a:xfrm>
          <a:prstGeom prst="roundRect">
            <a:avLst>
              <a:gd name="adj" fmla="val 3365"/>
            </a:avLst>
          </a:prstGeom>
          <a:solidFill>
            <a:srgbClr val="081F1E"/>
          </a:solidFill>
          <a:ln w="12700">
            <a:solidFill>
              <a:srgbClr val="5270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13248" y="203911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6A15B"/>
                </a:solidFill>
              </a:rPr>
              <a:t>03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413248" y="2587752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CDDC0"/>
                </a:solidFill>
              </a:rPr>
              <a:t>EXPAND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13248" y="3108960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D0D6D2"/>
                </a:solidFill>
              </a:rPr>
              <a:t>Add adjacent workflows</a:t>
            </a:r>
            <a:endParaRPr lang="en-US" sz="1020" dirty="0"/>
          </a:p>
          <a:p>
            <a:pPr indent="0" marL="0">
              <a:buNone/>
            </a:pPr>
            <a:r>
              <a:rPr lang="en-US" sz="1100" dirty="0">
                <a:solidFill>
                  <a:srgbClr val="D0D6D2"/>
                </a:solidFill>
              </a:rPr>
              <a:t>inside the same practice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7150608" y="2825496"/>
            <a:ext cx="402336" cy="384048"/>
          </a:xfrm>
          <a:prstGeom prst="chevron">
            <a:avLst/>
          </a:prstGeom>
          <a:solidFill>
            <a:srgbClr val="C6A15B"/>
          </a:solidFill>
          <a:ln w="12700">
            <a:solidFill>
              <a:srgbClr val="C6A15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52944" y="1874520"/>
            <a:ext cx="1901952" cy="2286000"/>
          </a:xfrm>
          <a:prstGeom prst="roundRect">
            <a:avLst>
              <a:gd name="adj" fmla="val 3365"/>
            </a:avLst>
          </a:prstGeom>
          <a:solidFill>
            <a:srgbClr val="214A46"/>
          </a:solidFill>
          <a:ln w="12700">
            <a:solidFill>
              <a:srgbClr val="52706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17536" y="203911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6A15B"/>
                </a:solidFill>
              </a:rPr>
              <a:t>04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717536" y="2587752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CDDC0"/>
                </a:solidFill>
              </a:rPr>
              <a:t>REPLICATE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17536" y="3108960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D0D6D2"/>
                </a:solidFill>
              </a:rPr>
              <a:t>Deploy the pattern</a:t>
            </a:r>
            <a:endParaRPr lang="en-US" sz="1020" dirty="0"/>
          </a:p>
          <a:p>
            <a:pPr indent="0" marL="0">
              <a:buNone/>
            </a:pPr>
            <a:r>
              <a:rPr lang="en-US" sz="1100" dirty="0">
                <a:solidFill>
                  <a:srgbClr val="D0D6D2"/>
                </a:solidFill>
              </a:rPr>
              <a:t>across similar clinics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9454896" y="2825496"/>
            <a:ext cx="402336" cy="384048"/>
          </a:xfrm>
          <a:prstGeom prst="chevron">
            <a:avLst/>
          </a:prstGeom>
          <a:solidFill>
            <a:srgbClr val="C6A15B"/>
          </a:solidFill>
          <a:ln w="12700">
            <a:solidFill>
              <a:srgbClr val="C6A15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857232" y="1874520"/>
            <a:ext cx="1901952" cy="2286000"/>
          </a:xfrm>
          <a:prstGeom prst="roundRect">
            <a:avLst>
              <a:gd name="adj" fmla="val 3365"/>
            </a:avLst>
          </a:prstGeom>
          <a:solidFill>
            <a:srgbClr val="C6A15B"/>
          </a:solidFill>
          <a:ln w="12700">
            <a:solidFill>
              <a:srgbClr val="C6A15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21824" y="203911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6A15B"/>
                </a:solidFill>
              </a:rPr>
              <a:t>05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0021824" y="2587752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CDDC0"/>
                </a:solidFill>
              </a:rPr>
              <a:t>COMPOUND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021824" y="3108960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D0D6D2"/>
                </a:solidFill>
              </a:rPr>
              <a:t>Cross-clinic learning</a:t>
            </a:r>
            <a:endParaRPr lang="en-US" sz="1020" dirty="0"/>
          </a:p>
          <a:p>
            <a:pPr indent="0" marL="0">
              <a:buNone/>
            </a:pPr>
            <a:r>
              <a:rPr lang="en-US" sz="1100" dirty="0">
                <a:solidFill>
                  <a:srgbClr val="D0D6D2"/>
                </a:solidFill>
              </a:rPr>
              <a:t>improves the platform</a:t>
            </a:r>
            <a:endParaRPr lang="en-US" sz="1020" dirty="0"/>
          </a:p>
        </p:txBody>
      </p:sp>
      <p:sp>
        <p:nvSpPr>
          <p:cNvPr id="28" name="Text 26"/>
          <p:cNvSpPr/>
          <p:nvPr/>
        </p:nvSpPr>
        <p:spPr>
          <a:xfrm>
            <a:off x="1143000" y="5120640"/>
            <a:ext cx="9875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6A15B"/>
                </a:solidFill>
              </a:rPr>
              <a:t>Each successful deployment is both revenue and training data for the operational intelligence system.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7453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80">
                <a:solidFill>
                  <a:srgbClr val="93A9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ECDDC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Long-term vision: staff manage exceptions. HaloVox manages routine operations.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58368" y="1124712"/>
            <a:ext cx="10835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7C5C2"/>
                </a:solidFill>
              </a:rPr>
              <a:t>Autonomous practice operations are the outcome; Operational Intelligence is the enabling asset.</a:t>
            </a:r>
            <a:endParaRPr lang="en-US" sz="1250" dirty="0"/>
          </a:p>
        </p:txBody>
      </p:sp>
      <p:pic>
        <p:nvPicPr>
          <p:cNvPr id="4" name="Image 0" descr="/mnt/data/wide_clean_modern_medical_clinic_interior_in_so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627632"/>
            <a:ext cx="5212080" cy="4297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263640" y="1627632"/>
            <a:ext cx="5230368" cy="4297680"/>
          </a:xfrm>
          <a:prstGeom prst="roundRect">
            <a:avLst>
              <a:gd name="adj" fmla="val 1702"/>
            </a:avLst>
          </a:prstGeom>
          <a:solidFill>
            <a:srgbClr val="081F1E"/>
          </a:solidFill>
          <a:ln w="15240">
            <a:solidFill>
              <a:srgbClr val="C6A15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583680" y="1892808"/>
            <a:ext cx="228600" cy="228600"/>
          </a:xfrm>
          <a:prstGeom prst="ellipse">
            <a:avLst/>
          </a:prstGeom>
          <a:solidFill>
            <a:srgbClr val="214A46"/>
          </a:solidFill>
          <a:ln w="12700">
            <a:solidFill>
              <a:srgbClr val="214A4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967728" y="1865376"/>
            <a:ext cx="4041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ECDDC0"/>
                </a:solidFill>
              </a:rPr>
              <a:t>Patient request</a:t>
            </a:r>
            <a:endParaRPr lang="en-US" sz="1120" dirty="0"/>
          </a:p>
        </p:txBody>
      </p:sp>
      <p:sp>
        <p:nvSpPr>
          <p:cNvPr id="8" name="Shape 5"/>
          <p:cNvSpPr/>
          <p:nvPr/>
        </p:nvSpPr>
        <p:spPr>
          <a:xfrm>
            <a:off x="6697980" y="2130552"/>
            <a:ext cx="0" cy="246888"/>
          </a:xfrm>
          <a:prstGeom prst="line">
            <a:avLst/>
          </a:prstGeom>
          <a:noFill/>
          <a:ln w="12700">
            <a:solidFill>
              <a:srgbClr val="52706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583680" y="2395728"/>
            <a:ext cx="228600" cy="228600"/>
          </a:xfrm>
          <a:prstGeom prst="ellipse">
            <a:avLst/>
          </a:prstGeom>
          <a:solidFill>
            <a:srgbClr val="214A46"/>
          </a:solidFill>
          <a:ln w="12700">
            <a:solidFill>
              <a:srgbClr val="214A4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967728" y="2368296"/>
            <a:ext cx="4041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ECDDC0"/>
                </a:solidFill>
              </a:rPr>
              <a:t>Understand context</a:t>
            </a:r>
            <a:endParaRPr lang="en-US" sz="1120" dirty="0"/>
          </a:p>
        </p:txBody>
      </p:sp>
      <p:sp>
        <p:nvSpPr>
          <p:cNvPr id="11" name="Shape 8"/>
          <p:cNvSpPr/>
          <p:nvPr/>
        </p:nvSpPr>
        <p:spPr>
          <a:xfrm>
            <a:off x="6697980" y="2633472"/>
            <a:ext cx="0" cy="246888"/>
          </a:xfrm>
          <a:prstGeom prst="line">
            <a:avLst/>
          </a:prstGeom>
          <a:noFill/>
          <a:ln w="12700">
            <a:solidFill>
              <a:srgbClr val="52706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0" y="2898648"/>
            <a:ext cx="228600" cy="228600"/>
          </a:xfrm>
          <a:prstGeom prst="ellipse">
            <a:avLst/>
          </a:prstGeom>
          <a:solidFill>
            <a:srgbClr val="214A46"/>
          </a:solidFill>
          <a:ln w="12700">
            <a:solidFill>
              <a:srgbClr val="214A4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967728" y="2871216"/>
            <a:ext cx="4041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ECDDC0"/>
                </a:solidFill>
              </a:rPr>
              <a:t>Check prerequisites</a:t>
            </a:r>
            <a:endParaRPr lang="en-US" sz="1120" dirty="0"/>
          </a:p>
        </p:txBody>
      </p:sp>
      <p:sp>
        <p:nvSpPr>
          <p:cNvPr id="14" name="Shape 11"/>
          <p:cNvSpPr/>
          <p:nvPr/>
        </p:nvSpPr>
        <p:spPr>
          <a:xfrm>
            <a:off x="6697980" y="3136392"/>
            <a:ext cx="0" cy="246888"/>
          </a:xfrm>
          <a:prstGeom prst="line">
            <a:avLst/>
          </a:prstGeom>
          <a:noFill/>
          <a:ln w="12700">
            <a:solidFill>
              <a:srgbClr val="52706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583680" y="3401568"/>
            <a:ext cx="228600" cy="228600"/>
          </a:xfrm>
          <a:prstGeom prst="ellipse">
            <a:avLst/>
          </a:prstGeom>
          <a:solidFill>
            <a:srgbClr val="214A46"/>
          </a:solidFill>
          <a:ln w="12700">
            <a:solidFill>
              <a:srgbClr val="214A4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967728" y="3374136"/>
            <a:ext cx="4041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ECDDC0"/>
                </a:solidFill>
              </a:rPr>
              <a:t>Decide next action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6697980" y="3639312"/>
            <a:ext cx="0" cy="246888"/>
          </a:xfrm>
          <a:prstGeom prst="line">
            <a:avLst/>
          </a:prstGeom>
          <a:noFill/>
          <a:ln w="12700">
            <a:solidFill>
              <a:srgbClr val="52706D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583680" y="3904488"/>
            <a:ext cx="228600" cy="228600"/>
          </a:xfrm>
          <a:prstGeom prst="ellipse">
            <a:avLst/>
          </a:prstGeom>
          <a:solidFill>
            <a:srgbClr val="214A46"/>
          </a:solidFill>
          <a:ln w="12700">
            <a:solidFill>
              <a:srgbClr val="214A4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967728" y="3877056"/>
            <a:ext cx="4041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ECDDC0"/>
                </a:solidFill>
              </a:rPr>
              <a:t>Execute workflow</a:t>
            </a:r>
            <a:endParaRPr lang="en-US" sz="1120" dirty="0"/>
          </a:p>
        </p:txBody>
      </p:sp>
      <p:sp>
        <p:nvSpPr>
          <p:cNvPr id="20" name="Shape 17"/>
          <p:cNvSpPr/>
          <p:nvPr/>
        </p:nvSpPr>
        <p:spPr>
          <a:xfrm>
            <a:off x="6697980" y="4142232"/>
            <a:ext cx="0" cy="246888"/>
          </a:xfrm>
          <a:prstGeom prst="line">
            <a:avLst/>
          </a:prstGeom>
          <a:noFill/>
          <a:ln w="12700">
            <a:solidFill>
              <a:srgbClr val="52706D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583680" y="4407408"/>
            <a:ext cx="228600" cy="228600"/>
          </a:xfrm>
          <a:prstGeom prst="ellipse">
            <a:avLst/>
          </a:prstGeom>
          <a:solidFill>
            <a:srgbClr val="214A46"/>
          </a:solidFill>
          <a:ln w="12700">
            <a:solidFill>
              <a:srgbClr val="214A4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967728" y="4379976"/>
            <a:ext cx="4041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ECDDC0"/>
                </a:solidFill>
              </a:rPr>
              <a:t>Verify outcome</a:t>
            </a:r>
            <a:endParaRPr lang="en-US" sz="1120" dirty="0"/>
          </a:p>
        </p:txBody>
      </p:sp>
      <p:sp>
        <p:nvSpPr>
          <p:cNvPr id="23" name="Shape 20"/>
          <p:cNvSpPr/>
          <p:nvPr/>
        </p:nvSpPr>
        <p:spPr>
          <a:xfrm>
            <a:off x="6697980" y="4645152"/>
            <a:ext cx="0" cy="246888"/>
          </a:xfrm>
          <a:prstGeom prst="line">
            <a:avLst/>
          </a:prstGeom>
          <a:noFill/>
          <a:ln w="12700">
            <a:solidFill>
              <a:srgbClr val="52706D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583680" y="4910328"/>
            <a:ext cx="228600" cy="228600"/>
          </a:xfrm>
          <a:prstGeom prst="ellipse">
            <a:avLst/>
          </a:prstGeom>
          <a:solidFill>
            <a:srgbClr val="C6A15B"/>
          </a:solidFill>
          <a:ln w="12700">
            <a:solidFill>
              <a:srgbClr val="C6A15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967728" y="4882896"/>
            <a:ext cx="4041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C6A15B"/>
                </a:solidFill>
              </a:rPr>
              <a:t>Escalate only if needed</a:t>
            </a:r>
            <a:endParaRPr lang="en-US" sz="1120" dirty="0"/>
          </a:p>
        </p:txBody>
      </p:sp>
      <p:sp>
        <p:nvSpPr>
          <p:cNvPr id="26" name="Text 23"/>
          <p:cNvSpPr/>
          <p:nvPr/>
        </p:nvSpPr>
        <p:spPr>
          <a:xfrm>
            <a:off x="6565392" y="5440680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B7C5C2"/>
                </a:solidFill>
              </a:rPr>
              <a:t>Human attention moves to judgment, relationships, and care—not repetitive administrative navigation.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7453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80">
                <a:solidFill>
                  <a:srgbClr val="93A9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2E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01000" y="-1417320"/>
            <a:ext cx="5120640" cy="5120640"/>
          </a:xfrm>
          <a:prstGeom prst="ellipse">
            <a:avLst/>
          </a:prstGeom>
          <a:solidFill>
            <a:srgbClr val="C6A15B">
              <a:alpha val="12000"/>
            </a:srgbClr>
          </a:solidFill>
          <a:ln w="12700">
            <a:solidFill>
              <a:srgbClr val="C6A15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303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6A15B"/>
                </a:solidFill>
              </a:rPr>
              <a:t>HALOVOX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2344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A15B"/>
                </a:solidFill>
              </a:rPr>
              <a:t>The investment thesis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1828800"/>
            <a:ext cx="75438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2600" b="1">
                <a:solidFill>
                  <a:srgbClr val="ECDDC0"/>
                </a:solidFill>
              </a:rPr>
              <a:t>Most AI companies build agents that execute tasks.
HaloVox is building a growing intelligence system that accumulates healthcare operational domain knowledge from every workflow, exception, and human resolution.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94944" y="416052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1450" b="0">
                <a:solidFill>
                  <a:srgbClr val="ECDDC0"/>
                </a:solidFill>
              </a:rPr>
              <a:t>Each validated outcome strengthens future decisions. Each human-resolved edge case can become reusable knowledge and future automation.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94944" y="4965192"/>
            <a:ext cx="2103120" cy="0"/>
          </a:xfrm>
          <a:prstGeom prst="line">
            <a:avLst/>
          </a:prstGeom>
          <a:noFill/>
          <a:ln w="25400">
            <a:solidFill>
              <a:srgbClr val="C6A1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523036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DDC0"/>
                </a:solidFill>
              </a:rPr>
              <a:t>HaloVox Technologies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4944" y="56235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150">
                <a:solidFill>
                  <a:srgbClr val="D0D6D2"/>
                </a:solidFill>
              </a:rPr>
              <a:t>Accumulated healthcare operational domain knowledge for autonomous practice operations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694944" y="623620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spc="115" kern="0" dirty="0">
                <a:solidFill>
                  <a:srgbClr val="C6A15B"/>
                </a:solidFill>
              </a:rPr>
              <a:t>YOUR PRACTICE. ALWAYS ANSWERED.</a:t>
            </a:r>
            <a:endParaRPr lang="en-US" sz="8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HaloVox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HaloVox — Operational Intelligence for Autonomous Practice Operations</dc:title>
  <dc:subject>Investor Overview</dc:subject>
  <dc:creator>HaloVox Technologies</dc:creator>
  <cp:lastModifiedBy>HaloVox Technologies</cp:lastModifiedBy>
  <cp:revision>1</cp:revision>
  <dcterms:created xsi:type="dcterms:W3CDTF">2026-08-18T19:41:31Z</dcterms:created>
  <dcterms:modified xsi:type="dcterms:W3CDTF">2026-08-18T19:41:31Z</dcterms:modified>
</cp:coreProperties>
</file>