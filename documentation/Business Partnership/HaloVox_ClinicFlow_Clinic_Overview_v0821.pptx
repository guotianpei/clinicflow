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70" r:id="rId3"/>
    <p:sldId id="257" r:id="rId4"/>
    <p:sldId id="258" r:id="rId5"/>
    <p:sldId id="267" r:id="rId6"/>
    <p:sldId id="273" r:id="rId7"/>
    <p:sldId id="263" r:id="rId8"/>
    <p:sldId id="272" r:id="rId9"/>
    <p:sldId id="264" r:id="rId10"/>
    <p:sldId id="274" r:id="rId11"/>
    <p:sldId id="275" r:id="rId12"/>
    <p:sldId id="265" r:id="rId13"/>
    <p:sldId id="271" r:id="rId14"/>
    <p:sldId id="276" r:id="rId15"/>
    <p:sldId id="278" r:id="rId16"/>
    <p:sldId id="266"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1DAAB5-3D01-48E4-ABD8-507C393643D5}" v="3" dt="2026-07-31T01:18:31.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2" d="100"/>
          <a:sy n="122" d="100"/>
        </p:scale>
        <p:origin x="114"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CHEL GUO" userId="2bb385a3-557f-40c2-ae7c-e20e2ca0fa5c" providerId="ADAL" clId="{F142E991-C65F-4216-8F44-47DBBDF0251E}"/>
    <pc:docChg chg="undo custSel addSld delSld modSld sldOrd">
      <pc:chgData name="RACHEL GUO" userId="2bb385a3-557f-40c2-ae7c-e20e2ca0fa5c" providerId="ADAL" clId="{F142E991-C65F-4216-8F44-47DBBDF0251E}" dt="2026-07-31T01:18:31.580" v="1312"/>
      <pc:docMkLst>
        <pc:docMk/>
      </pc:docMkLst>
      <pc:sldChg chg="modSp mod ord">
        <pc:chgData name="RACHEL GUO" userId="2bb385a3-557f-40c2-ae7c-e20e2ca0fa5c" providerId="ADAL" clId="{F142E991-C65F-4216-8F44-47DBBDF0251E}" dt="2026-07-29T21:28:03.900" v="1242"/>
        <pc:sldMkLst>
          <pc:docMk/>
          <pc:sldMk cId="0" sldId="257"/>
        </pc:sldMkLst>
        <pc:spChg chg="mod">
          <ac:chgData name="RACHEL GUO" userId="2bb385a3-557f-40c2-ae7c-e20e2ca0fa5c" providerId="ADAL" clId="{F142E991-C65F-4216-8F44-47DBBDF0251E}" dt="2026-07-29T18:18:41.595" v="428" actId="14100"/>
          <ac:spMkLst>
            <pc:docMk/>
            <pc:sldMk cId="0" sldId="257"/>
            <ac:spMk id="4" creationId="{00000000-0000-0000-0000-000000000000}"/>
          </ac:spMkLst>
        </pc:spChg>
        <pc:spChg chg="mod">
          <ac:chgData name="RACHEL GUO" userId="2bb385a3-557f-40c2-ae7c-e20e2ca0fa5c" providerId="ADAL" clId="{F142E991-C65F-4216-8F44-47DBBDF0251E}" dt="2026-07-29T18:18:14.878" v="419" actId="20577"/>
          <ac:spMkLst>
            <pc:docMk/>
            <pc:sldMk cId="0" sldId="257"/>
            <ac:spMk id="7" creationId="{00000000-0000-0000-0000-000000000000}"/>
          </ac:spMkLst>
        </pc:spChg>
        <pc:spChg chg="mod">
          <ac:chgData name="RACHEL GUO" userId="2bb385a3-557f-40c2-ae7c-e20e2ca0fa5c" providerId="ADAL" clId="{F142E991-C65F-4216-8F44-47DBBDF0251E}" dt="2026-07-29T18:18:38.882" v="427" actId="1076"/>
          <ac:spMkLst>
            <pc:docMk/>
            <pc:sldMk cId="0" sldId="257"/>
            <ac:spMk id="8" creationId="{00000000-0000-0000-0000-000000000000}"/>
          </ac:spMkLst>
        </pc:spChg>
        <pc:spChg chg="mod">
          <ac:chgData name="RACHEL GUO" userId="2bb385a3-557f-40c2-ae7c-e20e2ca0fa5c" providerId="ADAL" clId="{F142E991-C65F-4216-8F44-47DBBDF0251E}" dt="2026-07-29T18:18:44.509" v="429" actId="14100"/>
          <ac:spMkLst>
            <pc:docMk/>
            <pc:sldMk cId="0" sldId="257"/>
            <ac:spMk id="9" creationId="{00000000-0000-0000-0000-000000000000}"/>
          </ac:spMkLst>
        </pc:spChg>
        <pc:spChg chg="mod">
          <ac:chgData name="RACHEL GUO" userId="2bb385a3-557f-40c2-ae7c-e20e2ca0fa5c" providerId="ADAL" clId="{F142E991-C65F-4216-8F44-47DBBDF0251E}" dt="2026-07-29T18:20:10.824" v="478" actId="1076"/>
          <ac:spMkLst>
            <pc:docMk/>
            <pc:sldMk cId="0" sldId="257"/>
            <ac:spMk id="12" creationId="{00000000-0000-0000-0000-000000000000}"/>
          </ac:spMkLst>
        </pc:spChg>
        <pc:spChg chg="mod">
          <ac:chgData name="RACHEL GUO" userId="2bb385a3-557f-40c2-ae7c-e20e2ca0fa5c" providerId="ADAL" clId="{F142E991-C65F-4216-8F44-47DBBDF0251E}" dt="2026-07-29T18:18:35.779" v="426" actId="1076"/>
          <ac:spMkLst>
            <pc:docMk/>
            <pc:sldMk cId="0" sldId="257"/>
            <ac:spMk id="13" creationId="{00000000-0000-0000-0000-000000000000}"/>
          </ac:spMkLst>
        </pc:spChg>
      </pc:sldChg>
      <pc:sldChg chg="addSp delSp modSp mod ord">
        <pc:chgData name="RACHEL GUO" userId="2bb385a3-557f-40c2-ae7c-e20e2ca0fa5c" providerId="ADAL" clId="{F142E991-C65F-4216-8F44-47DBBDF0251E}" dt="2026-07-29T21:27:41.551" v="1240"/>
        <pc:sldMkLst>
          <pc:docMk/>
          <pc:sldMk cId="0" sldId="258"/>
        </pc:sldMkLst>
        <pc:spChg chg="mod">
          <ac:chgData name="RACHEL GUO" userId="2bb385a3-557f-40c2-ae7c-e20e2ca0fa5c" providerId="ADAL" clId="{F142E991-C65F-4216-8F44-47DBBDF0251E}" dt="2026-07-29T18:38:29.058" v="882" actId="6549"/>
          <ac:spMkLst>
            <pc:docMk/>
            <pc:sldMk cId="0" sldId="258"/>
            <ac:spMk id="3" creationId="{00000000-0000-0000-0000-000000000000}"/>
          </ac:spMkLst>
        </pc:spChg>
        <pc:spChg chg="mod">
          <ac:chgData name="RACHEL GUO" userId="2bb385a3-557f-40c2-ae7c-e20e2ca0fa5c" providerId="ADAL" clId="{F142E991-C65F-4216-8F44-47DBBDF0251E}" dt="2026-07-29T18:24:18.903" v="614" actId="1076"/>
          <ac:spMkLst>
            <pc:docMk/>
            <pc:sldMk cId="0" sldId="258"/>
            <ac:spMk id="5" creationId="{00000000-0000-0000-0000-000000000000}"/>
          </ac:spMkLst>
        </pc:spChg>
        <pc:spChg chg="mod">
          <ac:chgData name="RACHEL GUO" userId="2bb385a3-557f-40c2-ae7c-e20e2ca0fa5c" providerId="ADAL" clId="{F142E991-C65F-4216-8F44-47DBBDF0251E}" dt="2026-07-29T18:35:18.650" v="832" actId="1076"/>
          <ac:spMkLst>
            <pc:docMk/>
            <pc:sldMk cId="0" sldId="258"/>
            <ac:spMk id="7" creationId="{00000000-0000-0000-0000-000000000000}"/>
          </ac:spMkLst>
        </pc:spChg>
        <pc:spChg chg="mod">
          <ac:chgData name="RACHEL GUO" userId="2bb385a3-557f-40c2-ae7c-e20e2ca0fa5c" providerId="ADAL" clId="{F142E991-C65F-4216-8F44-47DBBDF0251E}" dt="2026-07-29T18:35:25.246" v="834" actId="1076"/>
          <ac:spMkLst>
            <pc:docMk/>
            <pc:sldMk cId="0" sldId="258"/>
            <ac:spMk id="8" creationId="{00000000-0000-0000-0000-000000000000}"/>
          </ac:spMkLst>
        </pc:spChg>
        <pc:spChg chg="mod">
          <ac:chgData name="RACHEL GUO" userId="2bb385a3-557f-40c2-ae7c-e20e2ca0fa5c" providerId="ADAL" clId="{F142E991-C65F-4216-8F44-47DBBDF0251E}" dt="2026-07-29T18:40:58.080" v="972" actId="14100"/>
          <ac:spMkLst>
            <pc:docMk/>
            <pc:sldMk cId="0" sldId="258"/>
            <ac:spMk id="9" creationId="{00000000-0000-0000-0000-000000000000}"/>
          </ac:spMkLst>
        </pc:spChg>
        <pc:spChg chg="mod">
          <ac:chgData name="RACHEL GUO" userId="2bb385a3-557f-40c2-ae7c-e20e2ca0fa5c" providerId="ADAL" clId="{F142E991-C65F-4216-8F44-47DBBDF0251E}" dt="2026-07-29T18:35:30.060" v="835" actId="1076"/>
          <ac:spMkLst>
            <pc:docMk/>
            <pc:sldMk cId="0" sldId="258"/>
            <ac:spMk id="10" creationId="{00000000-0000-0000-0000-000000000000}"/>
          </ac:spMkLst>
        </pc:spChg>
        <pc:spChg chg="mod">
          <ac:chgData name="RACHEL GUO" userId="2bb385a3-557f-40c2-ae7c-e20e2ca0fa5c" providerId="ADAL" clId="{F142E991-C65F-4216-8F44-47DBBDF0251E}" dt="2026-07-29T18:35:39.180" v="837" actId="1076"/>
          <ac:spMkLst>
            <pc:docMk/>
            <pc:sldMk cId="0" sldId="258"/>
            <ac:spMk id="11" creationId="{00000000-0000-0000-0000-000000000000}"/>
          </ac:spMkLst>
        </pc:spChg>
        <pc:spChg chg="mod">
          <ac:chgData name="RACHEL GUO" userId="2bb385a3-557f-40c2-ae7c-e20e2ca0fa5c" providerId="ADAL" clId="{F142E991-C65F-4216-8F44-47DBBDF0251E}" dt="2026-07-29T18:31:53.977" v="736" actId="1076"/>
          <ac:spMkLst>
            <pc:docMk/>
            <pc:sldMk cId="0" sldId="258"/>
            <ac:spMk id="14" creationId="{00000000-0000-0000-0000-000000000000}"/>
          </ac:spMkLst>
        </pc:spChg>
        <pc:spChg chg="mod">
          <ac:chgData name="RACHEL GUO" userId="2bb385a3-557f-40c2-ae7c-e20e2ca0fa5c" providerId="ADAL" clId="{F142E991-C65F-4216-8F44-47DBBDF0251E}" dt="2026-07-29T18:42:53.951" v="1005" actId="20577"/>
          <ac:spMkLst>
            <pc:docMk/>
            <pc:sldMk cId="0" sldId="258"/>
            <ac:spMk id="15" creationId="{00000000-0000-0000-0000-000000000000}"/>
          </ac:spMkLst>
        </pc:spChg>
        <pc:spChg chg="add mod">
          <ac:chgData name="RACHEL GUO" userId="2bb385a3-557f-40c2-ae7c-e20e2ca0fa5c" providerId="ADAL" clId="{F142E991-C65F-4216-8F44-47DBBDF0251E}" dt="2026-07-29T18:35:32.922" v="836" actId="1076"/>
          <ac:spMkLst>
            <pc:docMk/>
            <pc:sldMk cId="0" sldId="258"/>
            <ac:spMk id="19" creationId="{012E87EA-A499-258C-1E59-FC34AA19146B}"/>
          </ac:spMkLst>
        </pc:spChg>
        <pc:spChg chg="add mod">
          <ac:chgData name="RACHEL GUO" userId="2bb385a3-557f-40c2-ae7c-e20e2ca0fa5c" providerId="ADAL" clId="{F142E991-C65F-4216-8F44-47DBBDF0251E}" dt="2026-07-29T18:33:10.155" v="771" actId="1076"/>
          <ac:spMkLst>
            <pc:docMk/>
            <pc:sldMk cId="0" sldId="258"/>
            <ac:spMk id="21" creationId="{714A7359-02C4-1ABE-3FD5-9E016AEE5DD2}"/>
          </ac:spMkLst>
        </pc:spChg>
      </pc:sldChg>
      <pc:sldChg chg="modSp mod">
        <pc:chgData name="RACHEL GUO" userId="2bb385a3-557f-40c2-ae7c-e20e2ca0fa5c" providerId="ADAL" clId="{F142E991-C65F-4216-8F44-47DBBDF0251E}" dt="2026-07-29T18:52:25.082" v="1192" actId="20577"/>
        <pc:sldMkLst>
          <pc:docMk/>
          <pc:sldMk cId="0" sldId="263"/>
        </pc:sldMkLst>
        <pc:spChg chg="mod">
          <ac:chgData name="RACHEL GUO" userId="2bb385a3-557f-40c2-ae7c-e20e2ca0fa5c" providerId="ADAL" clId="{F142E991-C65F-4216-8F44-47DBBDF0251E}" dt="2026-07-29T18:51:13.540" v="1158" actId="14100"/>
          <ac:spMkLst>
            <pc:docMk/>
            <pc:sldMk cId="0" sldId="263"/>
            <ac:spMk id="6" creationId="{00000000-0000-0000-0000-000000000000}"/>
          </ac:spMkLst>
        </pc:spChg>
        <pc:spChg chg="mod">
          <ac:chgData name="RACHEL GUO" userId="2bb385a3-557f-40c2-ae7c-e20e2ca0fa5c" providerId="ADAL" clId="{F142E991-C65F-4216-8F44-47DBBDF0251E}" dt="2026-07-29T18:50:19.359" v="1155" actId="1076"/>
          <ac:spMkLst>
            <pc:docMk/>
            <pc:sldMk cId="0" sldId="263"/>
            <ac:spMk id="8" creationId="{00000000-0000-0000-0000-000000000000}"/>
          </ac:spMkLst>
        </pc:spChg>
        <pc:spChg chg="mod">
          <ac:chgData name="RACHEL GUO" userId="2bb385a3-557f-40c2-ae7c-e20e2ca0fa5c" providerId="ADAL" clId="{F142E991-C65F-4216-8F44-47DBBDF0251E}" dt="2026-07-29T18:51:10.667" v="1157" actId="14100"/>
          <ac:spMkLst>
            <pc:docMk/>
            <pc:sldMk cId="0" sldId="263"/>
            <ac:spMk id="9" creationId="{00000000-0000-0000-0000-000000000000}"/>
          </ac:spMkLst>
        </pc:spChg>
        <pc:spChg chg="mod">
          <ac:chgData name="RACHEL GUO" userId="2bb385a3-557f-40c2-ae7c-e20e2ca0fa5c" providerId="ADAL" clId="{F142E991-C65F-4216-8F44-47DBBDF0251E}" dt="2026-07-29T18:50:23.797" v="1156" actId="1076"/>
          <ac:spMkLst>
            <pc:docMk/>
            <pc:sldMk cId="0" sldId="263"/>
            <ac:spMk id="11" creationId="{00000000-0000-0000-0000-000000000000}"/>
          </ac:spMkLst>
        </pc:spChg>
        <pc:spChg chg="mod">
          <ac:chgData name="RACHEL GUO" userId="2bb385a3-557f-40c2-ae7c-e20e2ca0fa5c" providerId="ADAL" clId="{F142E991-C65F-4216-8F44-47DBBDF0251E}" dt="2026-07-29T18:52:25.082" v="1192" actId="20577"/>
          <ac:spMkLst>
            <pc:docMk/>
            <pc:sldMk cId="0" sldId="263"/>
            <ac:spMk id="40" creationId="{00000000-0000-0000-0000-000000000000}"/>
          </ac:spMkLst>
        </pc:spChg>
      </pc:sldChg>
      <pc:sldChg chg="modSp mod">
        <pc:chgData name="RACHEL GUO" userId="2bb385a3-557f-40c2-ae7c-e20e2ca0fa5c" providerId="ADAL" clId="{F142E991-C65F-4216-8F44-47DBBDF0251E}" dt="2026-07-29T18:53:21.317" v="1211" actId="6549"/>
        <pc:sldMkLst>
          <pc:docMk/>
          <pc:sldMk cId="0" sldId="264"/>
        </pc:sldMkLst>
        <pc:spChg chg="mod">
          <ac:chgData name="RACHEL GUO" userId="2bb385a3-557f-40c2-ae7c-e20e2ca0fa5c" providerId="ADAL" clId="{F142E991-C65F-4216-8F44-47DBBDF0251E}" dt="2026-07-29T18:53:21.317" v="1211" actId="6549"/>
          <ac:spMkLst>
            <pc:docMk/>
            <pc:sldMk cId="0" sldId="264"/>
            <ac:spMk id="4" creationId="{00000000-0000-0000-0000-000000000000}"/>
          </ac:spMkLst>
        </pc:spChg>
      </pc:sldChg>
      <pc:sldChg chg="modSp mod">
        <pc:chgData name="RACHEL GUO" userId="2bb385a3-557f-40c2-ae7c-e20e2ca0fa5c" providerId="ADAL" clId="{F142E991-C65F-4216-8F44-47DBBDF0251E}" dt="2026-07-30T17:45:00.322" v="1306" actId="114"/>
        <pc:sldMkLst>
          <pc:docMk/>
          <pc:sldMk cId="0" sldId="265"/>
        </pc:sldMkLst>
        <pc:spChg chg="mod">
          <ac:chgData name="RACHEL GUO" userId="2bb385a3-557f-40c2-ae7c-e20e2ca0fa5c" providerId="ADAL" clId="{F142E991-C65F-4216-8F44-47DBBDF0251E}" dt="2026-07-29T14:37:35.194" v="414" actId="207"/>
          <ac:spMkLst>
            <pc:docMk/>
            <pc:sldMk cId="0" sldId="265"/>
            <ac:spMk id="5" creationId="{00000000-0000-0000-0000-000000000000}"/>
          </ac:spMkLst>
        </pc:spChg>
        <pc:spChg chg="mod">
          <ac:chgData name="RACHEL GUO" userId="2bb385a3-557f-40c2-ae7c-e20e2ca0fa5c" providerId="ADAL" clId="{F142E991-C65F-4216-8F44-47DBBDF0251E}" dt="2026-07-30T17:45:00.322" v="1306" actId="114"/>
          <ac:spMkLst>
            <pc:docMk/>
            <pc:sldMk cId="0" sldId="265"/>
            <ac:spMk id="9" creationId="{00000000-0000-0000-0000-000000000000}"/>
          </ac:spMkLst>
        </pc:spChg>
        <pc:spChg chg="mod">
          <ac:chgData name="RACHEL GUO" userId="2bb385a3-557f-40c2-ae7c-e20e2ca0fa5c" providerId="ADAL" clId="{F142E991-C65F-4216-8F44-47DBBDF0251E}" dt="2026-07-29T18:54:27.182" v="1237" actId="14100"/>
          <ac:spMkLst>
            <pc:docMk/>
            <pc:sldMk cId="0" sldId="265"/>
            <ac:spMk id="12" creationId="{00000000-0000-0000-0000-000000000000}"/>
          </ac:spMkLst>
        </pc:spChg>
        <pc:spChg chg="mod">
          <ac:chgData name="RACHEL GUO" userId="2bb385a3-557f-40c2-ae7c-e20e2ca0fa5c" providerId="ADAL" clId="{F142E991-C65F-4216-8F44-47DBBDF0251E}" dt="2026-07-29T18:54:46.647" v="1238" actId="14100"/>
          <ac:spMkLst>
            <pc:docMk/>
            <pc:sldMk cId="0" sldId="265"/>
            <ac:spMk id="15" creationId="{00000000-0000-0000-0000-000000000000}"/>
          </ac:spMkLst>
        </pc:spChg>
      </pc:sldChg>
      <pc:sldChg chg="modSp mod">
        <pc:chgData name="RACHEL GUO" userId="2bb385a3-557f-40c2-ae7c-e20e2ca0fa5c" providerId="ADAL" clId="{F142E991-C65F-4216-8F44-47DBBDF0251E}" dt="2026-07-29T18:51:44.279" v="1168" actId="403"/>
        <pc:sldMkLst>
          <pc:docMk/>
          <pc:sldMk cId="0" sldId="268"/>
        </pc:sldMkLst>
        <pc:spChg chg="mod">
          <ac:chgData name="RACHEL GUO" userId="2bb385a3-557f-40c2-ae7c-e20e2ca0fa5c" providerId="ADAL" clId="{F142E991-C65F-4216-8F44-47DBBDF0251E}" dt="2026-07-29T18:47:29.319" v="1124" actId="20577"/>
          <ac:spMkLst>
            <pc:docMk/>
            <pc:sldMk cId="0" sldId="268"/>
            <ac:spMk id="4" creationId="{00000000-0000-0000-0000-000000000000}"/>
          </ac:spMkLst>
        </pc:spChg>
        <pc:spChg chg="mod">
          <ac:chgData name="RACHEL GUO" userId="2bb385a3-557f-40c2-ae7c-e20e2ca0fa5c" providerId="ADAL" clId="{F142E991-C65F-4216-8F44-47DBBDF0251E}" dt="2026-07-29T18:45:10.275" v="1044" actId="20577"/>
          <ac:spMkLst>
            <pc:docMk/>
            <pc:sldMk cId="0" sldId="268"/>
            <ac:spMk id="8" creationId="{00000000-0000-0000-0000-000000000000}"/>
          </ac:spMkLst>
        </pc:spChg>
        <pc:spChg chg="mod">
          <ac:chgData name="RACHEL GUO" userId="2bb385a3-557f-40c2-ae7c-e20e2ca0fa5c" providerId="ADAL" clId="{F142E991-C65F-4216-8F44-47DBBDF0251E}" dt="2026-07-29T18:46:17.189" v="1069" actId="20577"/>
          <ac:spMkLst>
            <pc:docMk/>
            <pc:sldMk cId="0" sldId="268"/>
            <ac:spMk id="11" creationId="{00000000-0000-0000-0000-000000000000}"/>
          </ac:spMkLst>
        </pc:spChg>
        <pc:spChg chg="mod">
          <ac:chgData name="RACHEL GUO" userId="2bb385a3-557f-40c2-ae7c-e20e2ca0fa5c" providerId="ADAL" clId="{F142E991-C65F-4216-8F44-47DBBDF0251E}" dt="2026-07-29T18:47:12.395" v="1113" actId="20577"/>
          <ac:spMkLst>
            <pc:docMk/>
            <pc:sldMk cId="0" sldId="268"/>
            <ac:spMk id="14" creationId="{00000000-0000-0000-0000-000000000000}"/>
          </ac:spMkLst>
        </pc:spChg>
        <pc:spChg chg="mod">
          <ac:chgData name="RACHEL GUO" userId="2bb385a3-557f-40c2-ae7c-e20e2ca0fa5c" providerId="ADAL" clId="{F142E991-C65F-4216-8F44-47DBBDF0251E}" dt="2026-07-29T18:51:44.279" v="1168" actId="403"/>
          <ac:spMkLst>
            <pc:docMk/>
            <pc:sldMk cId="0" sldId="268"/>
            <ac:spMk id="40" creationId="{00000000-0000-0000-0000-000000000000}"/>
          </ac:spMkLst>
        </pc:spChg>
      </pc:sldChg>
      <pc:sldChg chg="modSp mod">
        <pc:chgData name="RACHEL GUO" userId="2bb385a3-557f-40c2-ae7c-e20e2ca0fa5c" providerId="ADAL" clId="{F142E991-C65F-4216-8F44-47DBBDF0251E}" dt="2026-07-29T18:51:38.225" v="1167" actId="404"/>
        <pc:sldMkLst>
          <pc:docMk/>
          <pc:sldMk cId="0" sldId="269"/>
        </pc:sldMkLst>
        <pc:spChg chg="mod">
          <ac:chgData name="RACHEL GUO" userId="2bb385a3-557f-40c2-ae7c-e20e2ca0fa5c" providerId="ADAL" clId="{F142E991-C65F-4216-8F44-47DBBDF0251E}" dt="2026-07-29T18:48:14.093" v="1144" actId="20577"/>
          <ac:spMkLst>
            <pc:docMk/>
            <pc:sldMk cId="0" sldId="269"/>
            <ac:spMk id="4" creationId="{00000000-0000-0000-0000-000000000000}"/>
          </ac:spMkLst>
        </pc:spChg>
        <pc:spChg chg="mod">
          <ac:chgData name="RACHEL GUO" userId="2bb385a3-557f-40c2-ae7c-e20e2ca0fa5c" providerId="ADAL" clId="{F142E991-C65F-4216-8F44-47DBBDF0251E}" dt="2026-07-29T18:51:38.225" v="1167" actId="404"/>
          <ac:spMkLst>
            <pc:docMk/>
            <pc:sldMk cId="0" sldId="269"/>
            <ac:spMk id="40" creationId="{00000000-0000-0000-0000-000000000000}"/>
          </ac:spMkLst>
        </pc:spChg>
      </pc:sldChg>
      <pc:sldChg chg="modSp add mod setBg">
        <pc:chgData name="RACHEL GUO" userId="2bb385a3-557f-40c2-ae7c-e20e2ca0fa5c" providerId="ADAL" clId="{F142E991-C65F-4216-8F44-47DBBDF0251E}" dt="2026-07-30T17:48:18.886" v="1309" actId="14100"/>
        <pc:sldMkLst>
          <pc:docMk/>
          <pc:sldMk cId="0" sldId="271"/>
        </pc:sldMkLst>
        <pc:spChg chg="mod">
          <ac:chgData name="RACHEL GUO" userId="2bb385a3-557f-40c2-ae7c-e20e2ca0fa5c" providerId="ADAL" clId="{F142E991-C65F-4216-8F44-47DBBDF0251E}" dt="2026-07-30T17:47:17.798" v="1307" actId="6549"/>
          <ac:spMkLst>
            <pc:docMk/>
            <pc:sldMk cId="0" sldId="271"/>
            <ac:spMk id="6" creationId="{00000000-0000-0000-0000-000000000000}"/>
          </ac:spMkLst>
        </pc:spChg>
        <pc:spChg chg="mod">
          <ac:chgData name="RACHEL GUO" userId="2bb385a3-557f-40c2-ae7c-e20e2ca0fa5c" providerId="ADAL" clId="{F142E991-C65F-4216-8F44-47DBBDF0251E}" dt="2026-07-30T17:48:18.886" v="1309" actId="14100"/>
          <ac:spMkLst>
            <pc:docMk/>
            <pc:sldMk cId="0" sldId="271"/>
            <ac:spMk id="26" creationId="{00000000-0000-0000-0000-000000000000}"/>
          </ac:spMkLst>
        </pc:spChg>
      </pc:sldChg>
      <pc:sldChg chg="add del setBg">
        <pc:chgData name="RACHEL GUO" userId="2bb385a3-557f-40c2-ae7c-e20e2ca0fa5c" providerId="ADAL" clId="{F142E991-C65F-4216-8F44-47DBBDF0251E}" dt="2026-07-31T01:18:31.580" v="1312"/>
        <pc:sldMkLst>
          <pc:docMk/>
          <pc:sldMk cId="0"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8438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2B2B"/>
        </a:solidFill>
        <a:effectLst/>
      </p:bgPr>
    </p:bg>
    <p:spTree>
      <p:nvGrpSpPr>
        <p:cNvPr id="1" name=""/>
        <p:cNvGrpSpPr/>
        <p:nvPr/>
      </p:nvGrpSpPr>
      <p:grpSpPr>
        <a:xfrm>
          <a:off x="0" y="0"/>
          <a:ext cx="0" cy="0"/>
          <a:chOff x="0" y="0"/>
          <a:chExt cx="0" cy="0"/>
        </a:xfrm>
      </p:grpSpPr>
      <p:sp>
        <p:nvSpPr>
          <p:cNvPr id="2" name="Shape 0"/>
          <p:cNvSpPr/>
          <p:nvPr/>
        </p:nvSpPr>
        <p:spPr>
          <a:xfrm>
            <a:off x="8961120" y="4206240"/>
            <a:ext cx="5486400" cy="5486400"/>
          </a:xfrm>
          <a:prstGeom prst="ellipse">
            <a:avLst/>
          </a:prstGeom>
          <a:solidFill>
            <a:srgbClr val="1E5A50">
              <a:alpha val="45000"/>
            </a:srgbClr>
          </a:solidFill>
          <a:ln/>
        </p:spPr>
        <p:txBody>
          <a:bodyPr/>
          <a:lstStyle/>
          <a:p>
            <a:endParaRPr lang="en-US"/>
          </a:p>
        </p:txBody>
      </p:sp>
      <p:sp>
        <p:nvSpPr>
          <p:cNvPr id="3" name="Shape 1"/>
          <p:cNvSpPr/>
          <p:nvPr/>
        </p:nvSpPr>
        <p:spPr>
          <a:xfrm>
            <a:off x="10424160" y="-1280160"/>
            <a:ext cx="3657600" cy="3657600"/>
          </a:xfrm>
          <a:prstGeom prst="ellipse">
            <a:avLst/>
          </a:prstGeom>
          <a:solidFill>
            <a:srgbClr val="DBAA47">
              <a:alpha val="40000"/>
            </a:srgbClr>
          </a:solidFill>
          <a:ln/>
        </p:spPr>
        <p:txBody>
          <a:bodyPr/>
          <a:lstStyle/>
          <a:p>
            <a:endParaRPr lang="en-US"/>
          </a:p>
        </p:txBody>
      </p:sp>
      <p:sp>
        <p:nvSpPr>
          <p:cNvPr id="20" name="Text 20"/>
          <p:cNvSpPr/>
          <p:nvPr/>
        </p:nvSpPr>
        <p:spPr>
          <a:xfrm>
            <a:off x="822960" y="594360"/>
            <a:ext cx="9144000" cy="41148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HaloVox</a:t>
            </a:r>
            <a:r>
              <a:rPr lang="en-US" sz="1600" dirty="0">
                <a:solidFill>
                  <a:srgbClr val="DBAA47"/>
                </a:solidFill>
                <a:latin typeface="Calibri" pitchFamily="34" charset="0"/>
                <a:ea typeface="Calibri" pitchFamily="34" charset="-122"/>
                <a:cs typeface="Calibri" pitchFamily="34" charset="-120"/>
              </a:rPr>
              <a:t>  •  </a:t>
            </a:r>
            <a:r>
              <a:rPr lang="en-US" sz="2000" dirty="0">
                <a:solidFill>
                  <a:srgbClr val="F0E9CE"/>
                </a:solidFill>
                <a:latin typeface="Cambria" pitchFamily="34" charset="0"/>
                <a:ea typeface="Cambria" pitchFamily="34" charset="-122"/>
                <a:cs typeface="Cambria" pitchFamily="34" charset="-120"/>
              </a:rPr>
              <a:t>Clinic Flow</a:t>
            </a:r>
          </a:p>
        </p:txBody>
      </p:sp>
      <p:sp>
        <p:nvSpPr>
          <p:cNvPr id="4" name="Text 2"/>
          <p:cNvSpPr/>
          <p:nvPr/>
        </p:nvSpPr>
        <p:spPr>
          <a:xfrm>
            <a:off x="822960" y="1691640"/>
            <a:ext cx="9144000" cy="365760"/>
          </a:xfrm>
          <a:prstGeom prst="rect">
            <a:avLst/>
          </a:prstGeom>
          <a:noFill/>
          <a:ln/>
        </p:spPr>
        <p:txBody>
          <a:bodyPr wrap="square" rtlCol="0" anchor="ctr"/>
          <a:lstStyle/>
          <a:p>
            <a:pPr marL="0" indent="0">
              <a:buNone/>
            </a:pPr>
            <a:r>
              <a:rPr lang="en-US" sz="1400" b="1" kern="0" spc="200" dirty="0">
                <a:solidFill>
                  <a:srgbClr val="DBAA47"/>
                </a:solidFill>
                <a:latin typeface="Calibri" pitchFamily="34" charset="0"/>
                <a:ea typeface="Calibri" pitchFamily="34" charset="-122"/>
                <a:cs typeface="Calibri" pitchFamily="34" charset="-120"/>
              </a:rPr>
              <a:t>A QUIETER WAY TO RUN YOUR PRACTICE</a:t>
            </a:r>
            <a:endParaRPr lang="en-US" sz="1400" dirty="0"/>
          </a:p>
        </p:txBody>
      </p:sp>
      <p:sp>
        <p:nvSpPr>
          <p:cNvPr id="5" name="Text 3"/>
          <p:cNvSpPr/>
          <p:nvPr/>
        </p:nvSpPr>
        <p:spPr>
          <a:xfrm>
            <a:off x="777240" y="2057400"/>
            <a:ext cx="7800000" cy="2011680"/>
          </a:xfrm>
          <a:prstGeom prst="rect">
            <a:avLst/>
          </a:prstGeom>
          <a:noFill/>
          <a:ln/>
        </p:spPr>
        <p:txBody>
          <a:bodyPr wrap="square" rtlCol="0" anchor="ctr"/>
          <a:lstStyle/>
          <a:p>
            <a:pPr marL="0" indent="0">
              <a:lnSpc>
                <a:spcPts val="4400"/>
              </a:lnSpc>
              <a:buNone/>
            </a:pPr>
            <a:r>
              <a:rPr lang="en-US" sz="3800" b="1" dirty="0">
                <a:solidFill>
                  <a:srgbClr val="FFFFFF"/>
                </a:solidFill>
                <a:latin typeface="Cambria" pitchFamily="34" charset="0"/>
                <a:ea typeface="Cambria" pitchFamily="34" charset="-122"/>
                <a:cs typeface="Cambria" pitchFamily="34" charset="-120"/>
              </a:rPr>
              <a:t>More time caring for patients.</a:t>
            </a:r>
            <a:endParaRPr lang="en-US" sz="3800" dirty="0"/>
          </a:p>
          <a:p>
            <a:pPr marL="0" indent="0">
              <a:lnSpc>
                <a:spcPts val="4400"/>
              </a:lnSpc>
              <a:buNone/>
            </a:pPr>
            <a:r>
              <a:rPr lang="en-US" sz="3800" b="1" dirty="0">
                <a:solidFill>
                  <a:srgbClr val="FFFFFF"/>
                </a:solidFill>
                <a:latin typeface="Cambria" pitchFamily="34" charset="0"/>
                <a:ea typeface="Cambria" pitchFamily="34" charset="-122"/>
                <a:cs typeface="Cambria" pitchFamily="34" charset="-120"/>
              </a:rPr>
              <a:t>Less time on repetitive administrative work.</a:t>
            </a:r>
            <a:endParaRPr lang="en-US" sz="3800" dirty="0"/>
          </a:p>
        </p:txBody>
      </p:sp>
      <p:sp>
        <p:nvSpPr>
          <p:cNvPr id="6" name="Text 4"/>
          <p:cNvSpPr/>
          <p:nvPr/>
        </p:nvSpPr>
        <p:spPr>
          <a:xfrm>
            <a:off x="822960" y="4251960"/>
            <a:ext cx="7955280" cy="1005840"/>
          </a:xfrm>
          <a:prstGeom prst="rect">
            <a:avLst/>
          </a:prstGeom>
          <a:noFill/>
          <a:ln/>
        </p:spPr>
        <p:txBody>
          <a:bodyPr wrap="square" rtlCol="0" anchor="ctr"/>
          <a:lstStyle/>
          <a:p>
            <a:pPr marL="0" indent="0">
              <a:buNone/>
            </a:pPr>
            <a:r>
              <a:rPr lang="en-US" sz="1600" i="1" dirty="0">
                <a:solidFill>
                  <a:srgbClr val="F0E9CE"/>
                </a:solidFill>
                <a:latin typeface="Calibri" pitchFamily="34" charset="0"/>
                <a:ea typeface="Calibri" pitchFamily="34" charset="-122"/>
                <a:cs typeface="Calibri" pitchFamily="34" charset="-120"/>
              </a:rPr>
              <a:t>HaloVox Clinic Flow reduces routine front-desk work through clinic-approved automation — configured and supported for your practice, without giving your team another system to manage.</a:t>
            </a:r>
            <a:endParaRPr lang="en-US" sz="1600" dirty="0"/>
          </a:p>
        </p:txBody>
      </p:sp>
      <p:sp>
        <p:nvSpPr>
          <p:cNvPr id="7" name="Text 5"/>
          <p:cNvSpPr/>
          <p:nvPr/>
        </p:nvSpPr>
        <p:spPr>
          <a:xfrm>
            <a:off x="822960" y="6309360"/>
            <a:ext cx="7315200" cy="274320"/>
          </a:xfrm>
          <a:prstGeom prst="rect">
            <a:avLst/>
          </a:prstGeom>
          <a:noFill/>
          <a:ln/>
        </p:spPr>
        <p:txBody>
          <a:bodyPr wrap="square" rtlCol="0" anchor="ctr"/>
          <a:lstStyle/>
          <a:p>
            <a:pPr marL="0" indent="0">
              <a:buNone/>
            </a:pPr>
            <a:r>
              <a:rPr lang="en-US" sz="1100" dirty="0">
                <a:solidFill>
                  <a:srgbClr val="C4B98D"/>
                </a:solidFill>
                <a:latin typeface="Calibri" pitchFamily="34" charset="0"/>
                <a:ea typeface="Calibri" pitchFamily="34" charset="-122"/>
                <a:cs typeface="Calibri" pitchFamily="34" charset="-120"/>
              </a:rPr>
              <a:t>Prepared for discussion with your practice</a:t>
            </a:r>
            <a:endParaRPr lang="en-US" sz="1100" dirty="0"/>
          </a:p>
        </p:txBody>
      </p:sp>
      <p:pic>
        <p:nvPicPr>
          <p:cNvPr id="90" name="HaloVox logo" descr="HaloVox logo"/>
          <p:cNvPicPr>
            <a:picLocks noChangeAspect="1"/>
          </p:cNvPicPr>
          <p:nvPr/>
        </p:nvPicPr>
        <p:blipFill>
          <a:blip r:embed="rId3"/>
          <a:stretch>
            <a:fillRect/>
          </a:stretch>
        </p:blipFill>
        <p:spPr>
          <a:xfrm>
            <a:off x="8808720" y="1965960"/>
            <a:ext cx="2926080" cy="29260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640080" y="502920"/>
            <a:ext cx="10515600" cy="640080"/>
          </a:xfrm>
          <a:prstGeom prst="rect">
            <a:avLst/>
          </a:prstGeom>
          <a:noFill/>
          <a:ln/>
        </p:spPr>
        <p:txBody>
          <a:bodyPr wrap="square" rtlCol="0" anchor="ctr"/>
          <a:lstStyle/>
          <a:p>
            <a:pPr marL="0" indent="0">
              <a:buNone/>
            </a:pPr>
            <a:r>
              <a:rPr lang="en-US" sz="2800" b="1" dirty="0">
                <a:solidFill>
                  <a:srgbClr val="0B3B36"/>
                </a:solidFill>
                <a:latin typeface="Cambria" pitchFamily="34" charset="0"/>
                <a:ea typeface="Cambria" pitchFamily="34" charset="-122"/>
                <a:cs typeface="Cambria" pitchFamily="34" charset="-120"/>
              </a:rPr>
              <a:t>Why HaloVox Clinic Flow?</a:t>
            </a:r>
          </a:p>
        </p:txBody>
      </p:sp>
      <p:sp>
        <p:nvSpPr>
          <p:cNvPr id="3" name="Shape 3"/>
          <p:cNvSpPr/>
          <p:nvPr/>
        </p:nvSpPr>
        <p:spPr>
          <a:xfrm>
            <a:off x="640080" y="1691640"/>
            <a:ext cx="10515600" cy="1554480"/>
          </a:xfrm>
          <a:prstGeom prst="rect">
            <a:avLst/>
          </a:prstGeom>
          <a:noFill/>
          <a:ln/>
        </p:spPr>
        <p:txBody>
          <a:bodyPr wrap="square" rtlCol="0" anchor="ctr"/>
          <a:lstStyle/>
          <a:p>
            <a:pPr marL="0" indent="0">
              <a:lnSpc>
                <a:spcPct val="140000"/>
              </a:lnSpc>
              <a:buNone/>
            </a:pPr>
            <a:r>
              <a:rPr lang="en-US" sz="1700" dirty="0">
                <a:solidFill>
                  <a:srgbClr val="1B2B2E"/>
                </a:solidFill>
                <a:latin typeface="Calibri" pitchFamily="34" charset="0"/>
                <a:ea typeface="Calibri" pitchFamily="34" charset="-122"/>
                <a:cs typeface="Calibri" pitchFamily="34" charset="-120"/>
              </a:rPr>
              <a:t>Small practices often face the same administrative complexity as larger organizations, without the staff or technology teams available to manage it — too lean to add staff, yet underserved by enterprise systems built for bigger operations.</a:t>
            </a:r>
          </a:p>
        </p:txBody>
      </p:sp>
      <p:sp>
        <p:nvSpPr>
          <p:cNvPr id="4" name="Shape 4"/>
          <p:cNvSpPr/>
          <p:nvPr/>
        </p:nvSpPr>
        <p:spPr>
          <a:xfrm>
            <a:off x="640080" y="3703320"/>
            <a:ext cx="10515600" cy="1828800"/>
          </a:xfrm>
          <a:prstGeom prst="roundRect">
            <a:avLst>
              <a:gd name="adj" fmla="val 5263"/>
            </a:avLst>
          </a:prstGeom>
          <a:solidFill>
            <a:srgbClr val="F6F1DD"/>
          </a:solidFill>
          <a:ln w="12700">
            <a:solidFill>
              <a:srgbClr val="E6DDBE"/>
            </a:solidFill>
            <a:prstDash val="solid"/>
          </a:ln>
        </p:spPr>
        <p:txBody>
          <a:bodyPr wrap="square" rtlCol="0" anchor="t"/>
          <a:lstStyle/>
          <a:p>
            <a:endParaRPr lang="en-US"/>
          </a:p>
        </p:txBody>
      </p:sp>
      <p:sp>
        <p:nvSpPr>
          <p:cNvPr id="5" name="Shape 5"/>
          <p:cNvSpPr/>
          <p:nvPr/>
        </p:nvSpPr>
        <p:spPr>
          <a:xfrm>
            <a:off x="1005840" y="3931920"/>
            <a:ext cx="9783825" cy="1371600"/>
          </a:xfrm>
          <a:prstGeom prst="rect">
            <a:avLst/>
          </a:prstGeom>
          <a:noFill/>
          <a:ln/>
        </p:spPr>
        <p:txBody>
          <a:bodyPr wrap="square" rtlCol="0" anchor="ctr"/>
          <a:lstStyle/>
          <a:p>
            <a:pPr marL="0" indent="0">
              <a:lnSpc>
                <a:spcPct val="140000"/>
              </a:lnSpc>
              <a:buNone/>
            </a:pPr>
            <a:r>
              <a:rPr lang="en-US" sz="1700" dirty="0">
                <a:solidFill>
                  <a:srgbClr val="1B2B2E"/>
                </a:solidFill>
                <a:latin typeface="Calibri" pitchFamily="34" charset="0"/>
                <a:ea typeface="Calibri" pitchFamily="34" charset="-122"/>
                <a:cs typeface="Calibri" pitchFamily="34" charset="-120"/>
              </a:rPr>
              <a:t>After twenty years building enterprise healthcare solutions, I started HaloVox to make </a:t>
            </a:r>
            <a:r>
              <a:rPr lang="en-US" sz="1700" b="1" dirty="0">
                <a:solidFill>
                  <a:srgbClr val="0B3B36"/>
                </a:solidFill>
                <a:latin typeface="Calibri" pitchFamily="34" charset="0"/>
                <a:ea typeface="Calibri" pitchFamily="34" charset="-122"/>
                <a:cs typeface="Calibri" pitchFamily="34" charset="-120"/>
              </a:rPr>
              <a:t>that same operational advantage practical and affordable for independent practices</a:t>
            </a:r>
            <a:r>
              <a:rPr lang="en-US" sz="1700" dirty="0">
                <a:solidFill>
                  <a:srgbClr val="1B2B2E"/>
                </a:solidFill>
                <a:latin typeface="Calibri" pitchFamily="34" charset="0"/>
                <a:ea typeface="Calibri" pitchFamily="34" charset="-122"/>
                <a:cs typeface="Calibri" pitchFamily="34" charset="-120"/>
              </a:rPr>
              <a:t> — built around the way small clinics actually work.</a:t>
            </a:r>
          </a:p>
        </p:txBody>
      </p:sp>
      <p:sp>
        <p:nvSpPr>
          <p:cNvPr id="6" name="Shape 6"/>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E6857"/>
                </a:solidFill>
                <a:latin typeface="Calibri" pitchFamily="34" charset="0"/>
                <a:ea typeface="Calibri" pitchFamily="34" charset="-122"/>
                <a:cs typeface="Calibri" pitchFamily="34" charset="-120"/>
              </a:rPr>
              <a:t>Halo Holdings  •  Confidential — for discussion</a:t>
            </a:r>
          </a:p>
        </p:txBody>
      </p:sp>
      <p:sp>
        <p:nvSpPr>
          <p:cNvPr id="7" name="Shape 7"/>
          <p:cNvSpPr/>
          <p:nvPr/>
        </p:nvSpPr>
        <p:spPr>
          <a:xfrm>
            <a:off x="8988552" y="6473952"/>
            <a:ext cx="2743200" cy="274320"/>
          </a:xfrm>
          <a:prstGeom prst="rect">
            <a:avLst/>
          </a:prstGeom>
          <a:noFill/>
          <a:ln/>
        </p:spPr>
        <p:txBody>
          <a:bodyPr wrap="square" rtlCol="0" anchor="ctr"/>
          <a:lstStyle/>
          <a:p>
            <a:pPr marL="0" indent="0" algn="r">
              <a:buNone/>
            </a:pPr>
            <a:r>
              <a:rPr lang="en-US" sz="900" dirty="0">
                <a:solidFill>
                  <a:srgbClr val="6E6857"/>
                </a:solidFill>
                <a:latin typeface="Calibri" pitchFamily="34" charset="0"/>
                <a:ea typeface="Calibri" pitchFamily="34" charset="-122"/>
                <a:cs typeface="Calibri" pitchFamily="34" charset="-120"/>
              </a:rPr>
              <a:t>Why this, why 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515600" cy="640080"/>
          </a:xfrm>
          <a:prstGeom prst="rect">
            <a:avLst/>
          </a:prstGeom>
          <a:noFill/>
          <a:ln/>
        </p:spPr>
        <p:txBody>
          <a:bodyPr wrap="square" rtlCol="0" anchor="ctr"/>
          <a:lstStyle/>
          <a:p>
            <a:pPr marL="0" indent="0">
              <a:buNone/>
            </a:pPr>
            <a:r>
              <a:rPr lang="en-US" sz="3200" b="1" dirty="0">
                <a:solidFill>
                  <a:srgbClr val="1B2B2E"/>
                </a:solidFill>
                <a:latin typeface="Cambria" pitchFamily="34" charset="0"/>
                <a:ea typeface="Cambria" pitchFamily="34" charset="-122"/>
                <a:cs typeface="Cambria" pitchFamily="34" charset="-120"/>
              </a:rPr>
              <a:t>What I'm offering you</a:t>
            </a:r>
            <a:endParaRPr lang="en-US" sz="3200" dirty="0"/>
          </a:p>
        </p:txBody>
      </p:sp>
      <p:sp>
        <p:nvSpPr>
          <p:cNvPr id="3" name="Text 1"/>
          <p:cNvSpPr/>
          <p:nvPr/>
        </p:nvSpPr>
        <p:spPr>
          <a:xfrm>
            <a:off x="640080" y="1115568"/>
            <a:ext cx="10058400" cy="365760"/>
          </a:xfrm>
          <a:prstGeom prst="rect">
            <a:avLst/>
          </a:prstGeom>
          <a:noFill/>
          <a:ln/>
        </p:spPr>
        <p:txBody>
          <a:bodyPr wrap="square" rtlCol="0" anchor="ctr"/>
          <a:lstStyle/>
          <a:p>
            <a:pPr marL="0" indent="0">
              <a:buNone/>
            </a:pPr>
            <a:r>
              <a:rPr lang="en-US" sz="1500" dirty="0">
                <a:solidFill>
                  <a:srgbClr val="6E6857"/>
                </a:solidFill>
                <a:latin typeface="Calibri" pitchFamily="34" charset="0"/>
                <a:ea typeface="Calibri" pitchFamily="34" charset="-122"/>
                <a:cs typeface="Calibri" pitchFamily="34" charset="-120"/>
              </a:rPr>
              <a:t>Two things, working together.</a:t>
            </a:r>
            <a:endParaRPr lang="en-US" sz="1500" dirty="0"/>
          </a:p>
        </p:txBody>
      </p:sp>
      <p:sp>
        <p:nvSpPr>
          <p:cNvPr id="4" name="Shape 2"/>
          <p:cNvSpPr/>
          <p:nvPr/>
        </p:nvSpPr>
        <p:spPr>
          <a:xfrm>
            <a:off x="640080" y="1874520"/>
            <a:ext cx="5120640" cy="3017911"/>
          </a:xfrm>
          <a:prstGeom prst="roundRect">
            <a:avLst>
              <a:gd name="adj" fmla="val 3218"/>
            </a:avLst>
          </a:prstGeom>
          <a:solidFill>
            <a:srgbClr val="F6F1DD"/>
          </a:solidFill>
          <a:ln w="12700">
            <a:solidFill>
              <a:srgbClr val="E6DDBE"/>
            </a:solidFill>
            <a:prstDash val="solid"/>
          </a:ln>
        </p:spPr>
        <p:txBody>
          <a:bodyPr/>
          <a:lstStyle/>
          <a:p>
            <a:endParaRPr lang="en-US"/>
          </a:p>
        </p:txBody>
      </p:sp>
      <p:sp>
        <p:nvSpPr>
          <p:cNvPr id="5" name="Shape 3"/>
          <p:cNvSpPr/>
          <p:nvPr/>
        </p:nvSpPr>
        <p:spPr>
          <a:xfrm>
            <a:off x="1005840" y="2240280"/>
            <a:ext cx="777240" cy="777240"/>
          </a:xfrm>
          <a:prstGeom prst="ellipse">
            <a:avLst/>
          </a:prstGeom>
          <a:solidFill>
            <a:srgbClr val="042B2B"/>
          </a:solidFill>
          <a:ln/>
        </p:spPr>
        <p:txBody>
          <a:bodyPr/>
          <a:lstStyle/>
          <a:p>
            <a:endParaRPr lang="en-US"/>
          </a:p>
        </p:txBody>
      </p:sp>
      <p:pic>
        <p:nvPicPr>
          <p:cNvPr id="6" name="Image 0" descr="/home/claude/pptxgen/icons/heart.png"/>
          <p:cNvPicPr>
            <a:picLocks noChangeAspect="1"/>
          </p:cNvPicPr>
          <p:nvPr/>
        </p:nvPicPr>
        <p:blipFill>
          <a:blip r:embed="rId3"/>
          <a:stretch>
            <a:fillRect/>
          </a:stretch>
        </p:blipFill>
        <p:spPr>
          <a:xfrm>
            <a:off x="1207008" y="2441448"/>
            <a:ext cx="374904" cy="374904"/>
          </a:xfrm>
          <a:prstGeom prst="rect">
            <a:avLst/>
          </a:prstGeom>
        </p:spPr>
      </p:pic>
      <p:sp>
        <p:nvSpPr>
          <p:cNvPr id="7" name="Text 4"/>
          <p:cNvSpPr/>
          <p:nvPr/>
        </p:nvSpPr>
        <p:spPr>
          <a:xfrm>
            <a:off x="1897380" y="2250831"/>
            <a:ext cx="3776589" cy="822960"/>
          </a:xfrm>
          <a:prstGeom prst="rect">
            <a:avLst/>
          </a:prstGeom>
          <a:noFill/>
          <a:ln/>
        </p:spPr>
        <p:txBody>
          <a:bodyPr wrap="square" rtlCol="0" anchor="ctr"/>
          <a:lstStyle/>
          <a:p>
            <a:pPr marL="0" indent="0">
              <a:lnSpc>
                <a:spcPct val="110000"/>
              </a:lnSpc>
              <a:buNone/>
            </a:pPr>
            <a:r>
              <a:rPr lang="en-US" sz="1900" b="1" dirty="0">
                <a:solidFill>
                  <a:srgbClr val="0B3B36"/>
                </a:solidFill>
                <a:latin typeface="Cambria" pitchFamily="34" charset="0"/>
                <a:ea typeface="Cambria" pitchFamily="34" charset="-122"/>
                <a:cs typeface="Cambria" pitchFamily="34" charset="-120"/>
              </a:rPr>
              <a:t>A system that works for you quietly behind the scenes</a:t>
            </a:r>
            <a:endParaRPr lang="en-US" sz="1900" dirty="0"/>
          </a:p>
        </p:txBody>
      </p:sp>
      <p:sp>
        <p:nvSpPr>
          <p:cNvPr id="8" name="Text 5"/>
          <p:cNvSpPr/>
          <p:nvPr/>
        </p:nvSpPr>
        <p:spPr>
          <a:xfrm>
            <a:off x="1083994" y="3226660"/>
            <a:ext cx="4389120" cy="1554480"/>
          </a:xfrm>
          <a:prstGeom prst="rect">
            <a:avLst/>
          </a:prstGeom>
          <a:noFill/>
          <a:ln/>
        </p:spPr>
        <p:txBody>
          <a:bodyPr wrap="square" rtlCol="0" anchor="ctr"/>
          <a:lstStyle/>
          <a:p>
            <a:pPr marL="0" indent="0">
              <a:lnSpc>
                <a:spcPct val="130000"/>
              </a:lnSpc>
              <a:buNone/>
            </a:pPr>
            <a:r>
              <a:rPr lang="en-US" sz="1450" dirty="0">
                <a:solidFill>
                  <a:srgbClr val="1B2B2E"/>
                </a:solidFill>
                <a:latin typeface="Calibri" pitchFamily="34" charset="0"/>
                <a:ea typeface="Calibri" pitchFamily="34" charset="-122"/>
                <a:cs typeface="Calibri" pitchFamily="34" charset="-120"/>
              </a:rPr>
              <a:t>It takes on the manual administrative work — reminders, insurance checks, fax handling, and more — so your team's time goes back to where it matters most: caring for patients.</a:t>
            </a:r>
            <a:endParaRPr lang="en-US" sz="1450" dirty="0"/>
          </a:p>
        </p:txBody>
      </p:sp>
      <p:sp>
        <p:nvSpPr>
          <p:cNvPr id="9" name="Shape 6"/>
          <p:cNvSpPr/>
          <p:nvPr/>
        </p:nvSpPr>
        <p:spPr>
          <a:xfrm>
            <a:off x="6080760" y="1874520"/>
            <a:ext cx="5120640" cy="3017911"/>
          </a:xfrm>
          <a:prstGeom prst="roundRect">
            <a:avLst>
              <a:gd name="adj" fmla="val 3218"/>
            </a:avLst>
          </a:prstGeom>
          <a:solidFill>
            <a:srgbClr val="F6F1DD"/>
          </a:solidFill>
          <a:ln w="12700">
            <a:solidFill>
              <a:srgbClr val="E6DDBE"/>
            </a:solidFill>
            <a:prstDash val="solid"/>
          </a:ln>
        </p:spPr>
        <p:txBody>
          <a:bodyPr/>
          <a:lstStyle/>
          <a:p>
            <a:endParaRPr lang="en-US"/>
          </a:p>
        </p:txBody>
      </p:sp>
      <p:sp>
        <p:nvSpPr>
          <p:cNvPr id="10" name="Shape 7"/>
          <p:cNvSpPr/>
          <p:nvPr/>
        </p:nvSpPr>
        <p:spPr>
          <a:xfrm>
            <a:off x="6446520" y="2240280"/>
            <a:ext cx="777240" cy="777240"/>
          </a:xfrm>
          <a:prstGeom prst="ellipse">
            <a:avLst/>
          </a:prstGeom>
          <a:solidFill>
            <a:srgbClr val="042B2B"/>
          </a:solidFill>
          <a:ln/>
        </p:spPr>
        <p:txBody>
          <a:bodyPr/>
          <a:lstStyle/>
          <a:p>
            <a:endParaRPr lang="en-US"/>
          </a:p>
        </p:txBody>
      </p:sp>
      <p:pic>
        <p:nvPicPr>
          <p:cNvPr id="11" name="Image 1" descr="/home/claude/pptxgen/icons/headset.png"/>
          <p:cNvPicPr>
            <a:picLocks noChangeAspect="1"/>
          </p:cNvPicPr>
          <p:nvPr/>
        </p:nvPicPr>
        <p:blipFill>
          <a:blip r:embed="rId4"/>
          <a:stretch>
            <a:fillRect/>
          </a:stretch>
        </p:blipFill>
        <p:spPr>
          <a:xfrm>
            <a:off x="6647688" y="2441448"/>
            <a:ext cx="374904" cy="374904"/>
          </a:xfrm>
          <a:prstGeom prst="rect">
            <a:avLst/>
          </a:prstGeom>
        </p:spPr>
      </p:pic>
      <p:sp>
        <p:nvSpPr>
          <p:cNvPr id="12" name="Text 8"/>
          <p:cNvSpPr/>
          <p:nvPr/>
        </p:nvSpPr>
        <p:spPr>
          <a:xfrm>
            <a:off x="7223760" y="2088896"/>
            <a:ext cx="4389120" cy="822960"/>
          </a:xfrm>
          <a:prstGeom prst="rect">
            <a:avLst/>
          </a:prstGeom>
          <a:noFill/>
          <a:ln/>
        </p:spPr>
        <p:txBody>
          <a:bodyPr wrap="square" rtlCol="0" anchor="ctr"/>
          <a:lstStyle/>
          <a:p>
            <a:pPr>
              <a:lnSpc>
                <a:spcPct val="110000"/>
              </a:lnSpc>
            </a:pPr>
            <a:r>
              <a:rPr lang="en-US" sz="1900" b="1" dirty="0">
                <a:solidFill>
                  <a:srgbClr val="0B3B36"/>
                </a:solidFill>
                <a:latin typeface="Cambria" pitchFamily="34" charset="0"/>
                <a:ea typeface="Cambria" pitchFamily="34" charset="-122"/>
                <a:cs typeface="Cambria" pitchFamily="34" charset="-120"/>
              </a:rPr>
              <a:t>Onboarding Service, done for you</a:t>
            </a:r>
            <a:endParaRPr lang="en-US" sz="1900" dirty="0"/>
          </a:p>
        </p:txBody>
      </p:sp>
      <p:sp>
        <p:nvSpPr>
          <p:cNvPr id="13" name="Text 9"/>
          <p:cNvSpPr/>
          <p:nvPr/>
        </p:nvSpPr>
        <p:spPr>
          <a:xfrm>
            <a:off x="6647688" y="3168905"/>
            <a:ext cx="4389120" cy="1554480"/>
          </a:xfrm>
          <a:prstGeom prst="rect">
            <a:avLst/>
          </a:prstGeom>
          <a:noFill/>
          <a:ln/>
        </p:spPr>
        <p:txBody>
          <a:bodyPr wrap="square" rtlCol="0" anchor="ctr"/>
          <a:lstStyle/>
          <a:p>
            <a:pPr marL="0" indent="0">
              <a:lnSpc>
                <a:spcPct val="130000"/>
              </a:lnSpc>
              <a:buNone/>
            </a:pPr>
            <a:r>
              <a:rPr lang="en-US" sz="1450" dirty="0">
                <a:solidFill>
                  <a:srgbClr val="1B2B2E"/>
                </a:solidFill>
                <a:latin typeface="Calibri" pitchFamily="34" charset="0"/>
                <a:ea typeface="Calibri" pitchFamily="34" charset="-122"/>
                <a:cs typeface="Calibri" pitchFamily="34" charset="-120"/>
              </a:rPr>
              <a:t>We handle the technical configuration and work with your team to fit each workflow to your clinic's existing processes.</a:t>
            </a:r>
            <a:endParaRPr lang="en-US" sz="1450" dirty="0"/>
          </a:p>
        </p:txBody>
      </p:sp>
      <p:sp>
        <p:nvSpPr>
          <p:cNvPr id="14" name="Text 10"/>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E6857"/>
                </a:solidFill>
                <a:latin typeface="Calibri" pitchFamily="34" charset="0"/>
                <a:ea typeface="Calibri" pitchFamily="34" charset="-122"/>
                <a:cs typeface="Calibri" pitchFamily="34" charset="-120"/>
              </a:rPr>
              <a:t>Halo Holdings  •  Confidential — for discussion</a:t>
            </a:r>
            <a:endParaRPr lang="en-US" sz="900" dirty="0"/>
          </a:p>
        </p:txBody>
      </p:sp>
      <p:sp>
        <p:nvSpPr>
          <p:cNvPr id="15" name="Text 11"/>
          <p:cNvSpPr/>
          <p:nvPr/>
        </p:nvSpPr>
        <p:spPr>
          <a:xfrm>
            <a:off x="8988552" y="6473952"/>
            <a:ext cx="2743200" cy="274320"/>
          </a:xfrm>
          <a:prstGeom prst="rect">
            <a:avLst/>
          </a:prstGeom>
          <a:noFill/>
          <a:ln/>
        </p:spPr>
        <p:txBody>
          <a:bodyPr wrap="square" rtlCol="0" anchor="ctr"/>
          <a:lstStyle/>
          <a:p>
            <a:pPr marL="0" indent="0" algn="r">
              <a:buNone/>
            </a:pPr>
            <a:r>
              <a:rPr lang="en-US" sz="900" dirty="0">
                <a:solidFill>
                  <a:srgbClr val="6E6857"/>
                </a:solidFill>
                <a:latin typeface="Calibri" pitchFamily="34" charset="0"/>
                <a:ea typeface="Calibri" pitchFamily="34" charset="-122"/>
                <a:cs typeface="Calibri" pitchFamily="34" charset="-120"/>
              </a:rPr>
              <a:t>The offer, in short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640080"/>
          </a:xfrm>
          <a:prstGeom prst="rect">
            <a:avLst/>
          </a:prstGeom>
          <a:noFill/>
          <a:ln/>
        </p:spPr>
        <p:txBody>
          <a:bodyPr wrap="square" rtlCol="0" anchor="ctr"/>
          <a:lstStyle/>
          <a:p>
            <a:pPr marL="0" indent="0">
              <a:buNone/>
            </a:pPr>
            <a:r>
              <a:rPr lang="en-US" sz="3200" b="1" dirty="0">
                <a:solidFill>
                  <a:srgbClr val="1B2B2E"/>
                </a:solidFill>
                <a:latin typeface="Cambria" pitchFamily="34" charset="0"/>
                <a:ea typeface="Cambria" pitchFamily="34" charset="-122"/>
                <a:cs typeface="Cambria" pitchFamily="34" charset="-120"/>
              </a:rPr>
              <a:t>A typical day at your front desk</a:t>
            </a:r>
            <a:endParaRPr lang="en-US" sz="3200" dirty="0"/>
          </a:p>
        </p:txBody>
      </p:sp>
      <p:sp>
        <p:nvSpPr>
          <p:cNvPr id="3" name="Text 1"/>
          <p:cNvSpPr/>
          <p:nvPr/>
        </p:nvSpPr>
        <p:spPr>
          <a:xfrm>
            <a:off x="640080" y="1078992"/>
            <a:ext cx="10058400" cy="365760"/>
          </a:xfrm>
          <a:prstGeom prst="rect">
            <a:avLst/>
          </a:prstGeom>
          <a:noFill/>
          <a:ln/>
        </p:spPr>
        <p:txBody>
          <a:bodyPr wrap="square" rtlCol="0" anchor="ctr"/>
          <a:lstStyle/>
          <a:p>
            <a:pPr marL="0" indent="0">
              <a:buNone/>
            </a:pPr>
            <a:r>
              <a:rPr lang="en-US" sz="1500" dirty="0">
                <a:solidFill>
                  <a:srgbClr val="6E6857"/>
                </a:solidFill>
                <a:latin typeface="Calibri" pitchFamily="34" charset="0"/>
                <a:ea typeface="Calibri" pitchFamily="34" charset="-122"/>
                <a:cs typeface="Calibri" pitchFamily="34" charset="-120"/>
              </a:rPr>
              <a:t>How most small clinic offices run today —</a:t>
            </a:r>
            <a:endParaRPr lang="en-US" sz="1500" dirty="0"/>
          </a:p>
        </p:txBody>
      </p:sp>
      <p:sp>
        <p:nvSpPr>
          <p:cNvPr id="4" name="Shape 2"/>
          <p:cNvSpPr/>
          <p:nvPr/>
        </p:nvSpPr>
        <p:spPr>
          <a:xfrm>
            <a:off x="822960" y="1764792"/>
            <a:ext cx="128016" cy="128016"/>
          </a:xfrm>
          <a:prstGeom prst="ellipse">
            <a:avLst/>
          </a:prstGeom>
          <a:solidFill>
            <a:srgbClr val="DBAA47"/>
          </a:solidFill>
          <a:ln/>
        </p:spPr>
        <p:txBody>
          <a:bodyPr/>
          <a:lstStyle/>
          <a:p>
            <a:endParaRPr lang="en-US"/>
          </a:p>
        </p:txBody>
      </p:sp>
      <p:sp>
        <p:nvSpPr>
          <p:cNvPr id="5" name="Text 3"/>
          <p:cNvSpPr/>
          <p:nvPr/>
        </p:nvSpPr>
        <p:spPr>
          <a:xfrm>
            <a:off x="1143000" y="1737360"/>
            <a:ext cx="9692640" cy="457200"/>
          </a:xfrm>
          <a:prstGeom prst="rect">
            <a:avLst/>
          </a:prstGeom>
          <a:noFill/>
          <a:ln/>
        </p:spPr>
        <p:txBody>
          <a:bodyPr wrap="square" rtlCol="0" anchor="ctr"/>
          <a:lstStyle/>
          <a:p>
            <a:r>
              <a:rPr lang="en-US" sz="1700" dirty="0">
                <a:solidFill>
                  <a:srgbClr val="1B2B2E"/>
                </a:solidFill>
                <a:latin typeface="Calibri" pitchFamily="34" charset="0"/>
                <a:ea typeface="Calibri" pitchFamily="34" charset="-122"/>
                <a:cs typeface="Calibri" pitchFamily="34" charset="-120"/>
              </a:rPr>
              <a:t>Fax and preventive-care outreach — sorting and hand-delivering incoming faxes, sending records out, and tracking who's due for wellness visits and screenings</a:t>
            </a:r>
            <a:endParaRPr lang="en-US" sz="1700" dirty="0"/>
          </a:p>
          <a:p>
            <a:pPr marL="0" indent="0">
              <a:buNone/>
            </a:pPr>
            <a:endParaRPr lang="en-US" sz="1700" dirty="0"/>
          </a:p>
        </p:txBody>
      </p:sp>
      <p:sp>
        <p:nvSpPr>
          <p:cNvPr id="6" name="Shape 4"/>
          <p:cNvSpPr/>
          <p:nvPr/>
        </p:nvSpPr>
        <p:spPr>
          <a:xfrm>
            <a:off x="822960" y="2386584"/>
            <a:ext cx="128016" cy="128016"/>
          </a:xfrm>
          <a:prstGeom prst="ellipse">
            <a:avLst/>
          </a:prstGeom>
          <a:solidFill>
            <a:srgbClr val="DBAA47"/>
          </a:solidFill>
          <a:ln/>
        </p:spPr>
        <p:txBody>
          <a:bodyPr/>
          <a:lstStyle/>
          <a:p>
            <a:endParaRPr lang="en-US"/>
          </a:p>
        </p:txBody>
      </p:sp>
      <p:sp>
        <p:nvSpPr>
          <p:cNvPr id="7" name="Text 5"/>
          <p:cNvSpPr/>
          <p:nvPr/>
        </p:nvSpPr>
        <p:spPr>
          <a:xfrm>
            <a:off x="1143000" y="2324452"/>
            <a:ext cx="9692640" cy="457200"/>
          </a:xfrm>
          <a:prstGeom prst="rect">
            <a:avLst/>
          </a:prstGeom>
          <a:noFill/>
          <a:ln/>
        </p:spPr>
        <p:txBody>
          <a:bodyPr wrap="square" rtlCol="0" anchor="ctr"/>
          <a:lstStyle/>
          <a:p>
            <a:pPr marL="0" indent="0">
              <a:buNone/>
            </a:pPr>
            <a:r>
              <a:rPr lang="en-US" sz="1700" dirty="0">
                <a:solidFill>
                  <a:srgbClr val="1B2B2E"/>
                </a:solidFill>
                <a:latin typeface="Calibri" pitchFamily="34" charset="0"/>
                <a:ea typeface="Calibri" pitchFamily="34" charset="-122"/>
                <a:cs typeface="Calibri" pitchFamily="34" charset="-120"/>
              </a:rPr>
              <a:t>Appointment reminders and follow-up — calling patients to confirm visits, reschedule, and follow up on refill requests and lab-order questions</a:t>
            </a:r>
            <a:endParaRPr lang="en-US" sz="1700" dirty="0"/>
          </a:p>
        </p:txBody>
      </p:sp>
      <p:sp>
        <p:nvSpPr>
          <p:cNvPr id="8" name="Shape 6"/>
          <p:cNvSpPr/>
          <p:nvPr/>
        </p:nvSpPr>
        <p:spPr>
          <a:xfrm>
            <a:off x="826790" y="3101848"/>
            <a:ext cx="128016" cy="128016"/>
          </a:xfrm>
          <a:prstGeom prst="ellipse">
            <a:avLst/>
          </a:prstGeom>
          <a:solidFill>
            <a:srgbClr val="DBAA47"/>
          </a:solidFill>
          <a:ln/>
        </p:spPr>
        <p:txBody>
          <a:bodyPr/>
          <a:lstStyle/>
          <a:p>
            <a:endParaRPr lang="en-US"/>
          </a:p>
        </p:txBody>
      </p:sp>
      <p:sp>
        <p:nvSpPr>
          <p:cNvPr id="9" name="Text 7"/>
          <p:cNvSpPr/>
          <p:nvPr/>
        </p:nvSpPr>
        <p:spPr>
          <a:xfrm>
            <a:off x="1143000" y="2929831"/>
            <a:ext cx="9954846" cy="457200"/>
          </a:xfrm>
          <a:prstGeom prst="rect">
            <a:avLst/>
          </a:prstGeom>
          <a:noFill/>
          <a:ln/>
        </p:spPr>
        <p:txBody>
          <a:bodyPr wrap="square" rtlCol="0" anchor="ctr"/>
          <a:lstStyle/>
          <a:p>
            <a:pPr marL="0" indent="0">
              <a:buNone/>
            </a:pPr>
            <a:r>
              <a:rPr lang="en-US" sz="1700" dirty="0">
                <a:solidFill>
                  <a:srgbClr val="1B2B2E"/>
                </a:solidFill>
                <a:latin typeface="Calibri" pitchFamily="34" charset="0"/>
                <a:ea typeface="Calibri" pitchFamily="34" charset="-122"/>
                <a:cs typeface="Calibri" pitchFamily="34" charset="-120"/>
              </a:rPr>
              <a:t>Eligibility, referrals, and authorization administration — checking eligibility for each patient, filing prior authorization requests, and tracking referral status</a:t>
            </a:r>
            <a:endParaRPr lang="en-US" sz="1700" dirty="0"/>
          </a:p>
        </p:txBody>
      </p:sp>
      <p:sp>
        <p:nvSpPr>
          <p:cNvPr id="10" name="Shape 8"/>
          <p:cNvSpPr/>
          <p:nvPr/>
        </p:nvSpPr>
        <p:spPr>
          <a:xfrm>
            <a:off x="822960" y="3651191"/>
            <a:ext cx="128016" cy="128016"/>
          </a:xfrm>
          <a:prstGeom prst="ellipse">
            <a:avLst/>
          </a:prstGeom>
          <a:solidFill>
            <a:srgbClr val="DBAA47"/>
          </a:solidFill>
          <a:ln/>
        </p:spPr>
        <p:txBody>
          <a:bodyPr/>
          <a:lstStyle/>
          <a:p>
            <a:endParaRPr lang="en-US"/>
          </a:p>
        </p:txBody>
      </p:sp>
      <p:sp>
        <p:nvSpPr>
          <p:cNvPr id="11" name="Text 9"/>
          <p:cNvSpPr/>
          <p:nvPr/>
        </p:nvSpPr>
        <p:spPr>
          <a:xfrm>
            <a:off x="1143000" y="3516141"/>
            <a:ext cx="9692640" cy="457200"/>
          </a:xfrm>
          <a:prstGeom prst="rect">
            <a:avLst/>
          </a:prstGeom>
          <a:noFill/>
          <a:ln/>
        </p:spPr>
        <p:txBody>
          <a:bodyPr wrap="square" rtlCol="0" anchor="ctr"/>
          <a:lstStyle/>
          <a:p>
            <a:pPr marL="0" indent="0">
              <a:buNone/>
            </a:pPr>
            <a:r>
              <a:rPr lang="en-US" sz="1700" dirty="0">
                <a:solidFill>
                  <a:srgbClr val="1B2B2E"/>
                </a:solidFill>
                <a:latin typeface="Calibri" pitchFamily="34" charset="0"/>
                <a:ea typeface="Calibri" pitchFamily="34" charset="-122"/>
                <a:cs typeface="Calibri" pitchFamily="34" charset="-120"/>
              </a:rPr>
              <a:t>Phone calls and routine questions — answering the phone and fielding hours, insurance, and new-patient questions, again and again</a:t>
            </a:r>
            <a:endParaRPr lang="en-US" sz="1700" dirty="0"/>
          </a:p>
        </p:txBody>
      </p:sp>
      <p:sp>
        <p:nvSpPr>
          <p:cNvPr id="14" name="Shape 12"/>
          <p:cNvSpPr/>
          <p:nvPr/>
        </p:nvSpPr>
        <p:spPr>
          <a:xfrm>
            <a:off x="548640" y="5590735"/>
            <a:ext cx="10881360" cy="777240"/>
          </a:xfrm>
          <a:prstGeom prst="roundRect">
            <a:avLst>
              <a:gd name="adj" fmla="val 11765"/>
            </a:avLst>
          </a:prstGeom>
          <a:solidFill>
            <a:srgbClr val="F6F1DD"/>
          </a:solidFill>
          <a:ln w="12700">
            <a:solidFill>
              <a:srgbClr val="E6DDBE"/>
            </a:solidFill>
            <a:prstDash val="solid"/>
          </a:ln>
        </p:spPr>
        <p:txBody>
          <a:bodyPr/>
          <a:lstStyle/>
          <a:p>
            <a:endParaRPr lang="en-US"/>
          </a:p>
        </p:txBody>
      </p:sp>
      <p:sp>
        <p:nvSpPr>
          <p:cNvPr id="15" name="Text 13"/>
          <p:cNvSpPr/>
          <p:nvPr/>
        </p:nvSpPr>
        <p:spPr>
          <a:xfrm>
            <a:off x="822960" y="5590735"/>
            <a:ext cx="10332720" cy="777240"/>
          </a:xfrm>
          <a:prstGeom prst="rect">
            <a:avLst/>
          </a:prstGeom>
          <a:noFill/>
          <a:ln/>
        </p:spPr>
        <p:txBody>
          <a:bodyPr wrap="square" rtlCol="0" anchor="ctr"/>
          <a:lstStyle/>
          <a:p>
            <a:r>
              <a:rPr lang="en-US" sz="1500" i="1" dirty="0">
                <a:solidFill>
                  <a:srgbClr val="0B3B36"/>
                </a:solidFill>
                <a:latin typeface="Calibri" pitchFamily="34" charset="0"/>
                <a:ea typeface="Calibri" pitchFamily="34" charset="-122"/>
                <a:cs typeface="Calibri" pitchFamily="34" charset="-120"/>
              </a:rPr>
              <a:t>Much of this work is repetitive and rules-based, but it still consumes skilled staff time every day.</a:t>
            </a:r>
            <a:endParaRPr lang="en-US" sz="1500" dirty="0"/>
          </a:p>
        </p:txBody>
      </p:sp>
      <p:sp>
        <p:nvSpPr>
          <p:cNvPr id="16" name="Text 14"/>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E6857"/>
                </a:solidFill>
                <a:latin typeface="Calibri" pitchFamily="34" charset="0"/>
                <a:ea typeface="Calibri" pitchFamily="34" charset="-122"/>
                <a:cs typeface="Calibri" pitchFamily="34" charset="-120"/>
              </a:rPr>
              <a:t>Halo Holdings  •  Confidential — for discussion</a:t>
            </a:r>
            <a:endParaRPr lang="en-US" sz="900" dirty="0"/>
          </a:p>
        </p:txBody>
      </p:sp>
      <p:sp>
        <p:nvSpPr>
          <p:cNvPr id="17" name="Text 15"/>
          <p:cNvSpPr/>
          <p:nvPr/>
        </p:nvSpPr>
        <p:spPr>
          <a:xfrm>
            <a:off x="8988552" y="6473952"/>
            <a:ext cx="2743200" cy="274320"/>
          </a:xfrm>
          <a:prstGeom prst="rect">
            <a:avLst/>
          </a:prstGeom>
          <a:noFill/>
          <a:ln/>
        </p:spPr>
        <p:txBody>
          <a:bodyPr wrap="square" rtlCol="0" anchor="ctr"/>
          <a:lstStyle/>
          <a:p>
            <a:pPr marL="0" indent="0" algn="r">
              <a:buNone/>
            </a:pPr>
            <a:r>
              <a:rPr lang="en-US" sz="900" dirty="0">
                <a:solidFill>
                  <a:srgbClr val="6E6857"/>
                </a:solidFill>
                <a:latin typeface="Calibri" pitchFamily="34" charset="0"/>
                <a:ea typeface="Calibri" pitchFamily="34" charset="-122"/>
                <a:cs typeface="Calibri" pitchFamily="34" charset="-120"/>
              </a:rPr>
              <a:t>The situation today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868680" cy="868680"/>
          </a:xfrm>
          <a:prstGeom prst="ellipse">
            <a:avLst/>
          </a:prstGeom>
          <a:solidFill>
            <a:srgbClr val="DBAA47"/>
          </a:solidFill>
          <a:ln/>
        </p:spPr>
        <p:txBody>
          <a:bodyPr/>
          <a:lstStyle/>
          <a:p>
            <a:endParaRPr lang="en-US"/>
          </a:p>
        </p:txBody>
      </p:sp>
      <p:pic>
        <p:nvPicPr>
          <p:cNvPr id="3" name="Image 0" descr="clipboard-check icon"/>
          <p:cNvPicPr>
            <a:picLocks noChangeAspect="1"/>
          </p:cNvPicPr>
          <p:nvPr/>
        </p:nvPicPr>
        <p:blipFill>
          <a:blip r:embed="rId2"/>
          <a:stretch>
            <a:fillRect/>
          </a:stretch>
        </p:blipFill>
        <p:spPr>
          <a:xfrm>
            <a:off x="841248" y="704088"/>
            <a:ext cx="466344" cy="466344"/>
          </a:xfrm>
          <a:prstGeom prst="rect">
            <a:avLst/>
          </a:prstGeom>
        </p:spPr>
      </p:pic>
      <p:sp>
        <p:nvSpPr>
          <p:cNvPr id="4" name="Text 1"/>
          <p:cNvSpPr/>
          <p:nvPr/>
        </p:nvSpPr>
        <p:spPr>
          <a:xfrm>
            <a:off x="1737360" y="457200"/>
            <a:ext cx="9601200" cy="548640"/>
          </a:xfrm>
          <a:prstGeom prst="rect">
            <a:avLst/>
          </a:prstGeom>
          <a:noFill/>
          <a:ln/>
        </p:spPr>
        <p:txBody>
          <a:bodyPr wrap="square" rtlCol="0" anchor="ctr"/>
          <a:lstStyle/>
          <a:p>
            <a:pPr marL="0" indent="0">
              <a:buNone/>
            </a:pPr>
            <a:r>
              <a:rPr lang="en-US" sz="2800" b="1" dirty="0">
                <a:solidFill>
                  <a:srgbClr val="1B2B2E"/>
                </a:solidFill>
                <a:latin typeface="Cambria" pitchFamily="34" charset="0"/>
                <a:ea typeface="Cambria" pitchFamily="34" charset="-122"/>
                <a:cs typeface="Cambria" pitchFamily="34" charset="-120"/>
              </a:rPr>
              <a:t>Phase 1 — four core workflows, introduced in sequence</a:t>
            </a:r>
            <a:endParaRPr lang="en-US" sz="2800" dirty="0"/>
          </a:p>
        </p:txBody>
      </p:sp>
      <p:sp>
        <p:nvSpPr>
          <p:cNvPr id="5" name="Text 2"/>
          <p:cNvSpPr/>
          <p:nvPr/>
        </p:nvSpPr>
        <p:spPr>
          <a:xfrm>
            <a:off x="1737360" y="987552"/>
            <a:ext cx="9601200" cy="457200"/>
          </a:xfrm>
          <a:prstGeom prst="rect">
            <a:avLst/>
          </a:prstGeom>
          <a:noFill/>
          <a:ln/>
        </p:spPr>
        <p:txBody>
          <a:bodyPr wrap="square" rtlCol="0" anchor="ctr"/>
          <a:lstStyle/>
          <a:p>
            <a:pPr marL="0" indent="0">
              <a:buNone/>
            </a:pPr>
            <a:r>
              <a:rPr lang="en-US" sz="1500" dirty="0">
                <a:solidFill>
                  <a:srgbClr val="6E6857"/>
                </a:solidFill>
                <a:latin typeface="Calibri" pitchFamily="34" charset="0"/>
                <a:ea typeface="Calibri" pitchFamily="34" charset="-122"/>
                <a:cs typeface="Calibri" pitchFamily="34" charset="-120"/>
              </a:rPr>
              <a:t>Setup and customization for all four are provided at no charge. We begin with one workflow, validate it with your team, and then roll out the others in an agreed order.</a:t>
            </a:r>
            <a:endParaRPr lang="en-US" sz="1500" dirty="0"/>
          </a:p>
        </p:txBody>
      </p:sp>
      <p:sp>
        <p:nvSpPr>
          <p:cNvPr id="6" name="Shape 3"/>
          <p:cNvSpPr/>
          <p:nvPr/>
        </p:nvSpPr>
        <p:spPr>
          <a:xfrm>
            <a:off x="640080" y="1965960"/>
            <a:ext cx="5120640" cy="1737360"/>
          </a:xfrm>
          <a:prstGeom prst="roundRect">
            <a:avLst>
              <a:gd name="adj" fmla="val 5263"/>
            </a:avLst>
          </a:prstGeom>
          <a:solidFill>
            <a:srgbClr val="F6F1DD"/>
          </a:solidFill>
          <a:ln w="12700">
            <a:solidFill>
              <a:srgbClr val="E6DDBE"/>
            </a:solidFill>
            <a:prstDash val="solid"/>
          </a:ln>
        </p:spPr>
        <p:txBody>
          <a:bodyPr/>
          <a:lstStyle/>
          <a:p>
            <a:endParaRPr lang="en-US"/>
          </a:p>
        </p:txBody>
      </p:sp>
      <p:sp>
        <p:nvSpPr>
          <p:cNvPr id="7" name="Text 4"/>
          <p:cNvSpPr/>
          <p:nvPr/>
        </p:nvSpPr>
        <p:spPr>
          <a:xfrm>
            <a:off x="914400" y="2148840"/>
            <a:ext cx="4572000" cy="365760"/>
          </a:xfrm>
          <a:prstGeom prst="rect">
            <a:avLst/>
          </a:prstGeom>
          <a:noFill/>
          <a:ln/>
        </p:spPr>
        <p:txBody>
          <a:bodyPr wrap="square" rtlCol="0" anchor="ctr"/>
          <a:lstStyle/>
          <a:p>
            <a:pPr marL="0" indent="0">
              <a:buNone/>
            </a:pPr>
            <a:r>
              <a:rPr lang="en-US" sz="1700" b="1" dirty="0">
                <a:solidFill>
                  <a:srgbClr val="0B3B36"/>
                </a:solidFill>
                <a:latin typeface="Cambria" pitchFamily="34" charset="0"/>
                <a:ea typeface="Cambria" pitchFamily="34" charset="-122"/>
                <a:cs typeface="Cambria" pitchFamily="34" charset="-120"/>
              </a:rPr>
              <a:t>Appointment reminders &amp; no-shows</a:t>
            </a:r>
            <a:endParaRPr lang="en-US" sz="1700" dirty="0"/>
          </a:p>
        </p:txBody>
      </p:sp>
      <p:sp>
        <p:nvSpPr>
          <p:cNvPr id="8" name="Text 5"/>
          <p:cNvSpPr/>
          <p:nvPr/>
        </p:nvSpPr>
        <p:spPr>
          <a:xfrm>
            <a:off x="914400" y="2560320"/>
            <a:ext cx="4572000" cy="960120"/>
          </a:xfrm>
          <a:prstGeom prst="rect">
            <a:avLst/>
          </a:prstGeom>
          <a:noFill/>
          <a:ln/>
        </p:spPr>
        <p:txBody>
          <a:bodyPr wrap="square" rtlCol="0" anchor="ctr"/>
          <a:lstStyle/>
          <a:p>
            <a:pPr marL="0" indent="0">
              <a:lnSpc>
                <a:spcPct val="120000"/>
              </a:lnSpc>
              <a:buNone/>
            </a:pPr>
            <a:r>
              <a:rPr lang="en-US" sz="1350" dirty="0">
                <a:solidFill>
                  <a:srgbClr val="1B2B2E"/>
                </a:solidFill>
                <a:latin typeface="Calibri" pitchFamily="34" charset="0"/>
                <a:ea typeface="Calibri" pitchFamily="34" charset="-122"/>
                <a:cs typeface="Calibri" pitchFamily="34" charset="-120"/>
              </a:rPr>
              <a:t>Automatic confirmation texts before each visit; a no-show triggers a rebooking prompt, and responses are recorded for you.</a:t>
            </a:r>
            <a:endParaRPr lang="en-US" sz="1350" dirty="0"/>
          </a:p>
        </p:txBody>
      </p:sp>
      <p:sp>
        <p:nvSpPr>
          <p:cNvPr id="9" name="Shape 6"/>
          <p:cNvSpPr/>
          <p:nvPr/>
        </p:nvSpPr>
        <p:spPr>
          <a:xfrm>
            <a:off x="6080760" y="1965960"/>
            <a:ext cx="5120640" cy="1737360"/>
          </a:xfrm>
          <a:prstGeom prst="roundRect">
            <a:avLst>
              <a:gd name="adj" fmla="val 5263"/>
            </a:avLst>
          </a:prstGeom>
          <a:solidFill>
            <a:srgbClr val="F6F1DD"/>
          </a:solidFill>
          <a:ln w="12700">
            <a:solidFill>
              <a:srgbClr val="E6DDBE"/>
            </a:solidFill>
            <a:prstDash val="solid"/>
          </a:ln>
        </p:spPr>
        <p:txBody>
          <a:bodyPr/>
          <a:lstStyle/>
          <a:p>
            <a:endParaRPr lang="en-US"/>
          </a:p>
        </p:txBody>
      </p:sp>
      <p:sp>
        <p:nvSpPr>
          <p:cNvPr id="10" name="Text 7"/>
          <p:cNvSpPr/>
          <p:nvPr/>
        </p:nvSpPr>
        <p:spPr>
          <a:xfrm>
            <a:off x="6355080" y="2148840"/>
            <a:ext cx="4572000" cy="365760"/>
          </a:xfrm>
          <a:prstGeom prst="rect">
            <a:avLst/>
          </a:prstGeom>
          <a:noFill/>
          <a:ln/>
        </p:spPr>
        <p:txBody>
          <a:bodyPr wrap="square" rtlCol="0" anchor="ctr"/>
          <a:lstStyle/>
          <a:p>
            <a:pPr marL="0" indent="0">
              <a:buNone/>
            </a:pPr>
            <a:r>
              <a:rPr lang="en-US" sz="1700" b="1" dirty="0">
                <a:solidFill>
                  <a:srgbClr val="0B3B36"/>
                </a:solidFill>
                <a:latin typeface="Cambria" pitchFamily="34" charset="0"/>
                <a:ea typeface="Cambria" pitchFamily="34" charset="-122"/>
                <a:cs typeface="Cambria" pitchFamily="34" charset="-120"/>
              </a:rPr>
              <a:t>Insurance eligibility checks</a:t>
            </a:r>
            <a:endParaRPr lang="en-US" sz="1700" dirty="0"/>
          </a:p>
        </p:txBody>
      </p:sp>
      <p:sp>
        <p:nvSpPr>
          <p:cNvPr id="11" name="Text 8"/>
          <p:cNvSpPr/>
          <p:nvPr/>
        </p:nvSpPr>
        <p:spPr>
          <a:xfrm>
            <a:off x="6355080" y="2560320"/>
            <a:ext cx="4572000" cy="960120"/>
          </a:xfrm>
          <a:prstGeom prst="rect">
            <a:avLst/>
          </a:prstGeom>
          <a:noFill/>
          <a:ln/>
        </p:spPr>
        <p:txBody>
          <a:bodyPr wrap="square" rtlCol="0" anchor="ctr"/>
          <a:lstStyle/>
          <a:p>
            <a:pPr marL="0" indent="0">
              <a:lnSpc>
                <a:spcPct val="120000"/>
              </a:lnSpc>
              <a:buNone/>
            </a:pPr>
            <a:r>
              <a:rPr lang="en-US" sz="1350" dirty="0">
                <a:solidFill>
                  <a:srgbClr val="1B2B2E"/>
                </a:solidFill>
                <a:latin typeface="Calibri" pitchFamily="34" charset="0"/>
                <a:ea typeface="Calibri" pitchFamily="34" charset="-122"/>
                <a:cs typeface="Calibri" pitchFamily="34" charset="-120"/>
              </a:rPr>
              <a:t>Coverage verified automatically days before each visit for your most common plans — your team is alerted early if something's wrong.</a:t>
            </a:r>
            <a:endParaRPr lang="en-US" sz="1350" dirty="0"/>
          </a:p>
        </p:txBody>
      </p:sp>
      <p:sp>
        <p:nvSpPr>
          <p:cNvPr id="12" name="Shape 9"/>
          <p:cNvSpPr/>
          <p:nvPr/>
        </p:nvSpPr>
        <p:spPr>
          <a:xfrm>
            <a:off x="640080" y="3977640"/>
            <a:ext cx="5120640" cy="1737360"/>
          </a:xfrm>
          <a:prstGeom prst="roundRect">
            <a:avLst>
              <a:gd name="adj" fmla="val 5263"/>
            </a:avLst>
          </a:prstGeom>
          <a:solidFill>
            <a:srgbClr val="F6F1DD"/>
          </a:solidFill>
          <a:ln w="12700">
            <a:solidFill>
              <a:srgbClr val="E6DDBE"/>
            </a:solidFill>
            <a:prstDash val="solid"/>
          </a:ln>
        </p:spPr>
        <p:txBody>
          <a:bodyPr/>
          <a:lstStyle/>
          <a:p>
            <a:endParaRPr lang="en-US"/>
          </a:p>
        </p:txBody>
      </p:sp>
      <p:sp>
        <p:nvSpPr>
          <p:cNvPr id="13" name="Text 10"/>
          <p:cNvSpPr/>
          <p:nvPr/>
        </p:nvSpPr>
        <p:spPr>
          <a:xfrm>
            <a:off x="914400" y="4160520"/>
            <a:ext cx="4572000" cy="365760"/>
          </a:xfrm>
          <a:prstGeom prst="rect">
            <a:avLst/>
          </a:prstGeom>
          <a:noFill/>
          <a:ln/>
        </p:spPr>
        <p:txBody>
          <a:bodyPr wrap="square" rtlCol="0" anchor="ctr"/>
          <a:lstStyle/>
          <a:p>
            <a:pPr marL="0" indent="0">
              <a:buNone/>
            </a:pPr>
            <a:r>
              <a:rPr lang="en-US" sz="1700" b="1" dirty="0">
                <a:solidFill>
                  <a:srgbClr val="0B3B36"/>
                </a:solidFill>
                <a:latin typeface="Cambria" pitchFamily="34" charset="0"/>
                <a:ea typeface="Cambria" pitchFamily="34" charset="-122"/>
                <a:cs typeface="Cambria" pitchFamily="34" charset="-120"/>
              </a:rPr>
              <a:t>Incoming &amp; outgoing faxes</a:t>
            </a:r>
            <a:endParaRPr lang="en-US" sz="1700" dirty="0"/>
          </a:p>
        </p:txBody>
      </p:sp>
      <p:sp>
        <p:nvSpPr>
          <p:cNvPr id="14" name="Text 11"/>
          <p:cNvSpPr/>
          <p:nvPr/>
        </p:nvSpPr>
        <p:spPr>
          <a:xfrm>
            <a:off x="914400" y="4572000"/>
            <a:ext cx="4572000" cy="960120"/>
          </a:xfrm>
          <a:prstGeom prst="rect">
            <a:avLst/>
          </a:prstGeom>
          <a:noFill/>
          <a:ln/>
        </p:spPr>
        <p:txBody>
          <a:bodyPr wrap="square" rtlCol="0" anchor="ctr"/>
          <a:lstStyle/>
          <a:p>
            <a:pPr marL="0" indent="0">
              <a:lnSpc>
                <a:spcPct val="120000"/>
              </a:lnSpc>
              <a:buNone/>
            </a:pPr>
            <a:r>
              <a:rPr lang="en-US" sz="1350" dirty="0">
                <a:solidFill>
                  <a:srgbClr val="1B2B2E"/>
                </a:solidFill>
                <a:latin typeface="Calibri" pitchFamily="34" charset="0"/>
                <a:ea typeface="Calibri" pitchFamily="34" charset="-122"/>
                <a:cs typeface="Calibri" pitchFamily="34" charset="-120"/>
              </a:rPr>
              <a:t>Incoming faxes route themselves to the right person; outgoing records go with an auto-filled cover sheet and delivery confirmation.</a:t>
            </a:r>
            <a:endParaRPr lang="en-US" sz="1350" dirty="0"/>
          </a:p>
        </p:txBody>
      </p:sp>
      <p:sp>
        <p:nvSpPr>
          <p:cNvPr id="15" name="Shape 12"/>
          <p:cNvSpPr/>
          <p:nvPr/>
        </p:nvSpPr>
        <p:spPr>
          <a:xfrm>
            <a:off x="6080760" y="3977640"/>
            <a:ext cx="5120640" cy="1737360"/>
          </a:xfrm>
          <a:prstGeom prst="roundRect">
            <a:avLst>
              <a:gd name="adj" fmla="val 5263"/>
            </a:avLst>
          </a:prstGeom>
          <a:solidFill>
            <a:srgbClr val="F6F1DD"/>
          </a:solidFill>
          <a:ln w="12700">
            <a:solidFill>
              <a:srgbClr val="E6DDBE"/>
            </a:solidFill>
            <a:prstDash val="solid"/>
          </a:ln>
        </p:spPr>
        <p:txBody>
          <a:bodyPr/>
          <a:lstStyle/>
          <a:p>
            <a:endParaRPr lang="en-US"/>
          </a:p>
        </p:txBody>
      </p:sp>
      <p:sp>
        <p:nvSpPr>
          <p:cNvPr id="16" name="Text 13"/>
          <p:cNvSpPr/>
          <p:nvPr/>
        </p:nvSpPr>
        <p:spPr>
          <a:xfrm>
            <a:off x="6355080" y="4160520"/>
            <a:ext cx="4572000" cy="365760"/>
          </a:xfrm>
          <a:prstGeom prst="rect">
            <a:avLst/>
          </a:prstGeom>
          <a:noFill/>
          <a:ln/>
        </p:spPr>
        <p:txBody>
          <a:bodyPr wrap="square" rtlCol="0" anchor="ctr"/>
          <a:lstStyle/>
          <a:p>
            <a:pPr marL="0" indent="0">
              <a:buNone/>
            </a:pPr>
            <a:r>
              <a:rPr lang="en-US" sz="1700" b="1" dirty="0">
                <a:solidFill>
                  <a:srgbClr val="0B3B36"/>
                </a:solidFill>
                <a:latin typeface="Cambria" pitchFamily="34" charset="0"/>
                <a:ea typeface="Cambria" pitchFamily="34" charset="-122"/>
                <a:cs typeface="Cambria" pitchFamily="34" charset="-120"/>
              </a:rPr>
              <a:t>Preventive care &amp; care-gap outreach</a:t>
            </a:r>
            <a:endParaRPr lang="en-US" sz="1700" dirty="0"/>
          </a:p>
        </p:txBody>
      </p:sp>
      <p:sp>
        <p:nvSpPr>
          <p:cNvPr id="17" name="Text 14"/>
          <p:cNvSpPr/>
          <p:nvPr/>
        </p:nvSpPr>
        <p:spPr>
          <a:xfrm>
            <a:off x="6355080" y="4572000"/>
            <a:ext cx="4572000" cy="960120"/>
          </a:xfrm>
          <a:prstGeom prst="rect">
            <a:avLst/>
          </a:prstGeom>
          <a:noFill/>
          <a:ln/>
        </p:spPr>
        <p:txBody>
          <a:bodyPr wrap="square" rtlCol="0" anchor="ctr"/>
          <a:lstStyle/>
          <a:p>
            <a:pPr marL="0" indent="0">
              <a:lnSpc>
                <a:spcPct val="120000"/>
              </a:lnSpc>
              <a:buNone/>
            </a:pPr>
            <a:r>
              <a:rPr lang="en-US" sz="1350" dirty="0">
                <a:solidFill>
                  <a:srgbClr val="1B2B2E"/>
                </a:solidFill>
                <a:latin typeface="Calibri" pitchFamily="34" charset="0"/>
                <a:ea typeface="Calibri" pitchFamily="34" charset="-122"/>
                <a:cs typeface="Calibri" pitchFamily="34" charset="-120"/>
              </a:rPr>
              <a:t>Patients due for wellness visits, screenings, and follow-ups get reminders automatically — including from your insurance plans' care-gap lists.</a:t>
            </a:r>
            <a:endParaRPr lang="en-US" sz="1350" dirty="0"/>
          </a:p>
        </p:txBody>
      </p:sp>
      <p:sp>
        <p:nvSpPr>
          <p:cNvPr id="18" name="Text 15"/>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E6857"/>
                </a:solidFill>
                <a:latin typeface="Calibri" pitchFamily="34" charset="0"/>
                <a:ea typeface="Calibri" pitchFamily="34" charset="-122"/>
                <a:cs typeface="Calibri" pitchFamily="34" charset="-120"/>
              </a:rPr>
              <a:t>Halo Holdings  •  Confidential — for discussion</a:t>
            </a:r>
            <a:endParaRPr lang="en-US" sz="900" dirty="0"/>
          </a:p>
        </p:txBody>
      </p:sp>
      <p:sp>
        <p:nvSpPr>
          <p:cNvPr id="19" name="Text 16"/>
          <p:cNvSpPr/>
          <p:nvPr/>
        </p:nvSpPr>
        <p:spPr>
          <a:xfrm>
            <a:off x="8988552" y="6473952"/>
            <a:ext cx="2743200" cy="274320"/>
          </a:xfrm>
          <a:prstGeom prst="rect">
            <a:avLst/>
          </a:prstGeom>
          <a:noFill/>
          <a:ln/>
        </p:spPr>
        <p:txBody>
          <a:bodyPr wrap="square" rtlCol="0" anchor="ctr"/>
          <a:lstStyle/>
          <a:p>
            <a:pPr marL="0" indent="0" algn="r">
              <a:buNone/>
            </a:pPr>
            <a:r>
              <a:rPr lang="en-US" sz="900" dirty="0">
                <a:solidFill>
                  <a:srgbClr val="6E6857"/>
                </a:solidFill>
                <a:latin typeface="Calibri" pitchFamily="34" charset="0"/>
                <a:ea typeface="Calibri" pitchFamily="34" charset="-122"/>
                <a:cs typeface="Calibri" pitchFamily="34" charset="-120"/>
              </a:rPr>
              <a:t>The pilot scope</a:t>
            </a:r>
            <a:endParaRPr lang="en-US" sz="900" dirty="0"/>
          </a:p>
        </p:txBody>
      </p:sp>
      <p:sp>
        <p:nvSpPr>
          <p:cNvPr id="40" name="Text 40"/>
          <p:cNvSpPr/>
          <p:nvPr/>
        </p:nvSpPr>
        <p:spPr>
          <a:xfrm>
            <a:off x="640080" y="5867400"/>
            <a:ext cx="10561320" cy="365760"/>
          </a:xfrm>
          <a:prstGeom prst="rect">
            <a:avLst/>
          </a:prstGeom>
          <a:noFill/>
          <a:ln/>
        </p:spPr>
        <p:txBody>
          <a:bodyPr wrap="square" rtlCol="0" anchor="ctr"/>
          <a:lstStyle/>
          <a:p>
            <a:pPr marL="0" indent="0" algn="ctr">
              <a:buNone/>
            </a:pPr>
            <a:r>
              <a:rPr lang="en-US" sz="1250" i="1" dirty="0">
                <a:solidFill>
                  <a:srgbClr val="6E6857"/>
                </a:solidFill>
                <a:latin typeface="Calibri" pitchFamily="34" charset="0"/>
                <a:ea typeface="Calibri" pitchFamily="34" charset="-122"/>
                <a:cs typeface="Calibri" pitchFamily="34" charset="-120"/>
              </a:rPr>
              <a:t>Included in Phase 1: free setup and customization. The clinic covers only applicable third-party operating costs.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868680" cy="868680"/>
          </a:xfrm>
          <a:prstGeom prst="ellipse">
            <a:avLst/>
          </a:prstGeom>
          <a:solidFill>
            <a:srgbClr val="DBAA47"/>
          </a:solidFill>
          <a:ln/>
        </p:spPr>
        <p:txBody>
          <a:bodyPr/>
          <a:lstStyle/>
          <a:p>
            <a:endParaRPr lang="en-US"/>
          </a:p>
        </p:txBody>
      </p:sp>
      <p:pic>
        <p:nvPicPr>
          <p:cNvPr id="3" name="Image 0" descr="clipboard-check icon"/>
          <p:cNvPicPr>
            <a:picLocks noChangeAspect="1"/>
          </p:cNvPicPr>
          <p:nvPr/>
        </p:nvPicPr>
        <p:blipFill>
          <a:blip r:embed="rId2"/>
          <a:stretch>
            <a:fillRect/>
          </a:stretch>
        </p:blipFill>
        <p:spPr>
          <a:xfrm>
            <a:off x="841248" y="704088"/>
            <a:ext cx="466344" cy="466344"/>
          </a:xfrm>
          <a:prstGeom prst="rect">
            <a:avLst/>
          </a:prstGeom>
        </p:spPr>
      </p:pic>
      <p:sp>
        <p:nvSpPr>
          <p:cNvPr id="4" name="Text 1"/>
          <p:cNvSpPr/>
          <p:nvPr/>
        </p:nvSpPr>
        <p:spPr>
          <a:xfrm>
            <a:off x="1737360" y="457200"/>
            <a:ext cx="9601200" cy="548640"/>
          </a:xfrm>
          <a:prstGeom prst="rect">
            <a:avLst/>
          </a:prstGeom>
          <a:noFill/>
          <a:ln/>
        </p:spPr>
        <p:txBody>
          <a:bodyPr wrap="square" rtlCol="0" anchor="ctr"/>
          <a:lstStyle/>
          <a:p>
            <a:pPr marL="0" indent="0">
              <a:buNone/>
            </a:pPr>
            <a:r>
              <a:rPr lang="en-US" sz="2800" b="1" dirty="0">
                <a:solidFill>
                  <a:srgbClr val="1B2B2E"/>
                </a:solidFill>
                <a:latin typeface="Cambria" pitchFamily="34" charset="0"/>
                <a:ea typeface="Cambria" pitchFamily="34" charset="-122"/>
                <a:cs typeface="Cambria" pitchFamily="34" charset="-120"/>
              </a:rPr>
              <a:t>We start where your team will see the clearest early benefit</a:t>
            </a:r>
            <a:endParaRPr lang="en-US" sz="2800" dirty="0"/>
          </a:p>
        </p:txBody>
      </p:sp>
      <p:sp>
        <p:nvSpPr>
          <p:cNvPr id="5" name="Text 2"/>
          <p:cNvSpPr/>
          <p:nvPr/>
        </p:nvSpPr>
        <p:spPr>
          <a:xfrm>
            <a:off x="1737360" y="987552"/>
            <a:ext cx="9601200" cy="457200"/>
          </a:xfrm>
          <a:prstGeom prst="rect">
            <a:avLst/>
          </a:prstGeom>
          <a:noFill/>
          <a:ln/>
        </p:spPr>
        <p:txBody>
          <a:bodyPr wrap="square" rtlCol="0" anchor="ctr"/>
          <a:lstStyle/>
          <a:p>
            <a:pPr marL="0" indent="0">
              <a:buNone/>
            </a:pPr>
            <a:r>
              <a:rPr lang="en-US" sz="1500" dirty="0">
                <a:solidFill>
                  <a:srgbClr val="6E6857"/>
                </a:solidFill>
                <a:latin typeface="Calibri" pitchFamily="34" charset="0"/>
                <a:ea typeface="Calibri" pitchFamily="34" charset="-122"/>
                <a:cs typeface="Calibri" pitchFamily="34" charset="-120"/>
              </a:rPr>
              <a:t>The clinic selects the first workflow after a short discovery session; the other three follow after it's stable.</a:t>
            </a:r>
            <a:endParaRPr lang="en-US" sz="1500" dirty="0"/>
          </a:p>
        </p:txBody>
      </p:sp>
      <p:sp>
        <p:nvSpPr>
          <p:cNvPr id="6" name="Shape 3"/>
          <p:cNvSpPr/>
          <p:nvPr/>
        </p:nvSpPr>
        <p:spPr>
          <a:xfrm>
            <a:off x="640080" y="1965960"/>
            <a:ext cx="5120640" cy="1737360"/>
          </a:xfrm>
          <a:prstGeom prst="roundRect">
            <a:avLst>
              <a:gd name="adj" fmla="val 5263"/>
            </a:avLst>
          </a:prstGeom>
          <a:solidFill>
            <a:srgbClr val="F6F1DD"/>
          </a:solidFill>
          <a:ln w="12700">
            <a:solidFill>
              <a:srgbClr val="E6DDBE"/>
            </a:solidFill>
            <a:prstDash val="solid"/>
          </a:ln>
        </p:spPr>
        <p:txBody>
          <a:bodyPr/>
          <a:lstStyle/>
          <a:p>
            <a:endParaRPr lang="en-US"/>
          </a:p>
        </p:txBody>
      </p:sp>
      <p:sp>
        <p:nvSpPr>
          <p:cNvPr id="7" name="Text 4"/>
          <p:cNvSpPr/>
          <p:nvPr/>
        </p:nvSpPr>
        <p:spPr>
          <a:xfrm>
            <a:off x="914400" y="2148840"/>
            <a:ext cx="4572000" cy="365760"/>
          </a:xfrm>
          <a:prstGeom prst="rect">
            <a:avLst/>
          </a:prstGeom>
          <a:noFill/>
          <a:ln/>
        </p:spPr>
        <p:txBody>
          <a:bodyPr wrap="square" rtlCol="0" anchor="ctr"/>
          <a:lstStyle/>
          <a:p>
            <a:pPr marL="0" indent="0">
              <a:buNone/>
            </a:pPr>
            <a:r>
              <a:rPr lang="en-US" sz="1700" b="1" dirty="0">
                <a:solidFill>
                  <a:srgbClr val="0B3B36"/>
                </a:solidFill>
                <a:latin typeface="Cambria" pitchFamily="34" charset="0"/>
                <a:ea typeface="Cambria" pitchFamily="34" charset="-122"/>
                <a:cs typeface="Cambria" pitchFamily="34" charset="-120"/>
              </a:rPr>
              <a:t>Appointment reminders</a:t>
            </a:r>
            <a:endParaRPr lang="en-US" sz="1700" dirty="0"/>
          </a:p>
        </p:txBody>
      </p:sp>
      <p:sp>
        <p:nvSpPr>
          <p:cNvPr id="8" name="Text 5"/>
          <p:cNvSpPr/>
          <p:nvPr/>
        </p:nvSpPr>
        <p:spPr>
          <a:xfrm>
            <a:off x="914400" y="2560320"/>
            <a:ext cx="4572000" cy="960120"/>
          </a:xfrm>
          <a:prstGeom prst="rect">
            <a:avLst/>
          </a:prstGeom>
          <a:noFill/>
          <a:ln/>
        </p:spPr>
        <p:txBody>
          <a:bodyPr wrap="square" rtlCol="0" anchor="ctr"/>
          <a:lstStyle/>
          <a:p>
            <a:pPr marL="0" indent="0">
              <a:lnSpc>
                <a:spcPct val="120000"/>
              </a:lnSpc>
              <a:buNone/>
            </a:pPr>
            <a:r>
              <a:rPr lang="en-US" sz="1350" dirty="0">
                <a:solidFill>
                  <a:srgbClr val="1B2B2E"/>
                </a:solidFill>
                <a:latin typeface="Calibri" pitchFamily="34" charset="0"/>
                <a:ea typeface="Calibri" pitchFamily="34" charset="-122"/>
                <a:cs typeface="Calibri" pitchFamily="34" charset="-120"/>
              </a:rPr>
              <a:t>Good starting choice when no-shows and manual reminder calls are a priority. Early measure: staff time and confirmation rate.</a:t>
            </a:r>
            <a:endParaRPr lang="en-US" sz="1350" dirty="0"/>
          </a:p>
        </p:txBody>
      </p:sp>
      <p:sp>
        <p:nvSpPr>
          <p:cNvPr id="9" name="Shape 6"/>
          <p:cNvSpPr/>
          <p:nvPr/>
        </p:nvSpPr>
        <p:spPr>
          <a:xfrm>
            <a:off x="6080760" y="1965960"/>
            <a:ext cx="5120640" cy="1737360"/>
          </a:xfrm>
          <a:prstGeom prst="roundRect">
            <a:avLst>
              <a:gd name="adj" fmla="val 5263"/>
            </a:avLst>
          </a:prstGeom>
          <a:solidFill>
            <a:srgbClr val="F6F1DD"/>
          </a:solidFill>
          <a:ln w="12700">
            <a:solidFill>
              <a:srgbClr val="E6DDBE"/>
            </a:solidFill>
            <a:prstDash val="solid"/>
          </a:ln>
        </p:spPr>
        <p:txBody>
          <a:bodyPr/>
          <a:lstStyle/>
          <a:p>
            <a:endParaRPr lang="en-US"/>
          </a:p>
        </p:txBody>
      </p:sp>
      <p:sp>
        <p:nvSpPr>
          <p:cNvPr id="10" name="Text 7"/>
          <p:cNvSpPr/>
          <p:nvPr/>
        </p:nvSpPr>
        <p:spPr>
          <a:xfrm>
            <a:off x="6355080" y="2148840"/>
            <a:ext cx="4572000" cy="365760"/>
          </a:xfrm>
          <a:prstGeom prst="rect">
            <a:avLst/>
          </a:prstGeom>
          <a:noFill/>
          <a:ln/>
        </p:spPr>
        <p:txBody>
          <a:bodyPr wrap="square" rtlCol="0" anchor="ctr"/>
          <a:lstStyle/>
          <a:p>
            <a:pPr marL="0" indent="0">
              <a:buNone/>
            </a:pPr>
            <a:r>
              <a:rPr lang="en-US" sz="1700" b="1" dirty="0">
                <a:solidFill>
                  <a:srgbClr val="0B3B36"/>
                </a:solidFill>
                <a:latin typeface="Cambria" pitchFamily="34" charset="0"/>
                <a:ea typeface="Cambria" pitchFamily="34" charset="-122"/>
                <a:cs typeface="Cambria" pitchFamily="34" charset="-120"/>
              </a:rPr>
              <a:t>Eligibility checks</a:t>
            </a:r>
            <a:endParaRPr lang="en-US" sz="1700" dirty="0"/>
          </a:p>
        </p:txBody>
      </p:sp>
      <p:sp>
        <p:nvSpPr>
          <p:cNvPr id="11" name="Text 8"/>
          <p:cNvSpPr/>
          <p:nvPr/>
        </p:nvSpPr>
        <p:spPr>
          <a:xfrm>
            <a:off x="6355080" y="2560320"/>
            <a:ext cx="4572000" cy="960120"/>
          </a:xfrm>
          <a:prstGeom prst="rect">
            <a:avLst/>
          </a:prstGeom>
          <a:noFill/>
          <a:ln/>
        </p:spPr>
        <p:txBody>
          <a:bodyPr wrap="square" rtlCol="0" anchor="ctr"/>
          <a:lstStyle/>
          <a:p>
            <a:pPr marL="0" indent="0">
              <a:lnSpc>
                <a:spcPct val="120000"/>
              </a:lnSpc>
              <a:buNone/>
            </a:pPr>
            <a:r>
              <a:rPr lang="en-US" sz="1350" dirty="0">
                <a:solidFill>
                  <a:srgbClr val="1B2B2E"/>
                </a:solidFill>
                <a:latin typeface="Calibri" pitchFamily="34" charset="0"/>
                <a:ea typeface="Calibri" pitchFamily="34" charset="-122"/>
                <a:cs typeface="Calibri" pitchFamily="34" charset="-120"/>
              </a:rPr>
              <a:t>Good starting choice when coverage issues are often discovered at check-in. Early measure: issues identified before the visit.</a:t>
            </a:r>
            <a:endParaRPr lang="en-US" sz="1350" dirty="0"/>
          </a:p>
        </p:txBody>
      </p:sp>
      <p:sp>
        <p:nvSpPr>
          <p:cNvPr id="12" name="Shape 9"/>
          <p:cNvSpPr/>
          <p:nvPr/>
        </p:nvSpPr>
        <p:spPr>
          <a:xfrm>
            <a:off x="640080" y="3977640"/>
            <a:ext cx="5120640" cy="1737360"/>
          </a:xfrm>
          <a:prstGeom prst="roundRect">
            <a:avLst>
              <a:gd name="adj" fmla="val 5263"/>
            </a:avLst>
          </a:prstGeom>
          <a:solidFill>
            <a:srgbClr val="F6F1DD"/>
          </a:solidFill>
          <a:ln w="12700">
            <a:solidFill>
              <a:srgbClr val="E6DDBE"/>
            </a:solidFill>
            <a:prstDash val="solid"/>
          </a:ln>
        </p:spPr>
        <p:txBody>
          <a:bodyPr/>
          <a:lstStyle/>
          <a:p>
            <a:endParaRPr lang="en-US"/>
          </a:p>
        </p:txBody>
      </p:sp>
      <p:sp>
        <p:nvSpPr>
          <p:cNvPr id="13" name="Text 10"/>
          <p:cNvSpPr/>
          <p:nvPr/>
        </p:nvSpPr>
        <p:spPr>
          <a:xfrm>
            <a:off x="914400" y="4160520"/>
            <a:ext cx="4572000" cy="365760"/>
          </a:xfrm>
          <a:prstGeom prst="rect">
            <a:avLst/>
          </a:prstGeom>
          <a:noFill/>
          <a:ln/>
        </p:spPr>
        <p:txBody>
          <a:bodyPr wrap="square" rtlCol="0" anchor="ctr"/>
          <a:lstStyle/>
          <a:p>
            <a:pPr marL="0" indent="0">
              <a:buNone/>
            </a:pPr>
            <a:r>
              <a:rPr lang="en-US" sz="1700" b="1" dirty="0">
                <a:solidFill>
                  <a:srgbClr val="0B3B36"/>
                </a:solidFill>
                <a:latin typeface="Cambria" pitchFamily="34" charset="0"/>
                <a:ea typeface="Cambria" pitchFamily="34" charset="-122"/>
                <a:cs typeface="Cambria" pitchFamily="34" charset="-120"/>
              </a:rPr>
              <a:t>Fax handling</a:t>
            </a:r>
            <a:endParaRPr lang="en-US" sz="1700" dirty="0"/>
          </a:p>
        </p:txBody>
      </p:sp>
      <p:sp>
        <p:nvSpPr>
          <p:cNvPr id="14" name="Text 11"/>
          <p:cNvSpPr/>
          <p:nvPr/>
        </p:nvSpPr>
        <p:spPr>
          <a:xfrm>
            <a:off x="914400" y="4572000"/>
            <a:ext cx="4572000" cy="960120"/>
          </a:xfrm>
          <a:prstGeom prst="rect">
            <a:avLst/>
          </a:prstGeom>
          <a:noFill/>
          <a:ln/>
        </p:spPr>
        <p:txBody>
          <a:bodyPr wrap="square" rtlCol="0" anchor="ctr"/>
          <a:lstStyle/>
          <a:p>
            <a:pPr marL="0" indent="0">
              <a:lnSpc>
                <a:spcPct val="120000"/>
              </a:lnSpc>
              <a:buNone/>
            </a:pPr>
            <a:r>
              <a:rPr lang="en-US" sz="1350" dirty="0">
                <a:solidFill>
                  <a:srgbClr val="1B2B2E"/>
                </a:solidFill>
                <a:latin typeface="Calibri" pitchFamily="34" charset="0"/>
                <a:ea typeface="Calibri" pitchFamily="34" charset="-122"/>
                <a:cs typeface="Calibri" pitchFamily="34" charset="-120"/>
              </a:rPr>
              <a:t>Good starting choice when sorting, routing, and delivery follow-up consume staff time. Early measure: routing time and exception rate.</a:t>
            </a:r>
            <a:endParaRPr lang="en-US" sz="1350" dirty="0"/>
          </a:p>
        </p:txBody>
      </p:sp>
      <p:sp>
        <p:nvSpPr>
          <p:cNvPr id="15" name="Shape 12"/>
          <p:cNvSpPr/>
          <p:nvPr/>
        </p:nvSpPr>
        <p:spPr>
          <a:xfrm>
            <a:off x="6080760" y="3977640"/>
            <a:ext cx="5120640" cy="1737360"/>
          </a:xfrm>
          <a:prstGeom prst="roundRect">
            <a:avLst>
              <a:gd name="adj" fmla="val 5263"/>
            </a:avLst>
          </a:prstGeom>
          <a:solidFill>
            <a:srgbClr val="F6F1DD"/>
          </a:solidFill>
          <a:ln w="12700">
            <a:solidFill>
              <a:srgbClr val="E6DDBE"/>
            </a:solidFill>
            <a:prstDash val="solid"/>
          </a:ln>
        </p:spPr>
        <p:txBody>
          <a:bodyPr/>
          <a:lstStyle/>
          <a:p>
            <a:endParaRPr lang="en-US"/>
          </a:p>
        </p:txBody>
      </p:sp>
      <p:sp>
        <p:nvSpPr>
          <p:cNvPr id="16" name="Text 13"/>
          <p:cNvSpPr/>
          <p:nvPr/>
        </p:nvSpPr>
        <p:spPr>
          <a:xfrm>
            <a:off x="6355080" y="4160520"/>
            <a:ext cx="4572000" cy="365760"/>
          </a:xfrm>
          <a:prstGeom prst="rect">
            <a:avLst/>
          </a:prstGeom>
          <a:noFill/>
          <a:ln/>
        </p:spPr>
        <p:txBody>
          <a:bodyPr wrap="square" rtlCol="0" anchor="ctr"/>
          <a:lstStyle/>
          <a:p>
            <a:pPr marL="0" indent="0">
              <a:buNone/>
            </a:pPr>
            <a:r>
              <a:rPr lang="en-US" sz="1700" b="1" dirty="0">
                <a:solidFill>
                  <a:srgbClr val="0B3B36"/>
                </a:solidFill>
                <a:latin typeface="Cambria" pitchFamily="34" charset="0"/>
                <a:ea typeface="Cambria" pitchFamily="34" charset="-122"/>
                <a:cs typeface="Cambria" pitchFamily="34" charset="-120"/>
              </a:rPr>
              <a:t>Preventive-care outreach</a:t>
            </a:r>
            <a:endParaRPr lang="en-US" sz="1700" dirty="0"/>
          </a:p>
        </p:txBody>
      </p:sp>
      <p:sp>
        <p:nvSpPr>
          <p:cNvPr id="17" name="Text 14"/>
          <p:cNvSpPr/>
          <p:nvPr/>
        </p:nvSpPr>
        <p:spPr>
          <a:xfrm>
            <a:off x="6355080" y="4572000"/>
            <a:ext cx="4572000" cy="960120"/>
          </a:xfrm>
          <a:prstGeom prst="rect">
            <a:avLst/>
          </a:prstGeom>
          <a:noFill/>
          <a:ln/>
        </p:spPr>
        <p:txBody>
          <a:bodyPr wrap="square" rtlCol="0" anchor="ctr"/>
          <a:lstStyle/>
          <a:p>
            <a:pPr marL="0" indent="0">
              <a:lnSpc>
                <a:spcPct val="120000"/>
              </a:lnSpc>
              <a:buNone/>
            </a:pPr>
            <a:r>
              <a:rPr lang="en-US" sz="1350" dirty="0">
                <a:solidFill>
                  <a:srgbClr val="1B2B2E"/>
                </a:solidFill>
                <a:latin typeface="Calibri" pitchFamily="34" charset="0"/>
                <a:ea typeface="Calibri" pitchFamily="34" charset="-122"/>
                <a:cs typeface="Calibri" pitchFamily="34" charset="-120"/>
              </a:rPr>
              <a:t>Good starting choice when care-gap lists require repeated manual outreach. Early measure: patients reached and visits scheduled.</a:t>
            </a:r>
            <a:endParaRPr lang="en-US" sz="1350" dirty="0"/>
          </a:p>
        </p:txBody>
      </p:sp>
      <p:sp>
        <p:nvSpPr>
          <p:cNvPr id="18" name="Text 15"/>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E6857"/>
                </a:solidFill>
                <a:latin typeface="Calibri" pitchFamily="34" charset="0"/>
                <a:ea typeface="Calibri" pitchFamily="34" charset="-122"/>
                <a:cs typeface="Calibri" pitchFamily="34" charset="-120"/>
              </a:rPr>
              <a:t>Halo Holdings  •  Confidential — for discussion</a:t>
            </a:r>
            <a:endParaRPr lang="en-US" sz="900" dirty="0"/>
          </a:p>
        </p:txBody>
      </p:sp>
      <p:sp>
        <p:nvSpPr>
          <p:cNvPr id="19" name="Text 16"/>
          <p:cNvSpPr/>
          <p:nvPr/>
        </p:nvSpPr>
        <p:spPr>
          <a:xfrm>
            <a:off x="8988552" y="6473952"/>
            <a:ext cx="2743200" cy="274320"/>
          </a:xfrm>
          <a:prstGeom prst="rect">
            <a:avLst/>
          </a:prstGeom>
          <a:noFill/>
          <a:ln/>
        </p:spPr>
        <p:txBody>
          <a:bodyPr wrap="square" rtlCol="0" anchor="ctr"/>
          <a:lstStyle/>
          <a:p>
            <a:pPr marL="0" indent="0" algn="r">
              <a:buNone/>
            </a:pPr>
            <a:r>
              <a:rPr lang="en-US" sz="900" dirty="0">
                <a:solidFill>
                  <a:srgbClr val="6E6857"/>
                </a:solidFill>
                <a:latin typeface="Calibri" pitchFamily="34" charset="0"/>
                <a:ea typeface="Calibri" pitchFamily="34" charset="-122"/>
                <a:cs typeface="Calibri" pitchFamily="34" charset="-120"/>
              </a:rPr>
              <a:t>Choosing the starting workflow</a:t>
            </a:r>
            <a:endParaRPr lang="en-US" sz="900" dirty="0"/>
          </a:p>
        </p:txBody>
      </p:sp>
      <p:sp>
        <p:nvSpPr>
          <p:cNvPr id="40" name="Text 40"/>
          <p:cNvSpPr/>
          <p:nvPr/>
        </p:nvSpPr>
        <p:spPr>
          <a:xfrm>
            <a:off x="640080" y="5867400"/>
            <a:ext cx="10561320" cy="365760"/>
          </a:xfrm>
          <a:prstGeom prst="rect">
            <a:avLst/>
          </a:prstGeom>
          <a:noFill/>
          <a:ln/>
        </p:spPr>
        <p:txBody>
          <a:bodyPr wrap="square" rtlCol="0" anchor="ctr"/>
          <a:lstStyle/>
          <a:p>
            <a:pPr marL="0" indent="0" algn="ctr">
              <a:buNone/>
            </a:pPr>
            <a:r>
              <a:rPr lang="en-US" sz="1250" i="1" dirty="0">
                <a:solidFill>
                  <a:srgbClr val="6E6857"/>
                </a:solidFill>
                <a:latin typeface="Calibri" pitchFamily="34" charset="0"/>
                <a:ea typeface="Calibri" pitchFamily="34" charset="-122"/>
                <a:cs typeface="Calibri" pitchFamily="34" charset="-120"/>
              </a:rPr>
              <a:t>Chosen after a short discovery session — the other three remain included in Phase 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868680" cy="868680"/>
          </a:xfrm>
          <a:prstGeom prst="ellipse">
            <a:avLst/>
          </a:prstGeom>
          <a:solidFill>
            <a:srgbClr val="DBAA47"/>
          </a:solidFill>
          <a:ln/>
        </p:spPr>
        <p:txBody>
          <a:bodyPr/>
          <a:lstStyle/>
          <a:p>
            <a:endParaRPr lang="en-US"/>
          </a:p>
        </p:txBody>
      </p:sp>
      <p:pic>
        <p:nvPicPr>
          <p:cNvPr id="3" name="Image 0" descr="/home/claude/pptxgen/icons/heart.png"/>
          <p:cNvPicPr>
            <a:picLocks noChangeAspect="1"/>
          </p:cNvPicPr>
          <p:nvPr/>
        </p:nvPicPr>
        <p:blipFill>
          <a:blip r:embed="rId3"/>
          <a:stretch>
            <a:fillRect/>
          </a:stretch>
        </p:blipFill>
        <p:spPr>
          <a:xfrm>
            <a:off x="841248" y="704088"/>
            <a:ext cx="466344" cy="466344"/>
          </a:xfrm>
          <a:prstGeom prst="rect">
            <a:avLst/>
          </a:prstGeom>
        </p:spPr>
      </p:pic>
      <p:sp>
        <p:nvSpPr>
          <p:cNvPr id="4" name="Text 1"/>
          <p:cNvSpPr/>
          <p:nvPr/>
        </p:nvSpPr>
        <p:spPr>
          <a:xfrm>
            <a:off x="1737360" y="457200"/>
            <a:ext cx="9601200" cy="548640"/>
          </a:xfrm>
          <a:prstGeom prst="rect">
            <a:avLst/>
          </a:prstGeom>
          <a:noFill/>
          <a:ln/>
        </p:spPr>
        <p:txBody>
          <a:bodyPr wrap="square" rtlCol="0" anchor="ctr"/>
          <a:lstStyle/>
          <a:p>
            <a:pPr marL="0" indent="0">
              <a:buNone/>
            </a:pPr>
            <a:r>
              <a:rPr lang="en-US" sz="2200" b="1" dirty="0">
                <a:solidFill>
                  <a:srgbClr val="1B2B2E"/>
                </a:solidFill>
                <a:latin typeface="Cambria" pitchFamily="34" charset="0"/>
                <a:ea typeface="Cambria" pitchFamily="34" charset="-122"/>
                <a:cs typeface="Cambria" pitchFamily="34" charset="-120"/>
              </a:rPr>
              <a:t>Your team keeps decision authority. Selected manual work is reduced.</a:t>
            </a:r>
            <a:endParaRPr lang="en-US" sz="2200" dirty="0"/>
          </a:p>
        </p:txBody>
      </p:sp>
      <p:sp>
        <p:nvSpPr>
          <p:cNvPr id="5" name="Text 2"/>
          <p:cNvSpPr/>
          <p:nvPr/>
        </p:nvSpPr>
        <p:spPr>
          <a:xfrm>
            <a:off x="1737360" y="987552"/>
            <a:ext cx="9601200" cy="457200"/>
          </a:xfrm>
          <a:prstGeom prst="rect">
            <a:avLst/>
          </a:prstGeom>
          <a:noFill/>
          <a:ln/>
        </p:spPr>
        <p:txBody>
          <a:bodyPr wrap="square" rtlCol="0" anchor="ctr"/>
          <a:lstStyle/>
          <a:p>
            <a:pPr marL="0" indent="0">
              <a:buNone/>
            </a:pPr>
            <a:r>
              <a:rPr lang="en-US" sz="1500" dirty="0">
                <a:solidFill>
                  <a:srgbClr val="6E6857"/>
                </a:solidFill>
                <a:latin typeface="Calibri" pitchFamily="34" charset="0"/>
                <a:ea typeface="Calibri" pitchFamily="34" charset="-122"/>
                <a:cs typeface="Calibri" pitchFamily="34" charset="-120"/>
              </a:rPr>
              <a:t>Less of what drains a small team — more of what a practice runs on.</a:t>
            </a:r>
            <a:endParaRPr lang="en-US" sz="1500" dirty="0"/>
          </a:p>
        </p:txBody>
      </p:sp>
      <p:sp>
        <p:nvSpPr>
          <p:cNvPr id="6" name="Shape 3"/>
          <p:cNvSpPr/>
          <p:nvPr/>
        </p:nvSpPr>
        <p:spPr>
          <a:xfrm>
            <a:off x="640080" y="1965960"/>
            <a:ext cx="5120640" cy="3248308"/>
          </a:xfrm>
          <a:prstGeom prst="roundRect">
            <a:avLst>
              <a:gd name="adj" fmla="val 5263"/>
            </a:avLst>
          </a:prstGeom>
          <a:solidFill>
            <a:srgbClr val="F6F1DD"/>
          </a:solidFill>
          <a:ln w="12700">
            <a:solidFill>
              <a:srgbClr val="E6DDBE"/>
            </a:solidFill>
            <a:prstDash val="solid"/>
          </a:ln>
        </p:spPr>
        <p:txBody>
          <a:bodyPr/>
          <a:lstStyle/>
          <a:p>
            <a:endParaRPr lang="en-US"/>
          </a:p>
        </p:txBody>
      </p:sp>
      <p:sp>
        <p:nvSpPr>
          <p:cNvPr id="7" name="Text 4"/>
          <p:cNvSpPr/>
          <p:nvPr/>
        </p:nvSpPr>
        <p:spPr>
          <a:xfrm>
            <a:off x="914400" y="2148840"/>
            <a:ext cx="4572000" cy="365760"/>
          </a:xfrm>
          <a:prstGeom prst="rect">
            <a:avLst/>
          </a:prstGeom>
          <a:noFill/>
          <a:ln/>
        </p:spPr>
        <p:txBody>
          <a:bodyPr wrap="square" rtlCol="0" anchor="ctr"/>
          <a:lstStyle/>
          <a:p>
            <a:pPr marL="0" indent="0">
              <a:buNone/>
            </a:pPr>
            <a:r>
              <a:rPr lang="en-US" sz="1700" b="1" dirty="0">
                <a:solidFill>
                  <a:srgbClr val="0B3B36"/>
                </a:solidFill>
                <a:latin typeface="Cambria" pitchFamily="34" charset="0"/>
                <a:ea typeface="Cambria" pitchFamily="34" charset="-122"/>
                <a:cs typeface="Cambria" pitchFamily="34" charset="-120"/>
              </a:rPr>
              <a:t>LESS</a:t>
            </a:r>
            <a:endParaRPr lang="en-US" sz="1700" dirty="0"/>
          </a:p>
        </p:txBody>
      </p:sp>
      <p:sp>
        <p:nvSpPr>
          <p:cNvPr id="8" name="Text 5"/>
          <p:cNvSpPr/>
          <p:nvPr/>
        </p:nvSpPr>
        <p:spPr>
          <a:xfrm>
            <a:off x="990600" y="2130552"/>
            <a:ext cx="4572000" cy="3017520"/>
          </a:xfrm>
          <a:prstGeom prst="rect">
            <a:avLst/>
          </a:prstGeom>
          <a:noFill/>
          <a:ln/>
        </p:spPr>
        <p:txBody>
          <a:bodyPr wrap="square" rtlCol="0" anchor="ctr"/>
          <a:lstStyle/>
          <a:p>
            <a:pPr marL="342900" indent="-342900">
              <a:lnSpc>
                <a:spcPct val="125000"/>
              </a:lnSpc>
              <a:spcAft>
                <a:spcPts val="1000"/>
              </a:spcAft>
              <a:buSzPct val="100000"/>
              <a:buChar char="•"/>
            </a:pPr>
            <a:r>
              <a:rPr lang="en-US" sz="1350" dirty="0">
                <a:solidFill>
                  <a:srgbClr val="1B2B2E"/>
                </a:solidFill>
                <a:latin typeface="Calibri" pitchFamily="34" charset="0"/>
                <a:ea typeface="Calibri" pitchFamily="34" charset="-122"/>
                <a:cs typeface="Calibri" pitchFamily="34" charset="-120"/>
              </a:rPr>
              <a:t>Manual phone, fax, and paperwork filling the day</a:t>
            </a:r>
          </a:p>
          <a:p>
            <a:pPr marL="342900" indent="-342900">
              <a:lnSpc>
                <a:spcPct val="125000"/>
              </a:lnSpc>
              <a:spcAft>
                <a:spcPts val="1000"/>
              </a:spcAft>
              <a:buSzPct val="100000"/>
              <a:buChar char="•"/>
            </a:pPr>
            <a:r>
              <a:rPr lang="en-US" sz="1350" dirty="0">
                <a:solidFill>
                  <a:srgbClr val="1B2B2E"/>
                </a:solidFill>
                <a:latin typeface="Calibri" pitchFamily="34" charset="0"/>
                <a:ea typeface="Calibri" pitchFamily="34" charset="-122"/>
                <a:cs typeface="Calibri" pitchFamily="34" charset="-120"/>
              </a:rPr>
              <a:t>Overtime and temp coverage when you're short-staffed</a:t>
            </a:r>
          </a:p>
          <a:p>
            <a:pPr marL="342900" indent="-342900">
              <a:lnSpc>
                <a:spcPct val="125000"/>
              </a:lnSpc>
              <a:spcAft>
                <a:spcPts val="1000"/>
              </a:spcAft>
              <a:buSzPct val="100000"/>
              <a:buChar char="•"/>
            </a:pPr>
            <a:r>
              <a:rPr lang="en-US" sz="1350" dirty="0">
                <a:solidFill>
                  <a:srgbClr val="1B2B2E"/>
                </a:solidFill>
                <a:latin typeface="Calibri" pitchFamily="34" charset="0"/>
                <a:ea typeface="Calibri" pitchFamily="34" charset="-122"/>
                <a:cs typeface="Calibri" pitchFamily="34" charset="-120"/>
              </a:rPr>
              <a:t>Disruption when one person is out — or leaves</a:t>
            </a:r>
          </a:p>
          <a:p>
            <a:pPr marL="342900" indent="-342900">
              <a:lnSpc>
                <a:spcPct val="125000"/>
              </a:lnSpc>
              <a:spcAft>
                <a:spcPts val="1000"/>
              </a:spcAft>
              <a:buSzPct val="100000"/>
              <a:buChar char="•"/>
            </a:pPr>
            <a:r>
              <a:rPr lang="en-US" sz="1350" dirty="0">
                <a:solidFill>
                  <a:srgbClr val="1B2B2E"/>
                </a:solidFill>
                <a:latin typeface="Calibri" pitchFamily="34" charset="0"/>
                <a:ea typeface="Calibri" pitchFamily="34" charset="-122"/>
                <a:cs typeface="Calibri" pitchFamily="34" charset="-120"/>
              </a:rPr>
              <a:t>No-shows and empty appointment slots</a:t>
            </a:r>
          </a:p>
          <a:p>
            <a:pPr marL="342900" indent="-342900">
              <a:lnSpc>
                <a:spcPct val="125000"/>
              </a:lnSpc>
              <a:spcAft>
                <a:spcPts val="1000"/>
              </a:spcAft>
              <a:buSzPct val="100000"/>
              <a:buChar char="•"/>
            </a:pPr>
            <a:r>
              <a:rPr lang="en-US" sz="1350" dirty="0">
                <a:solidFill>
                  <a:srgbClr val="1B2B2E"/>
                </a:solidFill>
                <a:latin typeface="Calibri" pitchFamily="34" charset="0"/>
                <a:ea typeface="Calibri" pitchFamily="34" charset="-122"/>
                <a:cs typeface="Calibri" pitchFamily="34" charset="-120"/>
              </a:rPr>
              <a:t>Things slipping through the cracks</a:t>
            </a:r>
          </a:p>
        </p:txBody>
      </p:sp>
      <p:sp>
        <p:nvSpPr>
          <p:cNvPr id="9" name="Shape 6"/>
          <p:cNvSpPr/>
          <p:nvPr/>
        </p:nvSpPr>
        <p:spPr>
          <a:xfrm>
            <a:off x="6080760" y="1965960"/>
            <a:ext cx="5120640" cy="3248308"/>
          </a:xfrm>
          <a:prstGeom prst="roundRect">
            <a:avLst>
              <a:gd name="adj" fmla="val 5263"/>
            </a:avLst>
          </a:prstGeom>
          <a:solidFill>
            <a:srgbClr val="F6F1DD"/>
          </a:solidFill>
          <a:ln w="12700">
            <a:solidFill>
              <a:srgbClr val="E6DDBE"/>
            </a:solidFill>
            <a:prstDash val="solid"/>
          </a:ln>
        </p:spPr>
        <p:txBody>
          <a:bodyPr/>
          <a:lstStyle/>
          <a:p>
            <a:endParaRPr lang="en-US"/>
          </a:p>
        </p:txBody>
      </p:sp>
      <p:sp>
        <p:nvSpPr>
          <p:cNvPr id="10" name="Text 7"/>
          <p:cNvSpPr/>
          <p:nvPr/>
        </p:nvSpPr>
        <p:spPr>
          <a:xfrm>
            <a:off x="6355080" y="2148840"/>
            <a:ext cx="4572000" cy="365760"/>
          </a:xfrm>
          <a:prstGeom prst="rect">
            <a:avLst/>
          </a:prstGeom>
          <a:noFill/>
          <a:ln/>
        </p:spPr>
        <p:txBody>
          <a:bodyPr wrap="square" rtlCol="0" anchor="ctr"/>
          <a:lstStyle/>
          <a:p>
            <a:pPr marL="0" indent="0">
              <a:buNone/>
            </a:pPr>
            <a:r>
              <a:rPr lang="en-US" sz="1700" b="1" dirty="0">
                <a:solidFill>
                  <a:srgbClr val="0B3B36"/>
                </a:solidFill>
                <a:latin typeface="Cambria" pitchFamily="34" charset="0"/>
                <a:ea typeface="Cambria" pitchFamily="34" charset="-122"/>
                <a:cs typeface="Cambria" pitchFamily="34" charset="-120"/>
              </a:rPr>
              <a:t>MORE</a:t>
            </a:r>
            <a:endParaRPr lang="en-US" sz="1700" dirty="0"/>
          </a:p>
        </p:txBody>
      </p:sp>
      <p:sp>
        <p:nvSpPr>
          <p:cNvPr id="11" name="Text 8"/>
          <p:cNvSpPr/>
          <p:nvPr/>
        </p:nvSpPr>
        <p:spPr>
          <a:xfrm>
            <a:off x="6355080" y="2288188"/>
            <a:ext cx="4572000" cy="2926080"/>
          </a:xfrm>
          <a:prstGeom prst="rect">
            <a:avLst/>
          </a:prstGeom>
          <a:noFill/>
          <a:ln/>
        </p:spPr>
        <p:txBody>
          <a:bodyPr wrap="square" rtlCol="0" anchor="ctr"/>
          <a:lstStyle/>
          <a:p>
            <a:pPr marL="342900" indent="-342900">
              <a:lnSpc>
                <a:spcPct val="125000"/>
              </a:lnSpc>
              <a:spcAft>
                <a:spcPts val="1000"/>
              </a:spcAft>
              <a:buSzPct val="100000"/>
              <a:buChar char="•"/>
            </a:pPr>
            <a:r>
              <a:rPr lang="en-US" sz="1350" dirty="0">
                <a:solidFill>
                  <a:srgbClr val="1B2B2E"/>
                </a:solidFill>
                <a:latin typeface="Calibri" pitchFamily="34" charset="0"/>
                <a:ea typeface="Calibri" pitchFamily="34" charset="-122"/>
                <a:cs typeface="Calibri" pitchFamily="34" charset="-120"/>
              </a:rPr>
              <a:t>More consistent patient outreach</a:t>
            </a:r>
          </a:p>
          <a:p>
            <a:pPr marL="342900" indent="-342900">
              <a:lnSpc>
                <a:spcPct val="125000"/>
              </a:lnSpc>
              <a:spcAft>
                <a:spcPts val="1000"/>
              </a:spcAft>
              <a:buSzPct val="100000"/>
              <a:buChar char="•"/>
            </a:pPr>
            <a:r>
              <a:rPr lang="en-US" sz="1350" dirty="0">
                <a:solidFill>
                  <a:srgbClr val="1B2B2E"/>
                </a:solidFill>
                <a:latin typeface="Calibri" pitchFamily="34" charset="0"/>
                <a:ea typeface="Calibri" pitchFamily="34" charset="-122"/>
                <a:cs typeface="Calibri" pitchFamily="34" charset="-120"/>
              </a:rPr>
              <a:t>Earlier visibility into coverage issues</a:t>
            </a:r>
          </a:p>
          <a:p>
            <a:pPr marL="342900" indent="-342900">
              <a:lnSpc>
                <a:spcPct val="125000"/>
              </a:lnSpc>
              <a:spcAft>
                <a:spcPts val="1000"/>
              </a:spcAft>
              <a:buSzPct val="100000"/>
              <a:buChar char="•"/>
            </a:pPr>
            <a:r>
              <a:rPr lang="en-US" sz="1350" dirty="0">
                <a:solidFill>
                  <a:srgbClr val="1B2B2E"/>
                </a:solidFill>
                <a:latin typeface="Calibri" pitchFamily="34" charset="0"/>
                <a:ea typeface="Calibri" pitchFamily="34" charset="-122"/>
                <a:cs typeface="Calibri" pitchFamily="34" charset="-120"/>
              </a:rPr>
              <a:t>Fewer manual calls, faxes, and repetitive checks</a:t>
            </a:r>
          </a:p>
          <a:p>
            <a:pPr marL="342900" indent="-342900">
              <a:lnSpc>
                <a:spcPct val="125000"/>
              </a:lnSpc>
              <a:spcAft>
                <a:spcPts val="1000"/>
              </a:spcAft>
              <a:buSzPct val="100000"/>
              <a:buChar char="•"/>
            </a:pPr>
            <a:r>
              <a:rPr lang="en-US" sz="1350" dirty="0">
                <a:solidFill>
                  <a:srgbClr val="1B2B2E"/>
                </a:solidFill>
                <a:latin typeface="Calibri" pitchFamily="34" charset="0"/>
                <a:ea typeface="Calibri" pitchFamily="34" charset="-122"/>
                <a:cs typeface="Calibri" pitchFamily="34" charset="-120"/>
              </a:rPr>
              <a:t>A more resilient front-desk workflow</a:t>
            </a:r>
          </a:p>
          <a:p>
            <a:pPr marL="342900" indent="-342900">
              <a:lnSpc>
                <a:spcPct val="125000"/>
              </a:lnSpc>
              <a:spcAft>
                <a:spcPts val="1000"/>
              </a:spcAft>
              <a:buSzPct val="100000"/>
              <a:buChar char="•"/>
            </a:pPr>
            <a:r>
              <a:rPr lang="en-US" sz="1350" dirty="0">
                <a:solidFill>
                  <a:srgbClr val="1B2B2E"/>
                </a:solidFill>
                <a:latin typeface="Calibri" pitchFamily="34" charset="0"/>
                <a:ea typeface="Calibri" pitchFamily="34" charset="-122"/>
                <a:cs typeface="Calibri" pitchFamily="34" charset="-120"/>
              </a:rPr>
              <a:t>Room to grow without adding headcount</a:t>
            </a:r>
          </a:p>
        </p:txBody>
      </p:sp>
      <p:sp>
        <p:nvSpPr>
          <p:cNvPr id="18" name="Text 15"/>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E6857"/>
                </a:solidFill>
                <a:latin typeface="Calibri" pitchFamily="34" charset="0"/>
                <a:ea typeface="Calibri" pitchFamily="34" charset="-122"/>
                <a:cs typeface="Calibri" pitchFamily="34" charset="-120"/>
              </a:rPr>
              <a:t>Halo Holdings  •  Confidential — for discussion</a:t>
            </a:r>
            <a:endParaRPr lang="en-US" sz="900" dirty="0"/>
          </a:p>
        </p:txBody>
      </p:sp>
      <p:sp>
        <p:nvSpPr>
          <p:cNvPr id="19" name="Text 16"/>
          <p:cNvSpPr/>
          <p:nvPr/>
        </p:nvSpPr>
        <p:spPr>
          <a:xfrm>
            <a:off x="8988552" y="6473952"/>
            <a:ext cx="2743200" cy="274320"/>
          </a:xfrm>
          <a:prstGeom prst="rect">
            <a:avLst/>
          </a:prstGeom>
          <a:noFill/>
          <a:ln/>
        </p:spPr>
        <p:txBody>
          <a:bodyPr wrap="square" rtlCol="0" anchor="ctr"/>
          <a:lstStyle/>
          <a:p>
            <a:pPr marL="0" indent="0" algn="r">
              <a:buNone/>
            </a:pPr>
            <a:r>
              <a:rPr lang="en-US" sz="900" dirty="0">
                <a:solidFill>
                  <a:srgbClr val="6E6857"/>
                </a:solidFill>
                <a:latin typeface="Calibri" pitchFamily="34" charset="0"/>
                <a:ea typeface="Calibri" pitchFamily="34" charset="-122"/>
                <a:cs typeface="Calibri" pitchFamily="34" charset="-120"/>
              </a:rPr>
              <a:t>Less and more</a:t>
            </a:r>
            <a:endParaRPr lang="en-US" sz="900" dirty="0"/>
          </a:p>
        </p:txBody>
      </p:sp>
      <p:sp>
        <p:nvSpPr>
          <p:cNvPr id="40" name="Text 40"/>
          <p:cNvSpPr/>
          <p:nvPr/>
        </p:nvSpPr>
        <p:spPr>
          <a:xfrm>
            <a:off x="577557" y="5442868"/>
            <a:ext cx="10561320" cy="365760"/>
          </a:xfrm>
          <a:prstGeom prst="rect">
            <a:avLst/>
          </a:prstGeom>
          <a:noFill/>
          <a:ln/>
        </p:spPr>
        <p:txBody>
          <a:bodyPr wrap="square" rtlCol="0" anchor="ctr"/>
          <a:lstStyle/>
          <a:p>
            <a:pPr marL="0" indent="0" algn="ctr">
              <a:buNone/>
            </a:pPr>
            <a:r>
              <a:rPr lang="en-US" sz="1400" i="1" dirty="0">
                <a:solidFill>
                  <a:srgbClr val="6E6857"/>
                </a:solidFill>
                <a:latin typeface="Calibri" pitchFamily="34" charset="0"/>
                <a:ea typeface="Calibri" pitchFamily="34" charset="-122"/>
                <a:cs typeface="Calibri" pitchFamily="34" charset="-120"/>
              </a:rPr>
              <a:t>What never changes: you care for patients, and your team keeps decision authority over every automated step.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92608"/>
            <a:ext cx="11277295" cy="502920"/>
          </a:xfrm>
          <a:prstGeom prst="rect">
            <a:avLst/>
          </a:prstGeom>
          <a:noFill/>
          <a:ln/>
        </p:spPr>
        <p:txBody>
          <a:bodyPr wrap="square" lIns="0" tIns="0" rIns="0" bIns="0" rtlCol="0" anchor="ctr"/>
          <a:lstStyle/>
          <a:p>
            <a:pPr marL="0" indent="0">
              <a:buNone/>
            </a:pPr>
            <a:r>
              <a:rPr lang="en-US" sz="2600" b="1" dirty="0">
                <a:solidFill>
                  <a:srgbClr val="042B2B"/>
                </a:solidFill>
                <a:latin typeface="Arial" pitchFamily="34" charset="0"/>
                <a:ea typeface="Arial" pitchFamily="34" charset="-122"/>
                <a:cs typeface="Arial" pitchFamily="34" charset="-120"/>
              </a:rPr>
              <a:t>Appointment booking, confirmed and followed up</a:t>
            </a:r>
            <a:endParaRPr lang="en-US" sz="2600" dirty="0"/>
          </a:p>
        </p:txBody>
      </p:sp>
      <p:sp>
        <p:nvSpPr>
          <p:cNvPr id="3" name="Text 1"/>
          <p:cNvSpPr/>
          <p:nvPr/>
        </p:nvSpPr>
        <p:spPr>
          <a:xfrm>
            <a:off x="457200" y="777240"/>
            <a:ext cx="11277295" cy="320040"/>
          </a:xfrm>
          <a:prstGeom prst="rect">
            <a:avLst/>
          </a:prstGeom>
          <a:noFill/>
          <a:ln/>
        </p:spPr>
        <p:txBody>
          <a:bodyPr wrap="square" lIns="0" tIns="0" rIns="0" bIns="0" rtlCol="0" anchor="ctr"/>
          <a:lstStyle/>
          <a:p>
            <a:pPr marL="0" indent="0">
              <a:buNone/>
            </a:pPr>
            <a:r>
              <a:rPr lang="en-US" sz="1400" i="1" dirty="0">
                <a:solidFill>
                  <a:srgbClr val="5F5E5A"/>
                </a:solidFill>
                <a:latin typeface="Arial" pitchFamily="34" charset="0"/>
                <a:ea typeface="Arial" pitchFamily="34" charset="-122"/>
                <a:cs typeface="Arial" pitchFamily="34" charset="-120"/>
              </a:rPr>
              <a:t>An illustrative example — the actual first workflow is selected together with your team</a:t>
            </a:r>
            <a:endParaRPr lang="en-US" sz="1400" dirty="0"/>
          </a:p>
        </p:txBody>
      </p:sp>
      <p:sp>
        <p:nvSpPr>
          <p:cNvPr id="4" name="Shape 2"/>
          <p:cNvSpPr/>
          <p:nvPr/>
        </p:nvSpPr>
        <p:spPr>
          <a:xfrm>
            <a:off x="685800" y="1371600"/>
            <a:ext cx="2029968" cy="1188720"/>
          </a:xfrm>
          <a:prstGeom prst="roundRect">
            <a:avLst>
              <a:gd name="adj" fmla="val 6154"/>
            </a:avLst>
          </a:prstGeom>
          <a:solidFill>
            <a:srgbClr val="F6F1DD"/>
          </a:solidFill>
          <a:ln w="12700">
            <a:solidFill>
              <a:srgbClr val="042B2B"/>
            </a:solidFill>
            <a:prstDash val="solid"/>
          </a:ln>
        </p:spPr>
        <p:txBody>
          <a:bodyPr/>
          <a:lstStyle/>
          <a:p>
            <a:endParaRPr lang="en-US"/>
          </a:p>
        </p:txBody>
      </p:sp>
      <p:sp>
        <p:nvSpPr>
          <p:cNvPr id="5" name="Text 3"/>
          <p:cNvSpPr/>
          <p:nvPr/>
        </p:nvSpPr>
        <p:spPr>
          <a:xfrm>
            <a:off x="777240" y="1444752"/>
            <a:ext cx="457200" cy="201168"/>
          </a:xfrm>
          <a:prstGeom prst="rect">
            <a:avLst/>
          </a:prstGeom>
          <a:noFill/>
          <a:ln/>
        </p:spPr>
        <p:txBody>
          <a:bodyPr wrap="square" lIns="0" tIns="0" rIns="0" bIns="0" rtlCol="0" anchor="ctr"/>
          <a:lstStyle/>
          <a:p>
            <a:pPr marL="0" indent="0">
              <a:buNone/>
            </a:pPr>
            <a:r>
              <a:rPr lang="en-US" sz="900" b="1" dirty="0">
                <a:solidFill>
                  <a:srgbClr val="5F5E5A"/>
                </a:solidFill>
                <a:latin typeface="Arial" pitchFamily="34" charset="0"/>
                <a:ea typeface="Arial" pitchFamily="34" charset="-122"/>
                <a:cs typeface="Arial" pitchFamily="34" charset="-120"/>
              </a:rPr>
              <a:t>1</a:t>
            </a:r>
            <a:endParaRPr lang="en-US" sz="900" dirty="0"/>
          </a:p>
        </p:txBody>
      </p:sp>
      <p:sp>
        <p:nvSpPr>
          <p:cNvPr id="6" name="Text 4"/>
          <p:cNvSpPr/>
          <p:nvPr/>
        </p:nvSpPr>
        <p:spPr>
          <a:xfrm>
            <a:off x="804672" y="1627632"/>
            <a:ext cx="1792224" cy="502920"/>
          </a:xfrm>
          <a:prstGeom prst="rect">
            <a:avLst/>
          </a:prstGeom>
          <a:noFill/>
          <a:ln/>
        </p:spPr>
        <p:txBody>
          <a:bodyPr wrap="square" lIns="0" tIns="0" rIns="0" bIns="0" rtlCol="0" anchor="t"/>
          <a:lstStyle/>
          <a:p>
            <a:pPr marL="0" indent="0">
              <a:buNone/>
            </a:pPr>
            <a:r>
              <a:rPr lang="en-US" sz="1050" b="1" dirty="0">
                <a:solidFill>
                  <a:srgbClr val="042B2B"/>
                </a:solidFill>
                <a:latin typeface="Arial" pitchFamily="34" charset="0"/>
                <a:ea typeface="Arial" pitchFamily="34" charset="-122"/>
                <a:cs typeface="Arial" pitchFamily="34" charset="-120"/>
              </a:rPr>
              <a:t>Patient calls in</a:t>
            </a:r>
            <a:endParaRPr lang="en-US" sz="1050" dirty="0"/>
          </a:p>
        </p:txBody>
      </p:sp>
      <p:sp>
        <p:nvSpPr>
          <p:cNvPr id="7" name="Text 5"/>
          <p:cNvSpPr/>
          <p:nvPr/>
        </p:nvSpPr>
        <p:spPr>
          <a:xfrm>
            <a:off x="804672" y="2148840"/>
            <a:ext cx="1792224" cy="365760"/>
          </a:xfrm>
          <a:prstGeom prst="rect">
            <a:avLst/>
          </a:prstGeom>
          <a:noFill/>
          <a:ln/>
        </p:spPr>
        <p:txBody>
          <a:bodyPr wrap="square" lIns="0" tIns="0" rIns="0" bIns="0" rtlCol="0" anchor="t"/>
          <a:lstStyle/>
          <a:p>
            <a:pPr marL="0" indent="0">
              <a:buNone/>
            </a:pPr>
            <a:r>
              <a:rPr lang="en-US" sz="800" dirty="0">
                <a:solidFill>
                  <a:srgbClr val="5F5E5A"/>
                </a:solidFill>
                <a:latin typeface="Arial" pitchFamily="34" charset="0"/>
                <a:ea typeface="Arial" pitchFamily="34" charset="-122"/>
                <a:cs typeface="Arial" pitchFamily="34" charset="-120"/>
              </a:rPr>
              <a:t>Wants to book an appointment</a:t>
            </a:r>
            <a:endParaRPr lang="en-US" sz="800" dirty="0"/>
          </a:p>
        </p:txBody>
      </p:sp>
      <p:sp>
        <p:nvSpPr>
          <p:cNvPr id="8" name="Shape 6"/>
          <p:cNvSpPr/>
          <p:nvPr/>
        </p:nvSpPr>
        <p:spPr>
          <a:xfrm>
            <a:off x="2898648" y="1371600"/>
            <a:ext cx="2029968" cy="1188720"/>
          </a:xfrm>
          <a:prstGeom prst="roundRect">
            <a:avLst>
              <a:gd name="adj" fmla="val 6154"/>
            </a:avLst>
          </a:prstGeom>
          <a:solidFill>
            <a:srgbClr val="042B2B"/>
          </a:solidFill>
          <a:ln/>
        </p:spPr>
        <p:txBody>
          <a:bodyPr/>
          <a:lstStyle/>
          <a:p>
            <a:endParaRPr lang="en-US"/>
          </a:p>
        </p:txBody>
      </p:sp>
      <p:sp>
        <p:nvSpPr>
          <p:cNvPr id="9" name="Text 7"/>
          <p:cNvSpPr/>
          <p:nvPr/>
        </p:nvSpPr>
        <p:spPr>
          <a:xfrm>
            <a:off x="2990088" y="1444752"/>
            <a:ext cx="457200" cy="201168"/>
          </a:xfrm>
          <a:prstGeom prst="rect">
            <a:avLst/>
          </a:prstGeom>
          <a:noFill/>
          <a:ln/>
        </p:spPr>
        <p:txBody>
          <a:bodyPr wrap="square" lIns="0" tIns="0" rIns="0" bIns="0" rtlCol="0" anchor="ctr"/>
          <a:lstStyle/>
          <a:p>
            <a:pPr marL="0" indent="0">
              <a:buNone/>
            </a:pPr>
            <a:r>
              <a:rPr lang="en-US" sz="900" b="1" dirty="0">
                <a:solidFill>
                  <a:srgbClr val="C9D6CE"/>
                </a:solidFill>
                <a:latin typeface="Arial" pitchFamily="34" charset="0"/>
                <a:ea typeface="Arial" pitchFamily="34" charset="-122"/>
                <a:cs typeface="Arial" pitchFamily="34" charset="-120"/>
              </a:rPr>
              <a:t>2</a:t>
            </a:r>
            <a:endParaRPr lang="en-US" sz="900" dirty="0"/>
          </a:p>
        </p:txBody>
      </p:sp>
      <p:sp>
        <p:nvSpPr>
          <p:cNvPr id="10" name="Text 8"/>
          <p:cNvSpPr/>
          <p:nvPr/>
        </p:nvSpPr>
        <p:spPr>
          <a:xfrm>
            <a:off x="3017520" y="1627632"/>
            <a:ext cx="1792224" cy="502920"/>
          </a:xfrm>
          <a:prstGeom prst="rect">
            <a:avLst/>
          </a:prstGeom>
          <a:noFill/>
          <a:ln/>
        </p:spPr>
        <p:txBody>
          <a:bodyPr wrap="square" lIns="0" tIns="0" rIns="0" bIns="0" rtlCol="0" anchor="t"/>
          <a:lstStyle/>
          <a:p>
            <a:pPr marL="0" indent="0">
              <a:buNone/>
            </a:pPr>
            <a:r>
              <a:rPr lang="en-US" sz="1050" b="1" dirty="0">
                <a:solidFill>
                  <a:srgbClr val="F6F1DD"/>
                </a:solidFill>
                <a:latin typeface="Arial" pitchFamily="34" charset="0"/>
                <a:ea typeface="Arial" pitchFamily="34" charset="-122"/>
                <a:cs typeface="Arial" pitchFamily="34" charset="-120"/>
              </a:rPr>
              <a:t>Assistant books it</a:t>
            </a:r>
            <a:endParaRPr lang="en-US" sz="1050" dirty="0"/>
          </a:p>
        </p:txBody>
      </p:sp>
      <p:sp>
        <p:nvSpPr>
          <p:cNvPr id="11" name="Text 9"/>
          <p:cNvSpPr/>
          <p:nvPr/>
        </p:nvSpPr>
        <p:spPr>
          <a:xfrm>
            <a:off x="3017520" y="2148840"/>
            <a:ext cx="1792224" cy="365760"/>
          </a:xfrm>
          <a:prstGeom prst="rect">
            <a:avLst/>
          </a:prstGeom>
          <a:noFill/>
          <a:ln/>
        </p:spPr>
        <p:txBody>
          <a:bodyPr wrap="square" lIns="0" tIns="0" rIns="0" bIns="0" rtlCol="0" anchor="t"/>
          <a:lstStyle/>
          <a:p>
            <a:pPr marL="0" indent="0">
              <a:buNone/>
            </a:pPr>
            <a:r>
              <a:rPr lang="en-US" sz="800" dirty="0">
                <a:solidFill>
                  <a:srgbClr val="C9D6CE"/>
                </a:solidFill>
                <a:latin typeface="Arial" pitchFamily="34" charset="0"/>
                <a:ea typeface="Arial" pitchFamily="34" charset="-122"/>
                <a:cs typeface="Arial" pitchFamily="34" charset="-120"/>
              </a:rPr>
              <a:t>Saved as pending in the EMR</a:t>
            </a:r>
            <a:endParaRPr lang="en-US" sz="800" dirty="0"/>
          </a:p>
        </p:txBody>
      </p:sp>
      <p:sp>
        <p:nvSpPr>
          <p:cNvPr id="12" name="Shape 10"/>
          <p:cNvSpPr/>
          <p:nvPr/>
        </p:nvSpPr>
        <p:spPr>
          <a:xfrm>
            <a:off x="5111496" y="1371600"/>
            <a:ext cx="2029968" cy="1188720"/>
          </a:xfrm>
          <a:prstGeom prst="roundRect">
            <a:avLst>
              <a:gd name="adj" fmla="val 6154"/>
            </a:avLst>
          </a:prstGeom>
          <a:solidFill>
            <a:srgbClr val="042B2B"/>
          </a:solidFill>
          <a:ln/>
        </p:spPr>
        <p:txBody>
          <a:bodyPr/>
          <a:lstStyle/>
          <a:p>
            <a:endParaRPr lang="en-US"/>
          </a:p>
        </p:txBody>
      </p:sp>
      <p:sp>
        <p:nvSpPr>
          <p:cNvPr id="13" name="Text 11"/>
          <p:cNvSpPr/>
          <p:nvPr/>
        </p:nvSpPr>
        <p:spPr>
          <a:xfrm>
            <a:off x="5202936" y="1444752"/>
            <a:ext cx="457200" cy="201168"/>
          </a:xfrm>
          <a:prstGeom prst="rect">
            <a:avLst/>
          </a:prstGeom>
          <a:noFill/>
          <a:ln/>
        </p:spPr>
        <p:txBody>
          <a:bodyPr wrap="square" lIns="0" tIns="0" rIns="0" bIns="0" rtlCol="0" anchor="ctr"/>
          <a:lstStyle/>
          <a:p>
            <a:pPr marL="0" indent="0">
              <a:buNone/>
            </a:pPr>
            <a:r>
              <a:rPr lang="en-US" sz="900" b="1" dirty="0">
                <a:solidFill>
                  <a:srgbClr val="C9D6CE"/>
                </a:solidFill>
                <a:latin typeface="Arial" pitchFamily="34" charset="0"/>
                <a:ea typeface="Arial" pitchFamily="34" charset="-122"/>
                <a:cs typeface="Arial" pitchFamily="34" charset="-120"/>
              </a:rPr>
              <a:t>3</a:t>
            </a:r>
            <a:endParaRPr lang="en-US" sz="900" dirty="0"/>
          </a:p>
        </p:txBody>
      </p:sp>
      <p:sp>
        <p:nvSpPr>
          <p:cNvPr id="14" name="Text 12"/>
          <p:cNvSpPr/>
          <p:nvPr/>
        </p:nvSpPr>
        <p:spPr>
          <a:xfrm>
            <a:off x="5230368" y="1627632"/>
            <a:ext cx="1792224" cy="502920"/>
          </a:xfrm>
          <a:prstGeom prst="rect">
            <a:avLst/>
          </a:prstGeom>
          <a:noFill/>
          <a:ln/>
        </p:spPr>
        <p:txBody>
          <a:bodyPr wrap="square" lIns="0" tIns="0" rIns="0" bIns="0" rtlCol="0" anchor="t"/>
          <a:lstStyle/>
          <a:p>
            <a:pPr marL="0" indent="0">
              <a:buNone/>
            </a:pPr>
            <a:r>
              <a:rPr lang="en-US" sz="1050" b="1" dirty="0">
                <a:solidFill>
                  <a:srgbClr val="F6F1DD"/>
                </a:solidFill>
                <a:latin typeface="Arial" pitchFamily="34" charset="0"/>
                <a:ea typeface="Arial" pitchFamily="34" charset="-122"/>
                <a:cs typeface="Arial" pitchFamily="34" charset="-120"/>
              </a:rPr>
              <a:t>Eligibility checked</a:t>
            </a:r>
            <a:endParaRPr lang="en-US" sz="1050" dirty="0"/>
          </a:p>
        </p:txBody>
      </p:sp>
      <p:sp>
        <p:nvSpPr>
          <p:cNvPr id="15" name="Text 13"/>
          <p:cNvSpPr/>
          <p:nvPr/>
        </p:nvSpPr>
        <p:spPr>
          <a:xfrm>
            <a:off x="5230368" y="2148840"/>
            <a:ext cx="1792224" cy="365760"/>
          </a:xfrm>
          <a:prstGeom prst="rect">
            <a:avLst/>
          </a:prstGeom>
          <a:noFill/>
          <a:ln/>
        </p:spPr>
        <p:txBody>
          <a:bodyPr wrap="square" lIns="0" tIns="0" rIns="0" bIns="0" rtlCol="0" anchor="t"/>
          <a:lstStyle/>
          <a:p>
            <a:pPr marL="0" indent="0">
              <a:buNone/>
            </a:pPr>
            <a:r>
              <a:rPr lang="en-US" sz="800" dirty="0">
                <a:solidFill>
                  <a:srgbClr val="C9D6CE"/>
                </a:solidFill>
                <a:latin typeface="Arial" pitchFamily="34" charset="0"/>
                <a:ea typeface="Arial" pitchFamily="34" charset="-122"/>
                <a:cs typeface="Arial" pitchFamily="34" charset="-120"/>
              </a:rPr>
              <a:t>Runs automatically, before approval</a:t>
            </a:r>
            <a:endParaRPr lang="en-US" sz="800" dirty="0"/>
          </a:p>
        </p:txBody>
      </p:sp>
      <p:sp>
        <p:nvSpPr>
          <p:cNvPr id="16" name="Shape 14"/>
          <p:cNvSpPr/>
          <p:nvPr/>
        </p:nvSpPr>
        <p:spPr>
          <a:xfrm>
            <a:off x="7324344" y="1371600"/>
            <a:ext cx="2029968" cy="1188720"/>
          </a:xfrm>
          <a:prstGeom prst="roundRect">
            <a:avLst>
              <a:gd name="adj" fmla="val 6154"/>
            </a:avLst>
          </a:prstGeom>
          <a:solidFill>
            <a:srgbClr val="DBAA47"/>
          </a:solidFill>
          <a:ln/>
        </p:spPr>
        <p:txBody>
          <a:bodyPr/>
          <a:lstStyle/>
          <a:p>
            <a:endParaRPr lang="en-US"/>
          </a:p>
        </p:txBody>
      </p:sp>
      <p:sp>
        <p:nvSpPr>
          <p:cNvPr id="17" name="Text 15"/>
          <p:cNvSpPr/>
          <p:nvPr/>
        </p:nvSpPr>
        <p:spPr>
          <a:xfrm>
            <a:off x="7415784" y="1444752"/>
            <a:ext cx="457200" cy="201168"/>
          </a:xfrm>
          <a:prstGeom prst="rect">
            <a:avLst/>
          </a:prstGeom>
          <a:noFill/>
          <a:ln/>
        </p:spPr>
        <p:txBody>
          <a:bodyPr wrap="square" lIns="0" tIns="0" rIns="0" bIns="0" rtlCol="0" anchor="ctr"/>
          <a:lstStyle/>
          <a:p>
            <a:pPr marL="0" indent="0">
              <a:buNone/>
            </a:pPr>
            <a:r>
              <a:rPr lang="en-US" sz="900" b="1" dirty="0">
                <a:solidFill>
                  <a:srgbClr val="4A3A12"/>
                </a:solidFill>
                <a:latin typeface="Arial" pitchFamily="34" charset="0"/>
                <a:ea typeface="Arial" pitchFamily="34" charset="-122"/>
                <a:cs typeface="Arial" pitchFamily="34" charset="-120"/>
              </a:rPr>
              <a:t>4</a:t>
            </a:r>
            <a:endParaRPr lang="en-US" sz="900" dirty="0"/>
          </a:p>
        </p:txBody>
      </p:sp>
      <p:sp>
        <p:nvSpPr>
          <p:cNvPr id="18" name="Text 16"/>
          <p:cNvSpPr/>
          <p:nvPr/>
        </p:nvSpPr>
        <p:spPr>
          <a:xfrm>
            <a:off x="7443216" y="1627632"/>
            <a:ext cx="1792224" cy="502920"/>
          </a:xfrm>
          <a:prstGeom prst="rect">
            <a:avLst/>
          </a:prstGeom>
          <a:noFill/>
          <a:ln/>
        </p:spPr>
        <p:txBody>
          <a:bodyPr wrap="square" lIns="0" tIns="0" rIns="0" bIns="0" rtlCol="0" anchor="t"/>
          <a:lstStyle/>
          <a:p>
            <a:pPr marL="0" indent="0">
              <a:buNone/>
            </a:pPr>
            <a:r>
              <a:rPr lang="en-US" sz="1050" b="1" dirty="0">
                <a:solidFill>
                  <a:srgbClr val="042B2B"/>
                </a:solidFill>
                <a:latin typeface="Arial" pitchFamily="34" charset="0"/>
                <a:ea typeface="Arial" pitchFamily="34" charset="-122"/>
                <a:cs typeface="Arial" pitchFamily="34" charset="-120"/>
              </a:rPr>
              <a:t>Doctor approves</a:t>
            </a:r>
            <a:endParaRPr lang="en-US" sz="1050" dirty="0"/>
          </a:p>
        </p:txBody>
      </p:sp>
      <p:sp>
        <p:nvSpPr>
          <p:cNvPr id="19" name="Text 17"/>
          <p:cNvSpPr/>
          <p:nvPr/>
        </p:nvSpPr>
        <p:spPr>
          <a:xfrm>
            <a:off x="7443216" y="2148840"/>
            <a:ext cx="1792224" cy="365760"/>
          </a:xfrm>
          <a:prstGeom prst="rect">
            <a:avLst/>
          </a:prstGeom>
          <a:noFill/>
          <a:ln/>
        </p:spPr>
        <p:txBody>
          <a:bodyPr wrap="square" lIns="0" tIns="0" rIns="0" bIns="0" rtlCol="0" anchor="t"/>
          <a:lstStyle/>
          <a:p>
            <a:pPr marL="0" indent="0">
              <a:buNone/>
            </a:pPr>
            <a:r>
              <a:rPr lang="en-US" sz="800" dirty="0">
                <a:solidFill>
                  <a:srgbClr val="4A3A12"/>
                </a:solidFill>
                <a:latin typeface="Arial" pitchFamily="34" charset="0"/>
                <a:ea typeface="Arial" pitchFamily="34" charset="-122"/>
                <a:cs typeface="Arial" pitchFamily="34" charset="-120"/>
              </a:rPr>
              <a:t>Final say stays with the office</a:t>
            </a:r>
            <a:endParaRPr lang="en-US" sz="800" dirty="0"/>
          </a:p>
        </p:txBody>
      </p:sp>
      <p:sp>
        <p:nvSpPr>
          <p:cNvPr id="20" name="Shape 18"/>
          <p:cNvSpPr/>
          <p:nvPr/>
        </p:nvSpPr>
        <p:spPr>
          <a:xfrm>
            <a:off x="9537192" y="1371600"/>
            <a:ext cx="2029968" cy="1188720"/>
          </a:xfrm>
          <a:prstGeom prst="roundRect">
            <a:avLst>
              <a:gd name="adj" fmla="val 6154"/>
            </a:avLst>
          </a:prstGeom>
          <a:solidFill>
            <a:srgbClr val="042B2B"/>
          </a:solidFill>
          <a:ln/>
        </p:spPr>
        <p:txBody>
          <a:bodyPr/>
          <a:lstStyle/>
          <a:p>
            <a:endParaRPr lang="en-US"/>
          </a:p>
        </p:txBody>
      </p:sp>
      <p:sp>
        <p:nvSpPr>
          <p:cNvPr id="21" name="Text 19"/>
          <p:cNvSpPr/>
          <p:nvPr/>
        </p:nvSpPr>
        <p:spPr>
          <a:xfrm>
            <a:off x="9628632" y="1444752"/>
            <a:ext cx="457200" cy="201168"/>
          </a:xfrm>
          <a:prstGeom prst="rect">
            <a:avLst/>
          </a:prstGeom>
          <a:noFill/>
          <a:ln/>
        </p:spPr>
        <p:txBody>
          <a:bodyPr wrap="square" lIns="0" tIns="0" rIns="0" bIns="0" rtlCol="0" anchor="ctr"/>
          <a:lstStyle/>
          <a:p>
            <a:pPr marL="0" indent="0">
              <a:buNone/>
            </a:pPr>
            <a:r>
              <a:rPr lang="en-US" sz="900" b="1" dirty="0">
                <a:solidFill>
                  <a:srgbClr val="C9D6CE"/>
                </a:solidFill>
                <a:latin typeface="Arial" pitchFamily="34" charset="0"/>
                <a:ea typeface="Arial" pitchFamily="34" charset="-122"/>
                <a:cs typeface="Arial" pitchFamily="34" charset="-120"/>
              </a:rPr>
              <a:t>5</a:t>
            </a:r>
            <a:endParaRPr lang="en-US" sz="900" dirty="0"/>
          </a:p>
        </p:txBody>
      </p:sp>
      <p:sp>
        <p:nvSpPr>
          <p:cNvPr id="22" name="Text 20"/>
          <p:cNvSpPr/>
          <p:nvPr/>
        </p:nvSpPr>
        <p:spPr>
          <a:xfrm>
            <a:off x="9656064" y="1627632"/>
            <a:ext cx="1792224" cy="502920"/>
          </a:xfrm>
          <a:prstGeom prst="rect">
            <a:avLst/>
          </a:prstGeom>
          <a:noFill/>
          <a:ln/>
        </p:spPr>
        <p:txBody>
          <a:bodyPr wrap="square" lIns="0" tIns="0" rIns="0" bIns="0" rtlCol="0" anchor="t"/>
          <a:lstStyle/>
          <a:p>
            <a:pPr marL="0" indent="0">
              <a:buNone/>
            </a:pPr>
            <a:r>
              <a:rPr lang="en-US" sz="1050" b="1" dirty="0">
                <a:solidFill>
                  <a:srgbClr val="F6F1DD"/>
                </a:solidFill>
                <a:latin typeface="Arial" pitchFamily="34" charset="0"/>
                <a:ea typeface="Arial" pitchFamily="34" charset="-122"/>
                <a:cs typeface="Arial" pitchFamily="34" charset="-120"/>
              </a:rPr>
              <a:t>Confirmation sent</a:t>
            </a:r>
            <a:endParaRPr lang="en-US" sz="1050" dirty="0"/>
          </a:p>
        </p:txBody>
      </p:sp>
      <p:sp>
        <p:nvSpPr>
          <p:cNvPr id="23" name="Text 21"/>
          <p:cNvSpPr/>
          <p:nvPr/>
        </p:nvSpPr>
        <p:spPr>
          <a:xfrm>
            <a:off x="9656064" y="2148840"/>
            <a:ext cx="1792224" cy="365760"/>
          </a:xfrm>
          <a:prstGeom prst="rect">
            <a:avLst/>
          </a:prstGeom>
          <a:noFill/>
          <a:ln/>
        </p:spPr>
        <p:txBody>
          <a:bodyPr wrap="square" lIns="0" tIns="0" rIns="0" bIns="0" rtlCol="0" anchor="t"/>
          <a:lstStyle/>
          <a:p>
            <a:pPr marL="0" indent="0">
              <a:buNone/>
            </a:pPr>
            <a:r>
              <a:rPr lang="en-US" sz="800" dirty="0">
                <a:solidFill>
                  <a:srgbClr val="C9D6CE"/>
                </a:solidFill>
                <a:latin typeface="Arial" pitchFamily="34" charset="0"/>
                <a:ea typeface="Arial" pitchFamily="34" charset="-122"/>
                <a:cs typeface="Arial" pitchFamily="34" charset="-120"/>
              </a:rPr>
              <a:t>Automatically, no extra work</a:t>
            </a:r>
            <a:endParaRPr lang="en-US" sz="800" dirty="0"/>
          </a:p>
        </p:txBody>
      </p:sp>
      <p:sp>
        <p:nvSpPr>
          <p:cNvPr id="24" name="Shape 22"/>
          <p:cNvSpPr/>
          <p:nvPr/>
        </p:nvSpPr>
        <p:spPr>
          <a:xfrm>
            <a:off x="685800" y="3063240"/>
            <a:ext cx="2029968" cy="1188720"/>
          </a:xfrm>
          <a:prstGeom prst="roundRect">
            <a:avLst>
              <a:gd name="adj" fmla="val 6154"/>
            </a:avLst>
          </a:prstGeom>
          <a:solidFill>
            <a:srgbClr val="042B2B"/>
          </a:solidFill>
          <a:ln/>
        </p:spPr>
        <p:txBody>
          <a:bodyPr/>
          <a:lstStyle/>
          <a:p>
            <a:endParaRPr lang="en-US"/>
          </a:p>
        </p:txBody>
      </p:sp>
      <p:sp>
        <p:nvSpPr>
          <p:cNvPr id="25" name="Text 23"/>
          <p:cNvSpPr/>
          <p:nvPr/>
        </p:nvSpPr>
        <p:spPr>
          <a:xfrm>
            <a:off x="777240" y="3136392"/>
            <a:ext cx="457200" cy="201168"/>
          </a:xfrm>
          <a:prstGeom prst="rect">
            <a:avLst/>
          </a:prstGeom>
          <a:noFill/>
          <a:ln/>
        </p:spPr>
        <p:txBody>
          <a:bodyPr wrap="square" lIns="0" tIns="0" rIns="0" bIns="0" rtlCol="0" anchor="ctr"/>
          <a:lstStyle/>
          <a:p>
            <a:pPr marL="0" indent="0">
              <a:buNone/>
            </a:pPr>
            <a:r>
              <a:rPr lang="en-US" sz="900" b="1" dirty="0">
                <a:solidFill>
                  <a:srgbClr val="C9D6CE"/>
                </a:solidFill>
                <a:latin typeface="Arial" pitchFamily="34" charset="0"/>
                <a:ea typeface="Arial" pitchFamily="34" charset="-122"/>
                <a:cs typeface="Arial" pitchFamily="34" charset="-120"/>
              </a:rPr>
              <a:t>6</a:t>
            </a:r>
            <a:endParaRPr lang="en-US" sz="900" dirty="0"/>
          </a:p>
        </p:txBody>
      </p:sp>
      <p:sp>
        <p:nvSpPr>
          <p:cNvPr id="26" name="Text 24"/>
          <p:cNvSpPr/>
          <p:nvPr/>
        </p:nvSpPr>
        <p:spPr>
          <a:xfrm>
            <a:off x="804672" y="3319272"/>
            <a:ext cx="1792224" cy="502920"/>
          </a:xfrm>
          <a:prstGeom prst="rect">
            <a:avLst/>
          </a:prstGeom>
          <a:noFill/>
          <a:ln/>
        </p:spPr>
        <p:txBody>
          <a:bodyPr wrap="square" lIns="0" tIns="0" rIns="0" bIns="0" rtlCol="0" anchor="t"/>
          <a:lstStyle/>
          <a:p>
            <a:pPr marL="0" indent="0">
              <a:buNone/>
            </a:pPr>
            <a:r>
              <a:rPr lang="en-US" sz="1050" b="1" dirty="0">
                <a:solidFill>
                  <a:srgbClr val="F6F1DD"/>
                </a:solidFill>
                <a:latin typeface="Arial" pitchFamily="34" charset="0"/>
                <a:ea typeface="Arial" pitchFamily="34" charset="-122"/>
                <a:cs typeface="Arial" pitchFamily="34" charset="-120"/>
              </a:rPr>
              <a:t>Confirmation request sent</a:t>
            </a:r>
            <a:endParaRPr lang="en-US" sz="1050" dirty="0"/>
          </a:p>
        </p:txBody>
      </p:sp>
      <p:sp>
        <p:nvSpPr>
          <p:cNvPr id="27" name="Text 25"/>
          <p:cNvSpPr/>
          <p:nvPr/>
        </p:nvSpPr>
        <p:spPr>
          <a:xfrm>
            <a:off x="804672" y="3840480"/>
            <a:ext cx="1792224" cy="365760"/>
          </a:xfrm>
          <a:prstGeom prst="rect">
            <a:avLst/>
          </a:prstGeom>
          <a:noFill/>
          <a:ln/>
        </p:spPr>
        <p:txBody>
          <a:bodyPr wrap="square" lIns="0" tIns="0" rIns="0" bIns="0" rtlCol="0" anchor="t"/>
          <a:lstStyle/>
          <a:p>
            <a:pPr marL="0" indent="0">
              <a:buNone/>
            </a:pPr>
            <a:r>
              <a:rPr lang="en-US" sz="800" dirty="0">
                <a:solidFill>
                  <a:srgbClr val="C9D6CE"/>
                </a:solidFill>
                <a:latin typeface="Arial" pitchFamily="34" charset="0"/>
                <a:ea typeface="Arial" pitchFamily="34" charset="-122"/>
                <a:cs typeface="Arial" pitchFamily="34" charset="-120"/>
              </a:rPr>
              <a:t>A few days before the visit</a:t>
            </a:r>
            <a:endParaRPr lang="en-US" sz="800" dirty="0"/>
          </a:p>
        </p:txBody>
      </p:sp>
      <p:sp>
        <p:nvSpPr>
          <p:cNvPr id="28" name="Shape 26"/>
          <p:cNvSpPr/>
          <p:nvPr/>
        </p:nvSpPr>
        <p:spPr>
          <a:xfrm>
            <a:off x="2898648" y="3063240"/>
            <a:ext cx="2029968" cy="1188720"/>
          </a:xfrm>
          <a:prstGeom prst="roundRect">
            <a:avLst>
              <a:gd name="adj" fmla="val 6154"/>
            </a:avLst>
          </a:prstGeom>
          <a:solidFill>
            <a:srgbClr val="F6F1DD"/>
          </a:solidFill>
          <a:ln w="12700">
            <a:solidFill>
              <a:srgbClr val="042B2B"/>
            </a:solidFill>
            <a:prstDash val="solid"/>
          </a:ln>
        </p:spPr>
        <p:txBody>
          <a:bodyPr/>
          <a:lstStyle/>
          <a:p>
            <a:endParaRPr lang="en-US"/>
          </a:p>
        </p:txBody>
      </p:sp>
      <p:sp>
        <p:nvSpPr>
          <p:cNvPr id="29" name="Text 27"/>
          <p:cNvSpPr/>
          <p:nvPr/>
        </p:nvSpPr>
        <p:spPr>
          <a:xfrm>
            <a:off x="2990088" y="3136392"/>
            <a:ext cx="457200" cy="201168"/>
          </a:xfrm>
          <a:prstGeom prst="rect">
            <a:avLst/>
          </a:prstGeom>
          <a:noFill/>
          <a:ln/>
        </p:spPr>
        <p:txBody>
          <a:bodyPr wrap="square" lIns="0" tIns="0" rIns="0" bIns="0" rtlCol="0" anchor="ctr"/>
          <a:lstStyle/>
          <a:p>
            <a:pPr marL="0" indent="0">
              <a:buNone/>
            </a:pPr>
            <a:r>
              <a:rPr lang="en-US" sz="900" b="1" dirty="0">
                <a:solidFill>
                  <a:srgbClr val="5F5E5A"/>
                </a:solidFill>
                <a:latin typeface="Arial" pitchFamily="34" charset="0"/>
                <a:ea typeface="Arial" pitchFamily="34" charset="-122"/>
                <a:cs typeface="Arial" pitchFamily="34" charset="-120"/>
              </a:rPr>
              <a:t>7</a:t>
            </a:r>
            <a:endParaRPr lang="en-US" sz="900" dirty="0"/>
          </a:p>
        </p:txBody>
      </p:sp>
      <p:sp>
        <p:nvSpPr>
          <p:cNvPr id="30" name="Text 28"/>
          <p:cNvSpPr/>
          <p:nvPr/>
        </p:nvSpPr>
        <p:spPr>
          <a:xfrm>
            <a:off x="3017520" y="3319272"/>
            <a:ext cx="1792224" cy="502920"/>
          </a:xfrm>
          <a:prstGeom prst="rect">
            <a:avLst/>
          </a:prstGeom>
          <a:noFill/>
          <a:ln/>
        </p:spPr>
        <p:txBody>
          <a:bodyPr wrap="square" lIns="0" tIns="0" rIns="0" bIns="0" rtlCol="0" anchor="t"/>
          <a:lstStyle/>
          <a:p>
            <a:pPr marL="0" indent="0">
              <a:buNone/>
            </a:pPr>
            <a:r>
              <a:rPr lang="en-US" sz="1050" b="1" dirty="0">
                <a:solidFill>
                  <a:srgbClr val="042B2B"/>
                </a:solidFill>
                <a:latin typeface="Arial" pitchFamily="34" charset="0"/>
                <a:ea typeface="Arial" pitchFamily="34" charset="-122"/>
                <a:cs typeface="Arial" pitchFamily="34" charset="-120"/>
              </a:rPr>
              <a:t>Patient confirms</a:t>
            </a:r>
            <a:endParaRPr lang="en-US" sz="1050" dirty="0"/>
          </a:p>
        </p:txBody>
      </p:sp>
      <p:sp>
        <p:nvSpPr>
          <p:cNvPr id="31" name="Text 29"/>
          <p:cNvSpPr/>
          <p:nvPr/>
        </p:nvSpPr>
        <p:spPr>
          <a:xfrm>
            <a:off x="3017520" y="3840480"/>
            <a:ext cx="1792224" cy="365760"/>
          </a:xfrm>
          <a:prstGeom prst="rect">
            <a:avLst/>
          </a:prstGeom>
          <a:noFill/>
          <a:ln/>
        </p:spPr>
        <p:txBody>
          <a:bodyPr wrap="square" lIns="0" tIns="0" rIns="0" bIns="0" rtlCol="0" anchor="t"/>
          <a:lstStyle/>
          <a:p>
            <a:pPr marL="0" indent="0">
              <a:buNone/>
            </a:pPr>
            <a:r>
              <a:rPr lang="en-US" sz="800" dirty="0">
                <a:solidFill>
                  <a:srgbClr val="5F5E5A"/>
                </a:solidFill>
                <a:latin typeface="Arial" pitchFamily="34" charset="0"/>
                <a:ea typeface="Arial" pitchFamily="34" charset="-122"/>
                <a:cs typeface="Arial" pitchFamily="34" charset="-120"/>
              </a:rPr>
              <a:t>Logged automatically in the EMR</a:t>
            </a:r>
            <a:endParaRPr lang="en-US" sz="800" dirty="0"/>
          </a:p>
        </p:txBody>
      </p:sp>
      <p:sp>
        <p:nvSpPr>
          <p:cNvPr id="32" name="Shape 30"/>
          <p:cNvSpPr/>
          <p:nvPr/>
        </p:nvSpPr>
        <p:spPr>
          <a:xfrm>
            <a:off x="5111496" y="3063240"/>
            <a:ext cx="2029968" cy="1188720"/>
          </a:xfrm>
          <a:prstGeom prst="roundRect">
            <a:avLst>
              <a:gd name="adj" fmla="val 6154"/>
            </a:avLst>
          </a:prstGeom>
          <a:solidFill>
            <a:srgbClr val="042B2B"/>
          </a:solidFill>
          <a:ln/>
        </p:spPr>
        <p:txBody>
          <a:bodyPr/>
          <a:lstStyle/>
          <a:p>
            <a:endParaRPr lang="en-US"/>
          </a:p>
        </p:txBody>
      </p:sp>
      <p:sp>
        <p:nvSpPr>
          <p:cNvPr id="33" name="Text 31"/>
          <p:cNvSpPr/>
          <p:nvPr/>
        </p:nvSpPr>
        <p:spPr>
          <a:xfrm>
            <a:off x="5202936" y="3136392"/>
            <a:ext cx="457200" cy="201168"/>
          </a:xfrm>
          <a:prstGeom prst="rect">
            <a:avLst/>
          </a:prstGeom>
          <a:noFill/>
          <a:ln/>
        </p:spPr>
        <p:txBody>
          <a:bodyPr wrap="square" lIns="0" tIns="0" rIns="0" bIns="0" rtlCol="0" anchor="ctr"/>
          <a:lstStyle/>
          <a:p>
            <a:pPr marL="0" indent="0">
              <a:buNone/>
            </a:pPr>
            <a:r>
              <a:rPr lang="en-US" sz="900" b="1" dirty="0">
                <a:solidFill>
                  <a:srgbClr val="C9D6CE"/>
                </a:solidFill>
                <a:latin typeface="Arial" pitchFamily="34" charset="0"/>
                <a:ea typeface="Arial" pitchFamily="34" charset="-122"/>
                <a:cs typeface="Arial" pitchFamily="34" charset="-120"/>
              </a:rPr>
              <a:t>8</a:t>
            </a:r>
            <a:endParaRPr lang="en-US" sz="900" dirty="0"/>
          </a:p>
        </p:txBody>
      </p:sp>
      <p:sp>
        <p:nvSpPr>
          <p:cNvPr id="34" name="Text 32"/>
          <p:cNvSpPr/>
          <p:nvPr/>
        </p:nvSpPr>
        <p:spPr>
          <a:xfrm>
            <a:off x="5230368" y="3319272"/>
            <a:ext cx="1792224" cy="502920"/>
          </a:xfrm>
          <a:prstGeom prst="rect">
            <a:avLst/>
          </a:prstGeom>
          <a:noFill/>
          <a:ln/>
        </p:spPr>
        <p:txBody>
          <a:bodyPr wrap="square" lIns="0" tIns="0" rIns="0" bIns="0" rtlCol="0" anchor="t"/>
          <a:lstStyle/>
          <a:p>
            <a:pPr marL="0" indent="0">
              <a:buNone/>
            </a:pPr>
            <a:r>
              <a:rPr lang="en-US" sz="1050" b="1" dirty="0">
                <a:solidFill>
                  <a:srgbClr val="F6F1DD"/>
                </a:solidFill>
                <a:latin typeface="Arial" pitchFamily="34" charset="0"/>
                <a:ea typeface="Arial" pitchFamily="34" charset="-122"/>
                <a:cs typeface="Arial" pitchFamily="34" charset="-120"/>
              </a:rPr>
              <a:t>Reminder sent</a:t>
            </a:r>
            <a:endParaRPr lang="en-US" sz="1050" dirty="0"/>
          </a:p>
        </p:txBody>
      </p:sp>
      <p:sp>
        <p:nvSpPr>
          <p:cNvPr id="35" name="Text 33"/>
          <p:cNvSpPr/>
          <p:nvPr/>
        </p:nvSpPr>
        <p:spPr>
          <a:xfrm>
            <a:off x="5230368" y="3840480"/>
            <a:ext cx="1792224" cy="365760"/>
          </a:xfrm>
          <a:prstGeom prst="rect">
            <a:avLst/>
          </a:prstGeom>
          <a:noFill/>
          <a:ln/>
        </p:spPr>
        <p:txBody>
          <a:bodyPr wrap="square" lIns="0" tIns="0" rIns="0" bIns="0" rtlCol="0" anchor="t"/>
          <a:lstStyle/>
          <a:p>
            <a:pPr marL="0" indent="0">
              <a:buNone/>
            </a:pPr>
            <a:r>
              <a:rPr lang="en-US" sz="800" dirty="0">
                <a:solidFill>
                  <a:srgbClr val="C9D6CE"/>
                </a:solidFill>
                <a:latin typeface="Arial" pitchFamily="34" charset="0"/>
                <a:ea typeface="Arial" pitchFamily="34" charset="-122"/>
                <a:cs typeface="Arial" pitchFamily="34" charset="-120"/>
              </a:rPr>
              <a:t>The day before the visit</a:t>
            </a:r>
            <a:endParaRPr lang="en-US" sz="800" dirty="0"/>
          </a:p>
        </p:txBody>
      </p:sp>
      <p:sp>
        <p:nvSpPr>
          <p:cNvPr id="36" name="Shape 34"/>
          <p:cNvSpPr/>
          <p:nvPr/>
        </p:nvSpPr>
        <p:spPr>
          <a:xfrm>
            <a:off x="7324344" y="3063240"/>
            <a:ext cx="2029968" cy="1188720"/>
          </a:xfrm>
          <a:prstGeom prst="roundRect">
            <a:avLst>
              <a:gd name="adj" fmla="val 6154"/>
            </a:avLst>
          </a:prstGeom>
          <a:solidFill>
            <a:srgbClr val="042B2B"/>
          </a:solidFill>
          <a:ln/>
        </p:spPr>
        <p:txBody>
          <a:bodyPr/>
          <a:lstStyle/>
          <a:p>
            <a:endParaRPr lang="en-US"/>
          </a:p>
        </p:txBody>
      </p:sp>
      <p:sp>
        <p:nvSpPr>
          <p:cNvPr id="37" name="Text 35"/>
          <p:cNvSpPr/>
          <p:nvPr/>
        </p:nvSpPr>
        <p:spPr>
          <a:xfrm>
            <a:off x="7415784" y="3136392"/>
            <a:ext cx="457200" cy="201168"/>
          </a:xfrm>
          <a:prstGeom prst="rect">
            <a:avLst/>
          </a:prstGeom>
          <a:noFill/>
          <a:ln/>
        </p:spPr>
        <p:txBody>
          <a:bodyPr wrap="square" lIns="0" tIns="0" rIns="0" bIns="0" rtlCol="0" anchor="ctr"/>
          <a:lstStyle/>
          <a:p>
            <a:pPr marL="0" indent="0">
              <a:buNone/>
            </a:pPr>
            <a:r>
              <a:rPr lang="en-US" sz="900" b="1" dirty="0">
                <a:solidFill>
                  <a:srgbClr val="C9D6CE"/>
                </a:solidFill>
                <a:latin typeface="Arial" pitchFamily="34" charset="0"/>
                <a:ea typeface="Arial" pitchFamily="34" charset="-122"/>
                <a:cs typeface="Arial" pitchFamily="34" charset="-120"/>
              </a:rPr>
              <a:t>9</a:t>
            </a:r>
            <a:endParaRPr lang="en-US" sz="900" dirty="0"/>
          </a:p>
        </p:txBody>
      </p:sp>
      <p:sp>
        <p:nvSpPr>
          <p:cNvPr id="38" name="Text 36"/>
          <p:cNvSpPr/>
          <p:nvPr/>
        </p:nvSpPr>
        <p:spPr>
          <a:xfrm>
            <a:off x="7443216" y="3319272"/>
            <a:ext cx="1792224" cy="502920"/>
          </a:xfrm>
          <a:prstGeom prst="rect">
            <a:avLst/>
          </a:prstGeom>
          <a:noFill/>
          <a:ln/>
        </p:spPr>
        <p:txBody>
          <a:bodyPr wrap="square" lIns="0" tIns="0" rIns="0" bIns="0" rtlCol="0" anchor="t"/>
          <a:lstStyle/>
          <a:p>
            <a:pPr marL="0" indent="0">
              <a:buNone/>
            </a:pPr>
            <a:r>
              <a:rPr lang="en-US" sz="1050" b="1" dirty="0">
                <a:solidFill>
                  <a:srgbClr val="F6F1DD"/>
                </a:solidFill>
                <a:latin typeface="Arial" pitchFamily="34" charset="0"/>
                <a:ea typeface="Arial" pitchFamily="34" charset="-122"/>
                <a:cs typeface="Arial" pitchFamily="34" charset="-120"/>
              </a:rPr>
              <a:t>Eligibility re-checked</a:t>
            </a:r>
            <a:endParaRPr lang="en-US" sz="1050" dirty="0"/>
          </a:p>
        </p:txBody>
      </p:sp>
      <p:sp>
        <p:nvSpPr>
          <p:cNvPr id="39" name="Text 37"/>
          <p:cNvSpPr/>
          <p:nvPr/>
        </p:nvSpPr>
        <p:spPr>
          <a:xfrm>
            <a:off x="7443216" y="3840480"/>
            <a:ext cx="1792224" cy="365760"/>
          </a:xfrm>
          <a:prstGeom prst="rect">
            <a:avLst/>
          </a:prstGeom>
          <a:noFill/>
          <a:ln/>
        </p:spPr>
        <p:txBody>
          <a:bodyPr wrap="square" lIns="0" tIns="0" rIns="0" bIns="0" rtlCol="0" anchor="t"/>
          <a:lstStyle/>
          <a:p>
            <a:pPr marL="0" indent="0">
              <a:buNone/>
            </a:pPr>
            <a:r>
              <a:rPr lang="en-US" sz="800" dirty="0">
                <a:solidFill>
                  <a:srgbClr val="C9D6CE"/>
                </a:solidFill>
                <a:latin typeface="Arial" pitchFamily="34" charset="0"/>
                <a:ea typeface="Arial" pitchFamily="34" charset="-122"/>
                <a:cs typeface="Arial" pitchFamily="34" charset="-120"/>
              </a:rPr>
              <a:t>Day of visit, catches late changes</a:t>
            </a:r>
            <a:endParaRPr lang="en-US" sz="800" dirty="0"/>
          </a:p>
        </p:txBody>
      </p:sp>
      <p:sp>
        <p:nvSpPr>
          <p:cNvPr id="40" name="Shape 38"/>
          <p:cNvSpPr/>
          <p:nvPr/>
        </p:nvSpPr>
        <p:spPr>
          <a:xfrm>
            <a:off x="9537192" y="3063240"/>
            <a:ext cx="2029968" cy="1188720"/>
          </a:xfrm>
          <a:prstGeom prst="roundRect">
            <a:avLst>
              <a:gd name="adj" fmla="val 6154"/>
            </a:avLst>
          </a:prstGeom>
          <a:solidFill>
            <a:srgbClr val="042B2B"/>
          </a:solidFill>
          <a:ln/>
        </p:spPr>
        <p:txBody>
          <a:bodyPr/>
          <a:lstStyle/>
          <a:p>
            <a:endParaRPr lang="en-US"/>
          </a:p>
        </p:txBody>
      </p:sp>
      <p:sp>
        <p:nvSpPr>
          <p:cNvPr id="41" name="Text 39"/>
          <p:cNvSpPr/>
          <p:nvPr/>
        </p:nvSpPr>
        <p:spPr>
          <a:xfrm>
            <a:off x="9628632" y="3136392"/>
            <a:ext cx="457200" cy="201168"/>
          </a:xfrm>
          <a:prstGeom prst="rect">
            <a:avLst/>
          </a:prstGeom>
          <a:noFill/>
          <a:ln/>
        </p:spPr>
        <p:txBody>
          <a:bodyPr wrap="square" lIns="0" tIns="0" rIns="0" bIns="0" rtlCol="0" anchor="ctr"/>
          <a:lstStyle/>
          <a:p>
            <a:pPr marL="0" indent="0">
              <a:buNone/>
            </a:pPr>
            <a:r>
              <a:rPr lang="en-US" sz="900" b="1" dirty="0">
                <a:solidFill>
                  <a:srgbClr val="C9D6CE"/>
                </a:solidFill>
                <a:latin typeface="Arial" pitchFamily="34" charset="0"/>
                <a:ea typeface="Arial" pitchFamily="34" charset="-122"/>
                <a:cs typeface="Arial" pitchFamily="34" charset="-120"/>
              </a:rPr>
              <a:t>10</a:t>
            </a:r>
            <a:endParaRPr lang="en-US" sz="900" dirty="0"/>
          </a:p>
        </p:txBody>
      </p:sp>
      <p:sp>
        <p:nvSpPr>
          <p:cNvPr id="42" name="Text 40"/>
          <p:cNvSpPr/>
          <p:nvPr/>
        </p:nvSpPr>
        <p:spPr>
          <a:xfrm>
            <a:off x="9656064" y="3319272"/>
            <a:ext cx="1792224" cy="502920"/>
          </a:xfrm>
          <a:prstGeom prst="rect">
            <a:avLst/>
          </a:prstGeom>
          <a:noFill/>
          <a:ln/>
        </p:spPr>
        <p:txBody>
          <a:bodyPr wrap="square" lIns="0" tIns="0" rIns="0" bIns="0" rtlCol="0" anchor="t"/>
          <a:lstStyle/>
          <a:p>
            <a:pPr marL="0" indent="0">
              <a:buNone/>
            </a:pPr>
            <a:r>
              <a:rPr lang="en-US" sz="1050" b="1" dirty="0">
                <a:solidFill>
                  <a:srgbClr val="F6F1DD"/>
                </a:solidFill>
                <a:latin typeface="Arial" pitchFamily="34" charset="0"/>
                <a:ea typeface="Arial" pitchFamily="34" charset="-122"/>
                <a:cs typeface="Arial" pitchFamily="34" charset="-120"/>
              </a:rPr>
              <a:t>Follow-up sent</a:t>
            </a:r>
            <a:endParaRPr lang="en-US" sz="1050" dirty="0"/>
          </a:p>
        </p:txBody>
      </p:sp>
      <p:sp>
        <p:nvSpPr>
          <p:cNvPr id="43" name="Text 41"/>
          <p:cNvSpPr/>
          <p:nvPr/>
        </p:nvSpPr>
        <p:spPr>
          <a:xfrm>
            <a:off x="9656064" y="3840480"/>
            <a:ext cx="1792224" cy="365760"/>
          </a:xfrm>
          <a:prstGeom prst="rect">
            <a:avLst/>
          </a:prstGeom>
          <a:noFill/>
          <a:ln/>
        </p:spPr>
        <p:txBody>
          <a:bodyPr wrap="square" lIns="0" tIns="0" rIns="0" bIns="0" rtlCol="0" anchor="t"/>
          <a:lstStyle/>
          <a:p>
            <a:pPr marL="0" indent="0">
              <a:buNone/>
            </a:pPr>
            <a:r>
              <a:rPr lang="en-US" sz="800" dirty="0">
                <a:solidFill>
                  <a:srgbClr val="C9D6CE"/>
                </a:solidFill>
                <a:latin typeface="Arial" pitchFamily="34" charset="0"/>
                <a:ea typeface="Arial" pitchFamily="34" charset="-122"/>
                <a:cs typeface="Arial" pitchFamily="34" charset="-120"/>
              </a:rPr>
              <a:t>After the visit</a:t>
            </a:r>
            <a:endParaRPr lang="en-US" sz="800" dirty="0"/>
          </a:p>
        </p:txBody>
      </p:sp>
      <p:sp>
        <p:nvSpPr>
          <p:cNvPr id="44" name="Shape 42"/>
          <p:cNvSpPr/>
          <p:nvPr/>
        </p:nvSpPr>
        <p:spPr>
          <a:xfrm>
            <a:off x="2715768" y="1965960"/>
            <a:ext cx="182880" cy="0"/>
          </a:xfrm>
          <a:prstGeom prst="line">
            <a:avLst/>
          </a:prstGeom>
          <a:noFill/>
          <a:ln w="15875">
            <a:solidFill>
              <a:srgbClr val="042B2B"/>
            </a:solidFill>
            <a:prstDash val="solid"/>
            <a:tailEnd type="triangle"/>
          </a:ln>
        </p:spPr>
        <p:txBody>
          <a:bodyPr/>
          <a:lstStyle/>
          <a:p>
            <a:endParaRPr lang="en-US"/>
          </a:p>
        </p:txBody>
      </p:sp>
      <p:sp>
        <p:nvSpPr>
          <p:cNvPr id="45" name="Shape 43"/>
          <p:cNvSpPr/>
          <p:nvPr/>
        </p:nvSpPr>
        <p:spPr>
          <a:xfrm>
            <a:off x="4928616" y="1965960"/>
            <a:ext cx="182880" cy="0"/>
          </a:xfrm>
          <a:prstGeom prst="line">
            <a:avLst/>
          </a:prstGeom>
          <a:noFill/>
          <a:ln w="15875">
            <a:solidFill>
              <a:srgbClr val="042B2B"/>
            </a:solidFill>
            <a:prstDash val="solid"/>
            <a:tailEnd type="triangle"/>
          </a:ln>
        </p:spPr>
        <p:txBody>
          <a:bodyPr/>
          <a:lstStyle/>
          <a:p>
            <a:endParaRPr lang="en-US"/>
          </a:p>
        </p:txBody>
      </p:sp>
      <p:sp>
        <p:nvSpPr>
          <p:cNvPr id="46" name="Shape 44"/>
          <p:cNvSpPr/>
          <p:nvPr/>
        </p:nvSpPr>
        <p:spPr>
          <a:xfrm>
            <a:off x="7141464" y="1965960"/>
            <a:ext cx="182880" cy="0"/>
          </a:xfrm>
          <a:prstGeom prst="line">
            <a:avLst/>
          </a:prstGeom>
          <a:noFill/>
          <a:ln w="15875">
            <a:solidFill>
              <a:srgbClr val="042B2B"/>
            </a:solidFill>
            <a:prstDash val="solid"/>
            <a:tailEnd type="triangle"/>
          </a:ln>
        </p:spPr>
        <p:txBody>
          <a:bodyPr/>
          <a:lstStyle/>
          <a:p>
            <a:endParaRPr lang="en-US"/>
          </a:p>
        </p:txBody>
      </p:sp>
      <p:sp>
        <p:nvSpPr>
          <p:cNvPr id="47" name="Shape 45"/>
          <p:cNvSpPr/>
          <p:nvPr/>
        </p:nvSpPr>
        <p:spPr>
          <a:xfrm>
            <a:off x="9354312" y="1965960"/>
            <a:ext cx="182880" cy="0"/>
          </a:xfrm>
          <a:prstGeom prst="line">
            <a:avLst/>
          </a:prstGeom>
          <a:noFill/>
          <a:ln w="15875">
            <a:solidFill>
              <a:srgbClr val="042B2B"/>
            </a:solidFill>
            <a:prstDash val="solid"/>
            <a:tailEnd type="triangle"/>
          </a:ln>
        </p:spPr>
        <p:txBody>
          <a:bodyPr/>
          <a:lstStyle/>
          <a:p>
            <a:endParaRPr lang="en-US"/>
          </a:p>
        </p:txBody>
      </p:sp>
      <p:sp>
        <p:nvSpPr>
          <p:cNvPr id="48" name="Shape 46"/>
          <p:cNvSpPr/>
          <p:nvPr/>
        </p:nvSpPr>
        <p:spPr>
          <a:xfrm>
            <a:off x="2715768" y="3657600"/>
            <a:ext cx="182880" cy="0"/>
          </a:xfrm>
          <a:prstGeom prst="line">
            <a:avLst/>
          </a:prstGeom>
          <a:noFill/>
          <a:ln w="15875">
            <a:solidFill>
              <a:srgbClr val="042B2B"/>
            </a:solidFill>
            <a:prstDash val="solid"/>
            <a:tailEnd type="triangle"/>
          </a:ln>
        </p:spPr>
        <p:txBody>
          <a:bodyPr/>
          <a:lstStyle/>
          <a:p>
            <a:endParaRPr lang="en-US"/>
          </a:p>
        </p:txBody>
      </p:sp>
      <p:sp>
        <p:nvSpPr>
          <p:cNvPr id="49" name="Shape 47"/>
          <p:cNvSpPr/>
          <p:nvPr/>
        </p:nvSpPr>
        <p:spPr>
          <a:xfrm>
            <a:off x="4928616" y="3657600"/>
            <a:ext cx="182880" cy="0"/>
          </a:xfrm>
          <a:prstGeom prst="line">
            <a:avLst/>
          </a:prstGeom>
          <a:noFill/>
          <a:ln w="15875">
            <a:solidFill>
              <a:srgbClr val="042B2B"/>
            </a:solidFill>
            <a:prstDash val="solid"/>
            <a:tailEnd type="triangle"/>
          </a:ln>
        </p:spPr>
        <p:txBody>
          <a:bodyPr/>
          <a:lstStyle/>
          <a:p>
            <a:endParaRPr lang="en-US"/>
          </a:p>
        </p:txBody>
      </p:sp>
      <p:sp>
        <p:nvSpPr>
          <p:cNvPr id="50" name="Shape 48"/>
          <p:cNvSpPr/>
          <p:nvPr/>
        </p:nvSpPr>
        <p:spPr>
          <a:xfrm>
            <a:off x="7141464" y="3657600"/>
            <a:ext cx="182880" cy="0"/>
          </a:xfrm>
          <a:prstGeom prst="line">
            <a:avLst/>
          </a:prstGeom>
          <a:noFill/>
          <a:ln w="15875">
            <a:solidFill>
              <a:srgbClr val="042B2B"/>
            </a:solidFill>
            <a:prstDash val="solid"/>
            <a:tailEnd type="triangle"/>
          </a:ln>
        </p:spPr>
        <p:txBody>
          <a:bodyPr/>
          <a:lstStyle/>
          <a:p>
            <a:endParaRPr lang="en-US"/>
          </a:p>
        </p:txBody>
      </p:sp>
      <p:sp>
        <p:nvSpPr>
          <p:cNvPr id="51" name="Shape 49"/>
          <p:cNvSpPr/>
          <p:nvPr/>
        </p:nvSpPr>
        <p:spPr>
          <a:xfrm>
            <a:off x="9354312" y="3657600"/>
            <a:ext cx="182880" cy="0"/>
          </a:xfrm>
          <a:prstGeom prst="line">
            <a:avLst/>
          </a:prstGeom>
          <a:noFill/>
          <a:ln w="15875">
            <a:solidFill>
              <a:srgbClr val="042B2B"/>
            </a:solidFill>
            <a:prstDash val="solid"/>
            <a:tailEnd type="triangle"/>
          </a:ln>
        </p:spPr>
        <p:txBody>
          <a:bodyPr/>
          <a:lstStyle/>
          <a:p>
            <a:endParaRPr lang="en-US"/>
          </a:p>
        </p:txBody>
      </p:sp>
      <p:sp>
        <p:nvSpPr>
          <p:cNvPr id="52" name="Shape 50"/>
          <p:cNvSpPr/>
          <p:nvPr/>
        </p:nvSpPr>
        <p:spPr>
          <a:xfrm>
            <a:off x="10552176" y="2560320"/>
            <a:ext cx="0" cy="251460"/>
          </a:xfrm>
          <a:prstGeom prst="line">
            <a:avLst/>
          </a:prstGeom>
          <a:noFill/>
          <a:ln w="15875">
            <a:solidFill>
              <a:srgbClr val="042B2B"/>
            </a:solidFill>
            <a:prstDash val="solid"/>
          </a:ln>
        </p:spPr>
        <p:txBody>
          <a:bodyPr/>
          <a:lstStyle/>
          <a:p>
            <a:endParaRPr lang="en-US"/>
          </a:p>
        </p:txBody>
      </p:sp>
      <p:sp>
        <p:nvSpPr>
          <p:cNvPr id="53" name="Shape 51"/>
          <p:cNvSpPr/>
          <p:nvPr/>
        </p:nvSpPr>
        <p:spPr>
          <a:xfrm>
            <a:off x="1700784" y="2811780"/>
            <a:ext cx="8851392" cy="0"/>
          </a:xfrm>
          <a:prstGeom prst="line">
            <a:avLst/>
          </a:prstGeom>
          <a:noFill/>
          <a:ln w="15875">
            <a:solidFill>
              <a:srgbClr val="042B2B"/>
            </a:solidFill>
            <a:prstDash val="solid"/>
          </a:ln>
        </p:spPr>
        <p:txBody>
          <a:bodyPr/>
          <a:lstStyle/>
          <a:p>
            <a:endParaRPr lang="en-US"/>
          </a:p>
        </p:txBody>
      </p:sp>
      <p:sp>
        <p:nvSpPr>
          <p:cNvPr id="54" name="Shape 52"/>
          <p:cNvSpPr/>
          <p:nvPr/>
        </p:nvSpPr>
        <p:spPr>
          <a:xfrm>
            <a:off x="1700784" y="2811780"/>
            <a:ext cx="0" cy="251460"/>
          </a:xfrm>
          <a:prstGeom prst="line">
            <a:avLst/>
          </a:prstGeom>
          <a:noFill/>
          <a:ln w="15875">
            <a:solidFill>
              <a:srgbClr val="042B2B"/>
            </a:solidFill>
            <a:prstDash val="solid"/>
            <a:tailEnd type="triangle"/>
          </a:ln>
        </p:spPr>
        <p:txBody>
          <a:bodyPr/>
          <a:lstStyle/>
          <a:p>
            <a:endParaRPr lang="en-US"/>
          </a:p>
        </p:txBody>
      </p:sp>
      <p:sp>
        <p:nvSpPr>
          <p:cNvPr id="55" name="Shape 53"/>
          <p:cNvSpPr/>
          <p:nvPr/>
        </p:nvSpPr>
        <p:spPr>
          <a:xfrm>
            <a:off x="3261208" y="4526280"/>
            <a:ext cx="5669280" cy="594360"/>
          </a:xfrm>
          <a:prstGeom prst="roundRect">
            <a:avLst>
              <a:gd name="adj" fmla="val 15385"/>
            </a:avLst>
          </a:prstGeom>
          <a:solidFill>
            <a:srgbClr val="E1E9E4"/>
          </a:solidFill>
          <a:ln/>
        </p:spPr>
        <p:txBody>
          <a:bodyPr/>
          <a:lstStyle/>
          <a:p>
            <a:endParaRPr lang="en-US"/>
          </a:p>
        </p:txBody>
      </p:sp>
      <p:sp>
        <p:nvSpPr>
          <p:cNvPr id="56" name="Text 54"/>
          <p:cNvSpPr/>
          <p:nvPr/>
        </p:nvSpPr>
        <p:spPr>
          <a:xfrm>
            <a:off x="3261208" y="4526280"/>
            <a:ext cx="5669280" cy="594360"/>
          </a:xfrm>
          <a:prstGeom prst="rect">
            <a:avLst/>
          </a:prstGeom>
          <a:noFill/>
          <a:ln/>
        </p:spPr>
        <p:txBody>
          <a:bodyPr wrap="square" lIns="0" tIns="0" rIns="0" bIns="0" rtlCol="0" anchor="ctr"/>
          <a:lstStyle/>
          <a:p>
            <a:pPr marL="0" indent="0" algn="ctr">
              <a:buNone/>
            </a:pPr>
            <a:r>
              <a:rPr lang="en-US" sz="1500" b="1" dirty="0">
                <a:solidFill>
                  <a:srgbClr val="042B2B"/>
                </a:solidFill>
                <a:latin typeface="Arial" pitchFamily="34" charset="0"/>
                <a:ea typeface="Arial" pitchFamily="34" charset="-122"/>
                <a:cs typeface="Arial" pitchFamily="34" charset="-120"/>
              </a:rPr>
              <a:t>Steps </a:t>
            </a:r>
            <a:r>
              <a:rPr lang="en-US" sz="1500" dirty="0">
                <a:solidFill>
                  <a:srgbClr val="042B2B"/>
                </a:solidFill>
                <a:latin typeface="Arial" pitchFamily="34" charset="0"/>
                <a:ea typeface="Arial" pitchFamily="34" charset="-122"/>
                <a:cs typeface="Arial" pitchFamily="34" charset="-120"/>
              </a:rPr>
              <a:t>shown here as automated, staff-reviewed, or patient actions</a:t>
            </a:r>
            <a:endParaRPr lang="en-US" sz="1500" dirty="0"/>
          </a:p>
        </p:txBody>
      </p:sp>
      <p:sp>
        <p:nvSpPr>
          <p:cNvPr id="57" name="Shape 55"/>
          <p:cNvSpPr/>
          <p:nvPr/>
        </p:nvSpPr>
        <p:spPr>
          <a:xfrm>
            <a:off x="3649828" y="5458968"/>
            <a:ext cx="201168" cy="201168"/>
          </a:xfrm>
          <a:prstGeom prst="roundRect">
            <a:avLst>
              <a:gd name="adj" fmla="val 18182"/>
            </a:avLst>
          </a:prstGeom>
          <a:solidFill>
            <a:srgbClr val="042B2B"/>
          </a:solidFill>
          <a:ln/>
        </p:spPr>
        <p:txBody>
          <a:bodyPr/>
          <a:lstStyle/>
          <a:p>
            <a:endParaRPr lang="en-US"/>
          </a:p>
        </p:txBody>
      </p:sp>
      <p:sp>
        <p:nvSpPr>
          <p:cNvPr id="58" name="Text 56"/>
          <p:cNvSpPr/>
          <p:nvPr/>
        </p:nvSpPr>
        <p:spPr>
          <a:xfrm>
            <a:off x="3942436" y="5413248"/>
            <a:ext cx="1051560" cy="274320"/>
          </a:xfrm>
          <a:prstGeom prst="rect">
            <a:avLst/>
          </a:prstGeom>
          <a:noFill/>
          <a:ln/>
        </p:spPr>
        <p:txBody>
          <a:bodyPr wrap="square" lIns="0" tIns="0" rIns="0" bIns="0" rtlCol="0" anchor="ctr"/>
          <a:lstStyle/>
          <a:p>
            <a:pPr marL="0" indent="0">
              <a:buNone/>
            </a:pPr>
            <a:r>
              <a:rPr lang="en-US" sz="1100" dirty="0">
                <a:solidFill>
                  <a:srgbClr val="042B2B"/>
                </a:solidFill>
                <a:latin typeface="Arial" pitchFamily="34" charset="0"/>
                <a:ea typeface="Arial" pitchFamily="34" charset="-122"/>
                <a:cs typeface="Arial" pitchFamily="34" charset="-120"/>
              </a:rPr>
              <a:t>Automated</a:t>
            </a:r>
            <a:endParaRPr lang="en-US" sz="1100" dirty="0"/>
          </a:p>
        </p:txBody>
      </p:sp>
      <p:sp>
        <p:nvSpPr>
          <p:cNvPr id="59" name="Shape 57"/>
          <p:cNvSpPr/>
          <p:nvPr/>
        </p:nvSpPr>
        <p:spPr>
          <a:xfrm>
            <a:off x="5195164" y="5458968"/>
            <a:ext cx="201168" cy="201168"/>
          </a:xfrm>
          <a:prstGeom prst="roundRect">
            <a:avLst>
              <a:gd name="adj" fmla="val 18182"/>
            </a:avLst>
          </a:prstGeom>
          <a:solidFill>
            <a:srgbClr val="DBAA47"/>
          </a:solidFill>
          <a:ln/>
        </p:spPr>
        <p:txBody>
          <a:bodyPr/>
          <a:lstStyle/>
          <a:p>
            <a:endParaRPr lang="en-US"/>
          </a:p>
        </p:txBody>
      </p:sp>
      <p:sp>
        <p:nvSpPr>
          <p:cNvPr id="60" name="Text 58"/>
          <p:cNvSpPr/>
          <p:nvPr/>
        </p:nvSpPr>
        <p:spPr>
          <a:xfrm>
            <a:off x="5487772" y="5413248"/>
            <a:ext cx="1188720" cy="274320"/>
          </a:xfrm>
          <a:prstGeom prst="rect">
            <a:avLst/>
          </a:prstGeom>
          <a:noFill/>
          <a:ln/>
        </p:spPr>
        <p:txBody>
          <a:bodyPr wrap="square" lIns="0" tIns="0" rIns="0" bIns="0" rtlCol="0" anchor="ctr"/>
          <a:lstStyle/>
          <a:p>
            <a:pPr marL="0" indent="0">
              <a:buNone/>
            </a:pPr>
            <a:r>
              <a:rPr lang="en-US" sz="1100" dirty="0">
                <a:solidFill>
                  <a:srgbClr val="042B2B"/>
                </a:solidFill>
                <a:latin typeface="Arial" pitchFamily="34" charset="0"/>
                <a:ea typeface="Arial" pitchFamily="34" charset="-122"/>
                <a:cs typeface="Arial" pitchFamily="34" charset="-120"/>
              </a:rPr>
              <a:t>Staff review</a:t>
            </a:r>
            <a:endParaRPr lang="en-US" sz="1100" dirty="0"/>
          </a:p>
        </p:txBody>
      </p:sp>
      <p:sp>
        <p:nvSpPr>
          <p:cNvPr id="61" name="Shape 59"/>
          <p:cNvSpPr/>
          <p:nvPr/>
        </p:nvSpPr>
        <p:spPr>
          <a:xfrm>
            <a:off x="6877660" y="5458968"/>
            <a:ext cx="201168" cy="201168"/>
          </a:xfrm>
          <a:prstGeom prst="roundRect">
            <a:avLst>
              <a:gd name="adj" fmla="val 18182"/>
            </a:avLst>
          </a:prstGeom>
          <a:solidFill>
            <a:srgbClr val="F6F1DD"/>
          </a:solidFill>
          <a:ln w="12700">
            <a:solidFill>
              <a:srgbClr val="042B2B"/>
            </a:solidFill>
            <a:prstDash val="solid"/>
          </a:ln>
        </p:spPr>
        <p:txBody>
          <a:bodyPr/>
          <a:lstStyle/>
          <a:p>
            <a:endParaRPr lang="en-US"/>
          </a:p>
        </p:txBody>
      </p:sp>
      <p:sp>
        <p:nvSpPr>
          <p:cNvPr id="62" name="Text 60"/>
          <p:cNvSpPr/>
          <p:nvPr/>
        </p:nvSpPr>
        <p:spPr>
          <a:xfrm>
            <a:off x="7170268" y="5413248"/>
            <a:ext cx="1371600" cy="274320"/>
          </a:xfrm>
          <a:prstGeom prst="rect">
            <a:avLst/>
          </a:prstGeom>
          <a:noFill/>
          <a:ln/>
        </p:spPr>
        <p:txBody>
          <a:bodyPr wrap="square" lIns="0" tIns="0" rIns="0" bIns="0" rtlCol="0" anchor="ctr"/>
          <a:lstStyle/>
          <a:p>
            <a:pPr marL="0" indent="0">
              <a:buNone/>
            </a:pPr>
            <a:r>
              <a:rPr lang="en-US" sz="1100" dirty="0">
                <a:solidFill>
                  <a:srgbClr val="042B2B"/>
                </a:solidFill>
                <a:latin typeface="Arial" pitchFamily="34" charset="0"/>
                <a:ea typeface="Arial" pitchFamily="34" charset="-122"/>
                <a:cs typeface="Arial" pitchFamily="34" charset="-120"/>
              </a:rPr>
              <a:t>Patient action</a:t>
            </a:r>
            <a:endParaRPr lang="en-US" sz="1100" dirty="0"/>
          </a:p>
        </p:txBody>
      </p:sp>
      <p:sp>
        <p:nvSpPr>
          <p:cNvPr id="63" name="Text 61"/>
          <p:cNvSpPr/>
          <p:nvPr/>
        </p:nvSpPr>
        <p:spPr>
          <a:xfrm>
            <a:off x="7772400" y="6446520"/>
            <a:ext cx="3959352" cy="274320"/>
          </a:xfrm>
          <a:prstGeom prst="rect">
            <a:avLst/>
          </a:prstGeom>
          <a:noFill/>
          <a:ln/>
        </p:spPr>
        <p:txBody>
          <a:bodyPr wrap="square" lIns="0" tIns="0" rIns="0" bIns="0" rtlCol="0" anchor="ctr"/>
          <a:lstStyle/>
          <a:p>
            <a:pPr marL="0" indent="0" algn="r">
              <a:buNone/>
            </a:pPr>
            <a:r>
              <a:rPr lang="en-US" sz="900" dirty="0">
                <a:solidFill>
                  <a:srgbClr val="5F5E5A"/>
                </a:solidFill>
                <a:latin typeface="Arial" pitchFamily="34" charset="0"/>
                <a:ea typeface="Arial" pitchFamily="34" charset="-122"/>
                <a:cs typeface="Arial" pitchFamily="34" charset="-120"/>
              </a:rPr>
              <a:t>Halo Holdings  •  Confidential — for discussion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868680" cy="868680"/>
          </a:xfrm>
          <a:prstGeom prst="ellipse">
            <a:avLst/>
          </a:prstGeom>
          <a:solidFill>
            <a:srgbClr val="042B2B"/>
          </a:solidFill>
          <a:ln/>
        </p:spPr>
        <p:txBody>
          <a:bodyPr/>
          <a:lstStyle/>
          <a:p>
            <a:endParaRPr lang="en-US"/>
          </a:p>
        </p:txBody>
      </p:sp>
      <p:pic>
        <p:nvPicPr>
          <p:cNvPr id="3" name="Image 0" descr="/home/claude/pptxgen/icons/headset.png"/>
          <p:cNvPicPr>
            <a:picLocks noChangeAspect="1"/>
          </p:cNvPicPr>
          <p:nvPr/>
        </p:nvPicPr>
        <p:blipFill>
          <a:blip r:embed="rId3"/>
          <a:stretch>
            <a:fillRect/>
          </a:stretch>
        </p:blipFill>
        <p:spPr>
          <a:xfrm>
            <a:off x="841248" y="704088"/>
            <a:ext cx="466344" cy="466344"/>
          </a:xfrm>
          <a:prstGeom prst="rect">
            <a:avLst/>
          </a:prstGeom>
        </p:spPr>
      </p:pic>
      <p:sp>
        <p:nvSpPr>
          <p:cNvPr id="4" name="Text 1"/>
          <p:cNvSpPr/>
          <p:nvPr/>
        </p:nvSpPr>
        <p:spPr>
          <a:xfrm>
            <a:off x="1737360" y="457200"/>
            <a:ext cx="9601200" cy="548640"/>
          </a:xfrm>
          <a:prstGeom prst="rect">
            <a:avLst/>
          </a:prstGeom>
          <a:noFill/>
          <a:ln/>
        </p:spPr>
        <p:txBody>
          <a:bodyPr wrap="square" rtlCol="0" anchor="ctr"/>
          <a:lstStyle/>
          <a:p>
            <a:pPr marL="0" indent="0">
              <a:buNone/>
            </a:pPr>
            <a:r>
              <a:rPr lang="en-US" sz="2800" b="1" dirty="0">
                <a:solidFill>
                  <a:srgbClr val="1B2B2E"/>
                </a:solidFill>
                <a:latin typeface="Cambria" pitchFamily="34" charset="0"/>
                <a:ea typeface="Cambria" pitchFamily="34" charset="-122"/>
                <a:cs typeface="Cambria" pitchFamily="34" charset="-120"/>
              </a:rPr>
              <a:t>We configure, monitor, and support the pilot</a:t>
            </a:r>
            <a:endParaRPr lang="en-US" sz="2800" dirty="0"/>
          </a:p>
        </p:txBody>
      </p:sp>
      <p:sp>
        <p:nvSpPr>
          <p:cNvPr id="5" name="Text 2"/>
          <p:cNvSpPr/>
          <p:nvPr/>
        </p:nvSpPr>
        <p:spPr>
          <a:xfrm>
            <a:off x="1737360" y="987552"/>
            <a:ext cx="9601200" cy="457200"/>
          </a:xfrm>
          <a:prstGeom prst="rect">
            <a:avLst/>
          </a:prstGeom>
          <a:noFill/>
          <a:ln/>
        </p:spPr>
        <p:txBody>
          <a:bodyPr wrap="square" rtlCol="0" anchor="ctr"/>
          <a:lstStyle/>
          <a:p>
            <a:pPr marL="0" indent="0">
              <a:buNone/>
            </a:pPr>
            <a:r>
              <a:rPr lang="en-US" sz="1500" dirty="0">
                <a:solidFill>
                  <a:srgbClr val="6E6857"/>
                </a:solidFill>
                <a:latin typeface="Calibri" pitchFamily="34" charset="0"/>
                <a:ea typeface="Calibri" pitchFamily="34" charset="-122"/>
                <a:cs typeface="Calibri" pitchFamily="34" charset="-120"/>
              </a:rPr>
              <a:t>Five stages, from discovery through expansion to the next Phase 1 workflow.</a:t>
            </a:r>
            <a:endParaRPr lang="en-US" sz="1500" dirty="0"/>
          </a:p>
        </p:txBody>
      </p:sp>
      <p:sp>
        <p:nvSpPr>
          <p:cNvPr id="100" name="Card0Bg"/>
          <p:cNvSpPr/>
          <p:nvPr/>
        </p:nvSpPr>
        <p:spPr>
          <a:xfrm>
            <a:off x="640080" y="2103120"/>
            <a:ext cx="1883664" cy="2834640"/>
          </a:xfrm>
          <a:prstGeom prst="roundRect">
            <a:avLst>
              <a:gd name="adj" fmla="val 5263"/>
            </a:avLst>
          </a:prstGeom>
          <a:solidFill>
            <a:srgbClr val="F6F1DD"/>
          </a:solidFill>
          <a:ln w="12700">
            <a:solidFill>
              <a:srgbClr val="E6DDBE"/>
            </a:solidFill>
            <a:prstDash val="solid"/>
          </a:ln>
        </p:spPr>
        <p:txBody>
          <a:bodyPr/>
          <a:lstStyle/>
          <a:p>
            <a:endParaRPr lang="en-US"/>
          </a:p>
        </p:txBody>
      </p:sp>
      <p:sp>
        <p:nvSpPr>
          <p:cNvPr id="101" name="Card0Badge"/>
          <p:cNvSpPr/>
          <p:nvPr/>
        </p:nvSpPr>
        <p:spPr>
          <a:xfrm>
            <a:off x="1353312" y="2377440"/>
            <a:ext cx="457200" cy="457200"/>
          </a:xfrm>
          <a:prstGeom prst="ellipse">
            <a:avLst/>
          </a:prstGeom>
          <a:solidFill>
            <a:srgbClr val="1E5A50"/>
          </a:solidFill>
          <a:ln/>
        </p:spPr>
        <p:txBody>
          <a:bodyPr/>
          <a:lstStyle/>
          <a:p>
            <a:endParaRPr lang="en-US"/>
          </a:p>
        </p:txBody>
      </p:sp>
      <p:sp>
        <p:nvSpPr>
          <p:cNvPr id="102" name="Card0Num"/>
          <p:cNvSpPr/>
          <p:nvPr/>
        </p:nvSpPr>
        <p:spPr>
          <a:xfrm>
            <a:off x="1353312" y="2377440"/>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rPr>
              <a:t>1</a:t>
            </a:r>
          </a:p>
        </p:txBody>
      </p:sp>
      <p:sp>
        <p:nvSpPr>
          <p:cNvPr id="103" name="Card0Title"/>
          <p:cNvSpPr/>
          <p:nvPr/>
        </p:nvSpPr>
        <p:spPr>
          <a:xfrm>
            <a:off x="731520" y="3063240"/>
            <a:ext cx="1700784" cy="548640"/>
          </a:xfrm>
          <a:prstGeom prst="rect">
            <a:avLst/>
          </a:prstGeom>
          <a:noFill/>
          <a:ln/>
        </p:spPr>
        <p:txBody>
          <a:bodyPr wrap="square" rtlCol="0" anchor="ctr"/>
          <a:lstStyle/>
          <a:p>
            <a:pPr marL="0" indent="0">
              <a:lnSpc>
                <a:spcPct val="110000"/>
              </a:lnSpc>
              <a:buNone/>
            </a:pPr>
            <a:r>
              <a:rPr lang="en-US" sz="1300" b="1" dirty="0">
                <a:solidFill>
                  <a:srgbClr val="0B3B36"/>
                </a:solidFill>
                <a:latin typeface="Cambria" pitchFamily="34" charset="0"/>
              </a:rPr>
              <a:t>Discover &amp; configure</a:t>
            </a:r>
          </a:p>
        </p:txBody>
      </p:sp>
      <p:sp>
        <p:nvSpPr>
          <p:cNvPr id="104" name="Card0Body"/>
          <p:cNvSpPr/>
          <p:nvPr/>
        </p:nvSpPr>
        <p:spPr>
          <a:xfrm>
            <a:off x="731520" y="3703320"/>
            <a:ext cx="1700784" cy="1143000"/>
          </a:xfrm>
          <a:prstGeom prst="rect">
            <a:avLst/>
          </a:prstGeom>
          <a:noFill/>
          <a:ln/>
        </p:spPr>
        <p:txBody>
          <a:bodyPr wrap="square" rtlCol="0" anchor="t"/>
          <a:lstStyle/>
          <a:p>
            <a:pPr marL="0" indent="0">
              <a:lnSpc>
                <a:spcPct val="115000"/>
              </a:lnSpc>
              <a:buNone/>
            </a:pPr>
            <a:r>
              <a:rPr lang="en-US" sz="1050" dirty="0">
                <a:solidFill>
                  <a:srgbClr val="1B2B2E"/>
                </a:solidFill>
                <a:latin typeface="Calibri" pitchFamily="34" charset="0"/>
              </a:rPr>
              <a:t>We document your current workflow, rules, systems, and exceptions with your team.</a:t>
            </a:r>
          </a:p>
        </p:txBody>
      </p:sp>
      <p:sp>
        <p:nvSpPr>
          <p:cNvPr id="105" name="Card1Bg"/>
          <p:cNvSpPr/>
          <p:nvPr/>
        </p:nvSpPr>
        <p:spPr>
          <a:xfrm>
            <a:off x="2889504" y="2103120"/>
            <a:ext cx="1883664" cy="2834640"/>
          </a:xfrm>
          <a:prstGeom prst="roundRect">
            <a:avLst>
              <a:gd name="adj" fmla="val 5263"/>
            </a:avLst>
          </a:prstGeom>
          <a:solidFill>
            <a:srgbClr val="F6F1DD"/>
          </a:solidFill>
          <a:ln w="12700">
            <a:solidFill>
              <a:srgbClr val="E6DDBE"/>
            </a:solidFill>
            <a:prstDash val="solid"/>
          </a:ln>
        </p:spPr>
        <p:txBody>
          <a:bodyPr/>
          <a:lstStyle/>
          <a:p>
            <a:endParaRPr lang="en-US"/>
          </a:p>
        </p:txBody>
      </p:sp>
      <p:sp>
        <p:nvSpPr>
          <p:cNvPr id="106" name="Card1Badge"/>
          <p:cNvSpPr/>
          <p:nvPr/>
        </p:nvSpPr>
        <p:spPr>
          <a:xfrm>
            <a:off x="3602736" y="2377440"/>
            <a:ext cx="457200" cy="457200"/>
          </a:xfrm>
          <a:prstGeom prst="ellipse">
            <a:avLst/>
          </a:prstGeom>
          <a:solidFill>
            <a:srgbClr val="1E5A50"/>
          </a:solidFill>
          <a:ln/>
        </p:spPr>
        <p:txBody>
          <a:bodyPr/>
          <a:lstStyle/>
          <a:p>
            <a:endParaRPr lang="en-US"/>
          </a:p>
        </p:txBody>
      </p:sp>
      <p:sp>
        <p:nvSpPr>
          <p:cNvPr id="107" name="Card1Num"/>
          <p:cNvSpPr/>
          <p:nvPr/>
        </p:nvSpPr>
        <p:spPr>
          <a:xfrm>
            <a:off x="3602736" y="2377440"/>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rPr>
              <a:t>2</a:t>
            </a:r>
          </a:p>
        </p:txBody>
      </p:sp>
      <p:sp>
        <p:nvSpPr>
          <p:cNvPr id="108" name="Card1Title"/>
          <p:cNvSpPr/>
          <p:nvPr/>
        </p:nvSpPr>
        <p:spPr>
          <a:xfrm>
            <a:off x="2980944" y="3063240"/>
            <a:ext cx="1700784" cy="548640"/>
          </a:xfrm>
          <a:prstGeom prst="rect">
            <a:avLst/>
          </a:prstGeom>
          <a:noFill/>
          <a:ln/>
        </p:spPr>
        <p:txBody>
          <a:bodyPr wrap="square" rtlCol="0" anchor="ctr"/>
          <a:lstStyle/>
          <a:p>
            <a:pPr marL="0" indent="0">
              <a:lnSpc>
                <a:spcPct val="110000"/>
              </a:lnSpc>
              <a:buNone/>
            </a:pPr>
            <a:r>
              <a:rPr lang="en-US" sz="1300" b="1" dirty="0">
                <a:solidFill>
                  <a:srgbClr val="0B3B36"/>
                </a:solidFill>
                <a:latin typeface="Cambria" pitchFamily="34" charset="0"/>
              </a:rPr>
              <a:t>Test before launch</a:t>
            </a:r>
          </a:p>
        </p:txBody>
      </p:sp>
      <p:sp>
        <p:nvSpPr>
          <p:cNvPr id="109" name="Card1Body"/>
          <p:cNvSpPr/>
          <p:nvPr/>
        </p:nvSpPr>
        <p:spPr>
          <a:xfrm>
            <a:off x="2980944" y="3703320"/>
            <a:ext cx="1700784" cy="1143000"/>
          </a:xfrm>
          <a:prstGeom prst="rect">
            <a:avLst/>
          </a:prstGeom>
          <a:noFill/>
          <a:ln/>
        </p:spPr>
        <p:txBody>
          <a:bodyPr wrap="square" rtlCol="0" anchor="t"/>
          <a:lstStyle/>
          <a:p>
            <a:pPr marL="0" indent="0">
              <a:lnSpc>
                <a:spcPct val="115000"/>
              </a:lnSpc>
              <a:buNone/>
            </a:pPr>
            <a:r>
              <a:rPr lang="en-US" sz="1050" dirty="0">
                <a:solidFill>
                  <a:srgbClr val="1B2B2E"/>
                </a:solidFill>
                <a:latin typeface="Calibri" pitchFamily="34" charset="0"/>
              </a:rPr>
              <a:t>We validate expected and exception scenarios with designated clinic staff.</a:t>
            </a:r>
          </a:p>
        </p:txBody>
      </p:sp>
      <p:sp>
        <p:nvSpPr>
          <p:cNvPr id="110" name="Card2Bg"/>
          <p:cNvSpPr/>
          <p:nvPr/>
        </p:nvSpPr>
        <p:spPr>
          <a:xfrm>
            <a:off x="5138928" y="2103120"/>
            <a:ext cx="1883664" cy="2834640"/>
          </a:xfrm>
          <a:prstGeom prst="roundRect">
            <a:avLst>
              <a:gd name="adj" fmla="val 5263"/>
            </a:avLst>
          </a:prstGeom>
          <a:solidFill>
            <a:srgbClr val="F6F1DD"/>
          </a:solidFill>
          <a:ln w="12700">
            <a:solidFill>
              <a:srgbClr val="E6DDBE"/>
            </a:solidFill>
            <a:prstDash val="solid"/>
          </a:ln>
        </p:spPr>
        <p:txBody>
          <a:bodyPr/>
          <a:lstStyle/>
          <a:p>
            <a:endParaRPr lang="en-US"/>
          </a:p>
        </p:txBody>
      </p:sp>
      <p:sp>
        <p:nvSpPr>
          <p:cNvPr id="111" name="Card2Badge"/>
          <p:cNvSpPr/>
          <p:nvPr/>
        </p:nvSpPr>
        <p:spPr>
          <a:xfrm>
            <a:off x="5852160" y="2377440"/>
            <a:ext cx="457200" cy="457200"/>
          </a:xfrm>
          <a:prstGeom prst="ellipse">
            <a:avLst/>
          </a:prstGeom>
          <a:solidFill>
            <a:srgbClr val="1E5A50"/>
          </a:solidFill>
          <a:ln/>
        </p:spPr>
        <p:txBody>
          <a:bodyPr/>
          <a:lstStyle/>
          <a:p>
            <a:endParaRPr lang="en-US"/>
          </a:p>
        </p:txBody>
      </p:sp>
      <p:sp>
        <p:nvSpPr>
          <p:cNvPr id="112" name="Card2Num"/>
          <p:cNvSpPr/>
          <p:nvPr/>
        </p:nvSpPr>
        <p:spPr>
          <a:xfrm>
            <a:off x="5852160" y="2377440"/>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rPr>
              <a:t>3</a:t>
            </a:r>
          </a:p>
        </p:txBody>
      </p:sp>
      <p:sp>
        <p:nvSpPr>
          <p:cNvPr id="113" name="Card2Title"/>
          <p:cNvSpPr/>
          <p:nvPr/>
        </p:nvSpPr>
        <p:spPr>
          <a:xfrm>
            <a:off x="5230368" y="3063240"/>
            <a:ext cx="1700784" cy="548640"/>
          </a:xfrm>
          <a:prstGeom prst="rect">
            <a:avLst/>
          </a:prstGeom>
          <a:noFill/>
          <a:ln/>
        </p:spPr>
        <p:txBody>
          <a:bodyPr wrap="square" rtlCol="0" anchor="ctr"/>
          <a:lstStyle/>
          <a:p>
            <a:pPr marL="0" indent="0">
              <a:lnSpc>
                <a:spcPct val="110000"/>
              </a:lnSpc>
              <a:buNone/>
            </a:pPr>
            <a:r>
              <a:rPr lang="en-US" sz="1300" b="1" dirty="0">
                <a:solidFill>
                  <a:srgbClr val="0B3B36"/>
                </a:solidFill>
                <a:latin typeface="Cambria" pitchFamily="34" charset="0"/>
              </a:rPr>
              <a:t>Launch with monitoring</a:t>
            </a:r>
          </a:p>
        </p:txBody>
      </p:sp>
      <p:sp>
        <p:nvSpPr>
          <p:cNvPr id="114" name="Card2Body"/>
          <p:cNvSpPr/>
          <p:nvPr/>
        </p:nvSpPr>
        <p:spPr>
          <a:xfrm>
            <a:off x="5230368" y="3703320"/>
            <a:ext cx="1700784" cy="1143000"/>
          </a:xfrm>
          <a:prstGeom prst="rect">
            <a:avLst/>
          </a:prstGeom>
          <a:noFill/>
          <a:ln/>
        </p:spPr>
        <p:txBody>
          <a:bodyPr wrap="square" rtlCol="0" anchor="t"/>
          <a:lstStyle/>
          <a:p>
            <a:pPr marL="0" indent="0">
              <a:lnSpc>
                <a:spcPct val="115000"/>
              </a:lnSpc>
              <a:buNone/>
            </a:pPr>
            <a:r>
              <a:rPr lang="en-US" sz="1050" dirty="0">
                <a:solidFill>
                  <a:srgbClr val="1B2B2E"/>
                </a:solidFill>
                <a:latin typeface="Calibri" pitchFamily="34" charset="0"/>
              </a:rPr>
              <a:t>We begin with a controlled volume and watch closely as the workflow goes live.</a:t>
            </a:r>
          </a:p>
        </p:txBody>
      </p:sp>
      <p:sp>
        <p:nvSpPr>
          <p:cNvPr id="115" name="Card3Bg"/>
          <p:cNvSpPr/>
          <p:nvPr/>
        </p:nvSpPr>
        <p:spPr>
          <a:xfrm>
            <a:off x="7388352" y="2103120"/>
            <a:ext cx="1883664" cy="2834640"/>
          </a:xfrm>
          <a:prstGeom prst="roundRect">
            <a:avLst>
              <a:gd name="adj" fmla="val 5263"/>
            </a:avLst>
          </a:prstGeom>
          <a:solidFill>
            <a:srgbClr val="F6F1DD"/>
          </a:solidFill>
          <a:ln w="12700">
            <a:solidFill>
              <a:srgbClr val="E6DDBE"/>
            </a:solidFill>
            <a:prstDash val="solid"/>
          </a:ln>
        </p:spPr>
        <p:txBody>
          <a:bodyPr/>
          <a:lstStyle/>
          <a:p>
            <a:endParaRPr lang="en-US"/>
          </a:p>
        </p:txBody>
      </p:sp>
      <p:sp>
        <p:nvSpPr>
          <p:cNvPr id="116" name="Card3Badge"/>
          <p:cNvSpPr/>
          <p:nvPr/>
        </p:nvSpPr>
        <p:spPr>
          <a:xfrm>
            <a:off x="8101584" y="2377440"/>
            <a:ext cx="457200" cy="457200"/>
          </a:xfrm>
          <a:prstGeom prst="ellipse">
            <a:avLst/>
          </a:prstGeom>
          <a:solidFill>
            <a:srgbClr val="1E5A50"/>
          </a:solidFill>
          <a:ln/>
        </p:spPr>
        <p:txBody>
          <a:bodyPr/>
          <a:lstStyle/>
          <a:p>
            <a:endParaRPr lang="en-US"/>
          </a:p>
        </p:txBody>
      </p:sp>
      <p:sp>
        <p:nvSpPr>
          <p:cNvPr id="117" name="Card3Num"/>
          <p:cNvSpPr/>
          <p:nvPr/>
        </p:nvSpPr>
        <p:spPr>
          <a:xfrm>
            <a:off x="8101584" y="2377440"/>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rPr>
              <a:t>4</a:t>
            </a:r>
          </a:p>
        </p:txBody>
      </p:sp>
      <p:sp>
        <p:nvSpPr>
          <p:cNvPr id="118" name="Card3Title"/>
          <p:cNvSpPr/>
          <p:nvPr/>
        </p:nvSpPr>
        <p:spPr>
          <a:xfrm>
            <a:off x="7479792" y="3063240"/>
            <a:ext cx="1700784" cy="548640"/>
          </a:xfrm>
          <a:prstGeom prst="rect">
            <a:avLst/>
          </a:prstGeom>
          <a:noFill/>
          <a:ln/>
        </p:spPr>
        <p:txBody>
          <a:bodyPr wrap="square" rtlCol="0" anchor="ctr"/>
          <a:lstStyle/>
          <a:p>
            <a:pPr marL="0" indent="0">
              <a:lnSpc>
                <a:spcPct val="110000"/>
              </a:lnSpc>
              <a:buNone/>
            </a:pPr>
            <a:r>
              <a:rPr lang="en-US" sz="1300" b="1" dirty="0">
                <a:solidFill>
                  <a:srgbClr val="0B3B36"/>
                </a:solidFill>
                <a:latin typeface="Cambria" pitchFamily="34" charset="0"/>
              </a:rPr>
              <a:t>Review &amp; improve</a:t>
            </a:r>
          </a:p>
        </p:txBody>
      </p:sp>
      <p:sp>
        <p:nvSpPr>
          <p:cNvPr id="119" name="Card3Body"/>
          <p:cNvSpPr/>
          <p:nvPr/>
        </p:nvSpPr>
        <p:spPr>
          <a:xfrm>
            <a:off x="7479792" y="3703320"/>
            <a:ext cx="1700784" cy="1143000"/>
          </a:xfrm>
          <a:prstGeom prst="rect">
            <a:avLst/>
          </a:prstGeom>
          <a:noFill/>
          <a:ln/>
        </p:spPr>
        <p:txBody>
          <a:bodyPr wrap="square" rtlCol="0" anchor="t"/>
          <a:lstStyle/>
          <a:p>
            <a:pPr marL="0" indent="0">
              <a:lnSpc>
                <a:spcPct val="115000"/>
              </a:lnSpc>
              <a:buNone/>
            </a:pPr>
            <a:r>
              <a:rPr lang="en-US" sz="1050" dirty="0">
                <a:solidFill>
                  <a:srgbClr val="1B2B2E"/>
                </a:solidFill>
                <a:latin typeface="Calibri" pitchFamily="34" charset="0"/>
              </a:rPr>
              <a:t>Regular check-ins to resolve issues and agree on changes together.</a:t>
            </a:r>
          </a:p>
        </p:txBody>
      </p:sp>
      <p:sp>
        <p:nvSpPr>
          <p:cNvPr id="120" name="Card4Bg"/>
          <p:cNvSpPr/>
          <p:nvPr/>
        </p:nvSpPr>
        <p:spPr>
          <a:xfrm>
            <a:off x="9637776" y="2103120"/>
            <a:ext cx="1883664" cy="2834640"/>
          </a:xfrm>
          <a:prstGeom prst="roundRect">
            <a:avLst>
              <a:gd name="adj" fmla="val 5263"/>
            </a:avLst>
          </a:prstGeom>
          <a:solidFill>
            <a:srgbClr val="F6F1DD"/>
          </a:solidFill>
          <a:ln w="12700">
            <a:solidFill>
              <a:srgbClr val="E6DDBE"/>
            </a:solidFill>
            <a:prstDash val="solid"/>
          </a:ln>
        </p:spPr>
        <p:txBody>
          <a:bodyPr/>
          <a:lstStyle/>
          <a:p>
            <a:endParaRPr lang="en-US"/>
          </a:p>
        </p:txBody>
      </p:sp>
      <p:sp>
        <p:nvSpPr>
          <p:cNvPr id="121" name="Card4Badge"/>
          <p:cNvSpPr/>
          <p:nvPr/>
        </p:nvSpPr>
        <p:spPr>
          <a:xfrm>
            <a:off x="10351008" y="2377440"/>
            <a:ext cx="457200" cy="457200"/>
          </a:xfrm>
          <a:prstGeom prst="ellipse">
            <a:avLst/>
          </a:prstGeom>
          <a:solidFill>
            <a:srgbClr val="1E5A50"/>
          </a:solidFill>
          <a:ln/>
        </p:spPr>
        <p:txBody>
          <a:bodyPr/>
          <a:lstStyle/>
          <a:p>
            <a:endParaRPr lang="en-US"/>
          </a:p>
        </p:txBody>
      </p:sp>
      <p:sp>
        <p:nvSpPr>
          <p:cNvPr id="122" name="Card4Num"/>
          <p:cNvSpPr/>
          <p:nvPr/>
        </p:nvSpPr>
        <p:spPr>
          <a:xfrm>
            <a:off x="10351008" y="2377440"/>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rPr>
              <a:t>5</a:t>
            </a:r>
          </a:p>
        </p:txBody>
      </p:sp>
      <p:sp>
        <p:nvSpPr>
          <p:cNvPr id="123" name="Card4Title"/>
          <p:cNvSpPr/>
          <p:nvPr/>
        </p:nvSpPr>
        <p:spPr>
          <a:xfrm>
            <a:off x="9729216" y="3063240"/>
            <a:ext cx="1700784" cy="548640"/>
          </a:xfrm>
          <a:prstGeom prst="rect">
            <a:avLst/>
          </a:prstGeom>
          <a:noFill/>
          <a:ln/>
        </p:spPr>
        <p:txBody>
          <a:bodyPr wrap="square" rtlCol="0" anchor="ctr"/>
          <a:lstStyle/>
          <a:p>
            <a:pPr marL="0" indent="0">
              <a:lnSpc>
                <a:spcPct val="110000"/>
              </a:lnSpc>
              <a:buNone/>
            </a:pPr>
            <a:r>
              <a:rPr lang="en-US" sz="1300" b="1" dirty="0">
                <a:solidFill>
                  <a:srgbClr val="0B3B36"/>
                </a:solidFill>
                <a:latin typeface="Cambria" pitchFamily="34" charset="0"/>
              </a:rPr>
              <a:t>Expand Phase 1</a:t>
            </a:r>
          </a:p>
        </p:txBody>
      </p:sp>
      <p:sp>
        <p:nvSpPr>
          <p:cNvPr id="124" name="Card4Body"/>
          <p:cNvSpPr/>
          <p:nvPr/>
        </p:nvSpPr>
        <p:spPr>
          <a:xfrm>
            <a:off x="9729216" y="3703320"/>
            <a:ext cx="1700784" cy="1143000"/>
          </a:xfrm>
          <a:prstGeom prst="rect">
            <a:avLst/>
          </a:prstGeom>
          <a:noFill/>
          <a:ln/>
        </p:spPr>
        <p:txBody>
          <a:bodyPr wrap="square" rtlCol="0" anchor="t"/>
          <a:lstStyle/>
          <a:p>
            <a:pPr marL="0" indent="0">
              <a:lnSpc>
                <a:spcPct val="115000"/>
              </a:lnSpc>
              <a:buNone/>
            </a:pPr>
            <a:r>
              <a:rPr lang="en-US" sz="1050" dirty="0">
                <a:solidFill>
                  <a:srgbClr val="1B2B2E"/>
                </a:solidFill>
                <a:latin typeface="Calibri" pitchFamily="34" charset="0"/>
              </a:rPr>
              <a:t>Once stable, we introduce the next included workflow in the agreed sequence.</a:t>
            </a:r>
          </a:p>
        </p:txBody>
      </p:sp>
      <p:sp>
        <p:nvSpPr>
          <p:cNvPr id="900" name="Footnote"/>
          <p:cNvSpPr/>
          <p:nvPr/>
        </p:nvSpPr>
        <p:spPr>
          <a:xfrm>
            <a:off x="640080" y="5120640"/>
            <a:ext cx="10561320" cy="365760"/>
          </a:xfrm>
          <a:prstGeom prst="rect">
            <a:avLst/>
          </a:prstGeom>
          <a:noFill/>
          <a:ln/>
        </p:spPr>
        <p:txBody>
          <a:bodyPr wrap="square" rtlCol="0" anchor="ctr"/>
          <a:lstStyle/>
          <a:p>
            <a:pPr marL="0" indent="0" algn="ctr">
              <a:buNone/>
            </a:pPr>
            <a:r>
              <a:rPr lang="en-US" sz="1250" i="1" dirty="0">
                <a:solidFill>
                  <a:srgbClr val="6E6857"/>
                </a:solidFill>
                <a:latin typeface="Calibri" pitchFamily="34" charset="0"/>
              </a:rPr>
              <a:t>Your role: a designated owner, authorized access, and staff time for testing and feedback.</a:t>
            </a:r>
          </a:p>
        </p:txBody>
      </p:sp>
      <p:sp>
        <p:nvSpPr>
          <p:cNvPr id="21" name="Text 18"/>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E6857"/>
                </a:solidFill>
                <a:latin typeface="Calibri" pitchFamily="34" charset="0"/>
                <a:ea typeface="Calibri" pitchFamily="34" charset="-122"/>
                <a:cs typeface="Calibri" pitchFamily="34" charset="-120"/>
              </a:rPr>
              <a:t>Halo Holdings  •  Confidential — for discussion</a:t>
            </a:r>
            <a:endParaRPr lang="en-US" sz="900" dirty="0"/>
          </a:p>
        </p:txBody>
      </p:sp>
      <p:sp>
        <p:nvSpPr>
          <p:cNvPr id="22" name="Text 19"/>
          <p:cNvSpPr/>
          <p:nvPr/>
        </p:nvSpPr>
        <p:spPr>
          <a:xfrm>
            <a:off x="8988552" y="6473952"/>
            <a:ext cx="2743200" cy="274320"/>
          </a:xfrm>
          <a:prstGeom prst="rect">
            <a:avLst/>
          </a:prstGeom>
          <a:noFill/>
          <a:ln/>
        </p:spPr>
        <p:txBody>
          <a:bodyPr wrap="square" rtlCol="0" anchor="ctr"/>
          <a:lstStyle/>
          <a:p>
            <a:pPr marL="0" indent="0" algn="r">
              <a:buNone/>
            </a:pPr>
            <a:r>
              <a:rPr lang="en-US" sz="900" dirty="0">
                <a:solidFill>
                  <a:srgbClr val="6E6857"/>
                </a:solidFill>
                <a:latin typeface="Calibri" pitchFamily="34" charset="0"/>
                <a:ea typeface="Calibri" pitchFamily="34" charset="-122"/>
                <a:cs typeface="Calibri" pitchFamily="34" charset="-120"/>
              </a:rPr>
              <a:t>How rollout works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640080"/>
          </a:xfrm>
          <a:prstGeom prst="rect">
            <a:avLst/>
          </a:prstGeom>
          <a:noFill/>
          <a:ln/>
        </p:spPr>
        <p:txBody>
          <a:bodyPr wrap="square" rtlCol="0" anchor="ctr"/>
          <a:lstStyle/>
          <a:p>
            <a:pPr marL="0" indent="0">
              <a:buNone/>
            </a:pPr>
            <a:r>
              <a:rPr lang="en-US" sz="3200" b="1" dirty="0">
                <a:solidFill>
                  <a:srgbClr val="1B2B2E"/>
                </a:solidFill>
                <a:latin typeface="Cambria" pitchFamily="34" charset="0"/>
                <a:ea typeface="Cambria" pitchFamily="34" charset="-122"/>
                <a:cs typeface="Cambria" pitchFamily="34" charset="-120"/>
              </a:rPr>
              <a:t>Trust, privacy, and clinic control</a:t>
            </a:r>
            <a:endParaRPr lang="en-US" sz="3200" dirty="0"/>
          </a:p>
        </p:txBody>
      </p:sp>
      <p:sp>
        <p:nvSpPr>
          <p:cNvPr id="3" name="Text 1"/>
          <p:cNvSpPr/>
          <p:nvPr/>
        </p:nvSpPr>
        <p:spPr>
          <a:xfrm>
            <a:off x="640080" y="1078992"/>
            <a:ext cx="10058400" cy="365760"/>
          </a:xfrm>
          <a:prstGeom prst="rect">
            <a:avLst/>
          </a:prstGeom>
          <a:noFill/>
          <a:ln/>
        </p:spPr>
        <p:txBody>
          <a:bodyPr wrap="square" rtlCol="0" anchor="ctr"/>
          <a:lstStyle/>
          <a:p>
            <a:pPr marL="0" indent="0">
              <a:buNone/>
            </a:pPr>
            <a:r>
              <a:rPr lang="en-US" sz="1500" dirty="0">
                <a:solidFill>
                  <a:srgbClr val="6E6857"/>
                </a:solidFill>
                <a:latin typeface="Calibri" pitchFamily="34" charset="0"/>
                <a:ea typeface="Calibri" pitchFamily="34" charset="-122"/>
                <a:cs typeface="Calibri" pitchFamily="34" charset="-120"/>
              </a:rPr>
              <a:t>What a healthcare organization should reasonably expect to know</a:t>
            </a:r>
            <a:endParaRPr lang="en-US" sz="1500" dirty="0"/>
          </a:p>
        </p:txBody>
      </p:sp>
      <p:sp>
        <p:nvSpPr>
          <p:cNvPr id="4" name="Shape 2"/>
          <p:cNvSpPr/>
          <p:nvPr/>
        </p:nvSpPr>
        <p:spPr>
          <a:xfrm>
            <a:off x="822960" y="1764792"/>
            <a:ext cx="128016" cy="128016"/>
          </a:xfrm>
          <a:prstGeom prst="ellipse">
            <a:avLst/>
          </a:prstGeom>
          <a:solidFill>
            <a:srgbClr val="DBAA47"/>
          </a:solidFill>
          <a:ln/>
        </p:spPr>
        <p:txBody>
          <a:bodyPr/>
          <a:lstStyle/>
          <a:p>
            <a:endParaRPr lang="en-US"/>
          </a:p>
        </p:txBody>
      </p:sp>
      <p:sp>
        <p:nvSpPr>
          <p:cNvPr id="5" name="Text 3"/>
          <p:cNvSpPr/>
          <p:nvPr/>
        </p:nvSpPr>
        <p:spPr>
          <a:xfrm>
            <a:off x="1143000" y="1737360"/>
            <a:ext cx="9692640" cy="457200"/>
          </a:xfrm>
          <a:prstGeom prst="rect">
            <a:avLst/>
          </a:prstGeom>
          <a:noFill/>
          <a:ln/>
        </p:spPr>
        <p:txBody>
          <a:bodyPr wrap="square" rtlCol="0" anchor="ctr"/>
          <a:lstStyle/>
          <a:p>
            <a:r>
              <a:rPr lang="en-US" sz="1700" dirty="0">
                <a:solidFill>
                  <a:srgbClr val="1B2B2E"/>
                </a:solidFill>
                <a:latin typeface="Calibri" pitchFamily="34" charset="0"/>
                <a:ea typeface="Calibri" pitchFamily="34" charset="-122"/>
                <a:cs typeface="Calibri" pitchFamily="34" charset="-120"/>
              </a:rPr>
              <a:t>Clinic-controlled rules — automation operates under documented, clinic-approved rules</a:t>
            </a:r>
            <a:endParaRPr lang="en-US" sz="1700" dirty="0"/>
          </a:p>
          <a:p>
            <a:pPr marL="0" indent="0">
              <a:buNone/>
            </a:pPr>
            <a:endParaRPr lang="en-US" sz="1700" dirty="0"/>
          </a:p>
        </p:txBody>
      </p:sp>
      <p:sp>
        <p:nvSpPr>
          <p:cNvPr id="6" name="Shape 4"/>
          <p:cNvSpPr/>
          <p:nvPr/>
        </p:nvSpPr>
        <p:spPr>
          <a:xfrm>
            <a:off x="822960" y="2386584"/>
            <a:ext cx="128016" cy="128016"/>
          </a:xfrm>
          <a:prstGeom prst="ellipse">
            <a:avLst/>
          </a:prstGeom>
          <a:solidFill>
            <a:srgbClr val="DBAA47"/>
          </a:solidFill>
          <a:ln/>
        </p:spPr>
        <p:txBody>
          <a:bodyPr/>
          <a:lstStyle/>
          <a:p>
            <a:endParaRPr lang="en-US"/>
          </a:p>
        </p:txBody>
      </p:sp>
      <p:sp>
        <p:nvSpPr>
          <p:cNvPr id="7" name="Text 5"/>
          <p:cNvSpPr/>
          <p:nvPr/>
        </p:nvSpPr>
        <p:spPr>
          <a:xfrm>
            <a:off x="1143000" y="2324452"/>
            <a:ext cx="9692640" cy="457200"/>
          </a:xfrm>
          <a:prstGeom prst="rect">
            <a:avLst/>
          </a:prstGeom>
          <a:noFill/>
          <a:ln/>
        </p:spPr>
        <p:txBody>
          <a:bodyPr wrap="square" rtlCol="0" anchor="ctr"/>
          <a:lstStyle/>
          <a:p>
            <a:pPr marL="0" indent="0">
              <a:buNone/>
            </a:pPr>
            <a:r>
              <a:rPr lang="en-US" sz="1700" dirty="0">
                <a:solidFill>
                  <a:srgbClr val="1B2B2E"/>
                </a:solidFill>
                <a:latin typeface="Calibri" pitchFamily="34" charset="0"/>
                <a:ea typeface="Calibri" pitchFamily="34" charset="-122"/>
                <a:cs typeface="Calibri" pitchFamily="34" charset="-120"/>
              </a:rPr>
              <a:t>Human review — clinical decisions and defined high-risk actions stay with authorized clinic staff</a:t>
            </a:r>
            <a:endParaRPr lang="en-US" sz="1700" dirty="0"/>
          </a:p>
        </p:txBody>
      </p:sp>
      <p:sp>
        <p:nvSpPr>
          <p:cNvPr id="8" name="Shape 6"/>
          <p:cNvSpPr/>
          <p:nvPr/>
        </p:nvSpPr>
        <p:spPr>
          <a:xfrm>
            <a:off x="826790" y="3101848"/>
            <a:ext cx="128016" cy="128016"/>
          </a:xfrm>
          <a:prstGeom prst="ellipse">
            <a:avLst/>
          </a:prstGeom>
          <a:solidFill>
            <a:srgbClr val="DBAA47"/>
          </a:solidFill>
          <a:ln/>
        </p:spPr>
        <p:txBody>
          <a:bodyPr/>
          <a:lstStyle/>
          <a:p>
            <a:endParaRPr lang="en-US"/>
          </a:p>
        </p:txBody>
      </p:sp>
      <p:sp>
        <p:nvSpPr>
          <p:cNvPr id="9" name="Text 7"/>
          <p:cNvSpPr/>
          <p:nvPr/>
        </p:nvSpPr>
        <p:spPr>
          <a:xfrm>
            <a:off x="1143000" y="2929831"/>
            <a:ext cx="9954846" cy="457200"/>
          </a:xfrm>
          <a:prstGeom prst="rect">
            <a:avLst/>
          </a:prstGeom>
          <a:noFill/>
          <a:ln/>
        </p:spPr>
        <p:txBody>
          <a:bodyPr wrap="square" rtlCol="0" anchor="ctr"/>
          <a:lstStyle/>
          <a:p>
            <a:pPr marL="0" indent="0">
              <a:buNone/>
            </a:pPr>
            <a:r>
              <a:rPr lang="en-US" sz="1700" dirty="0">
                <a:solidFill>
                  <a:srgbClr val="1B2B2E"/>
                </a:solidFill>
                <a:latin typeface="Calibri" pitchFamily="34" charset="0"/>
                <a:ea typeface="Calibri" pitchFamily="34" charset="-122"/>
                <a:cs typeface="Calibri" pitchFamily="34" charset="-120"/>
              </a:rPr>
              <a:t>Access and auditability — access is limited by role, with activity logging where supported</a:t>
            </a:r>
            <a:endParaRPr lang="en-US" sz="1700" dirty="0"/>
          </a:p>
        </p:txBody>
      </p:sp>
      <p:sp>
        <p:nvSpPr>
          <p:cNvPr id="10" name="Shape 8"/>
          <p:cNvSpPr/>
          <p:nvPr/>
        </p:nvSpPr>
        <p:spPr>
          <a:xfrm>
            <a:off x="822960" y="3651191"/>
            <a:ext cx="128016" cy="128016"/>
          </a:xfrm>
          <a:prstGeom prst="ellipse">
            <a:avLst/>
          </a:prstGeom>
          <a:solidFill>
            <a:srgbClr val="DBAA47"/>
          </a:solidFill>
          <a:ln/>
        </p:spPr>
        <p:txBody>
          <a:bodyPr/>
          <a:lstStyle/>
          <a:p>
            <a:endParaRPr lang="en-US"/>
          </a:p>
        </p:txBody>
      </p:sp>
      <p:sp>
        <p:nvSpPr>
          <p:cNvPr id="11" name="Text 9"/>
          <p:cNvSpPr/>
          <p:nvPr/>
        </p:nvSpPr>
        <p:spPr>
          <a:xfrm>
            <a:off x="1143000" y="3516141"/>
            <a:ext cx="9692640" cy="457200"/>
          </a:xfrm>
          <a:prstGeom prst="rect">
            <a:avLst/>
          </a:prstGeom>
          <a:noFill/>
          <a:ln/>
        </p:spPr>
        <p:txBody>
          <a:bodyPr wrap="square" rtlCol="0" anchor="ctr"/>
          <a:lstStyle/>
          <a:p>
            <a:pPr marL="0" indent="0">
              <a:buNone/>
            </a:pPr>
            <a:r>
              <a:rPr lang="en-US" sz="1700" dirty="0">
                <a:solidFill>
                  <a:srgbClr val="1B2B2E"/>
                </a:solidFill>
                <a:latin typeface="Calibri" pitchFamily="34" charset="0"/>
                <a:ea typeface="Calibri" pitchFamily="34" charset="-122"/>
                <a:cs typeface="Calibri" pitchFamily="34" charset="-120"/>
              </a:rPr>
              <a:t>Data handling and agreements — data use, retention, deletion, and vendor responsibilities are documented</a:t>
            </a:r>
            <a:endParaRPr lang="en-US" sz="1700" dirty="0"/>
          </a:p>
        </p:txBody>
      </p:sp>
      <p:sp>
        <p:nvSpPr>
          <p:cNvPr id="14" name="Shape 12"/>
          <p:cNvSpPr/>
          <p:nvPr/>
        </p:nvSpPr>
        <p:spPr>
          <a:xfrm>
            <a:off x="548640" y="5590735"/>
            <a:ext cx="10881360" cy="777240"/>
          </a:xfrm>
          <a:prstGeom prst="roundRect">
            <a:avLst>
              <a:gd name="adj" fmla="val 11765"/>
            </a:avLst>
          </a:prstGeom>
          <a:solidFill>
            <a:srgbClr val="F6F1DD"/>
          </a:solidFill>
          <a:ln w="12700">
            <a:solidFill>
              <a:srgbClr val="E6DDBE"/>
            </a:solidFill>
            <a:prstDash val="solid"/>
          </a:ln>
        </p:spPr>
        <p:txBody>
          <a:bodyPr/>
          <a:lstStyle/>
          <a:p>
            <a:endParaRPr lang="en-US"/>
          </a:p>
        </p:txBody>
      </p:sp>
      <p:sp>
        <p:nvSpPr>
          <p:cNvPr id="15" name="Text 13"/>
          <p:cNvSpPr/>
          <p:nvPr/>
        </p:nvSpPr>
        <p:spPr>
          <a:xfrm>
            <a:off x="822960" y="5590735"/>
            <a:ext cx="10332720" cy="777240"/>
          </a:xfrm>
          <a:prstGeom prst="rect">
            <a:avLst/>
          </a:prstGeom>
          <a:noFill/>
          <a:ln/>
        </p:spPr>
        <p:txBody>
          <a:bodyPr wrap="square" rtlCol="0" anchor="ctr"/>
          <a:lstStyle/>
          <a:p>
            <a:r>
              <a:rPr lang="en-US" sz="1500" i="1" dirty="0">
                <a:solidFill>
                  <a:srgbClr val="0B3B36"/>
                </a:solidFill>
                <a:latin typeface="Calibri" pitchFamily="34" charset="0"/>
                <a:ea typeface="Calibri" pitchFamily="34" charset="-122"/>
                <a:cs typeface="Calibri" pitchFamily="34" charset="-120"/>
              </a:rPr>
              <a:t>Applicable BAAs, vendor agreements, and consent requirements are completed before any protected data is processed.</a:t>
            </a:r>
            <a:endParaRPr lang="en-US" sz="1500" dirty="0"/>
          </a:p>
        </p:txBody>
      </p:sp>
      <p:sp>
        <p:nvSpPr>
          <p:cNvPr id="16" name="Text 14"/>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E6857"/>
                </a:solidFill>
                <a:latin typeface="Calibri" pitchFamily="34" charset="0"/>
                <a:ea typeface="Calibri" pitchFamily="34" charset="-122"/>
                <a:cs typeface="Calibri" pitchFamily="34" charset="-120"/>
              </a:rPr>
              <a:t>Halo Holdings  •  Confidential — for discussion</a:t>
            </a:r>
            <a:endParaRPr lang="en-US" sz="900" dirty="0"/>
          </a:p>
        </p:txBody>
      </p:sp>
      <p:sp>
        <p:nvSpPr>
          <p:cNvPr id="17" name="Text 15"/>
          <p:cNvSpPr/>
          <p:nvPr/>
        </p:nvSpPr>
        <p:spPr>
          <a:xfrm>
            <a:off x="8988552" y="6473952"/>
            <a:ext cx="2743200" cy="274320"/>
          </a:xfrm>
          <a:prstGeom prst="rect">
            <a:avLst/>
          </a:prstGeom>
          <a:noFill/>
          <a:ln/>
        </p:spPr>
        <p:txBody>
          <a:bodyPr wrap="square" rtlCol="0" anchor="ctr"/>
          <a:lstStyle/>
          <a:p>
            <a:pPr marL="0" indent="0" algn="r">
              <a:buNone/>
            </a:pPr>
            <a:r>
              <a:rPr lang="en-US" sz="900" dirty="0">
                <a:solidFill>
                  <a:srgbClr val="6E6857"/>
                </a:solidFill>
                <a:latin typeface="Calibri" pitchFamily="34" charset="0"/>
                <a:ea typeface="Calibri" pitchFamily="34" charset="-122"/>
                <a:cs typeface="Calibri" pitchFamily="34" charset="-120"/>
              </a:rPr>
              <a:t>Trust and control</a:t>
            </a:r>
            <a:endParaRPr lang="en-US" sz="900" dirty="0"/>
          </a:p>
        </p:txBody>
      </p:sp>
      <p:sp>
        <p:nvSpPr>
          <p:cNvPr id="19" name="Shape 8">
            <a:extLst>
              <a:ext uri="{FF2B5EF4-FFF2-40B4-BE49-F238E27FC236}">
                <a16:creationId xmlns:a16="http://schemas.microsoft.com/office/drawing/2014/main" id="{012E87EA-A499-258C-1E59-FC34AA19146B}"/>
              </a:ext>
            </a:extLst>
          </p:cNvPr>
          <p:cNvSpPr/>
          <p:nvPr/>
        </p:nvSpPr>
        <p:spPr>
          <a:xfrm>
            <a:off x="822960" y="4610452"/>
            <a:ext cx="128016" cy="128016"/>
          </a:xfrm>
          <a:prstGeom prst="ellipse">
            <a:avLst/>
          </a:prstGeom>
          <a:solidFill>
            <a:srgbClr val="DBAA47"/>
          </a:solidFill>
          <a:ln/>
        </p:spPr>
        <p:txBody>
          <a:bodyPr/>
          <a:lstStyle/>
          <a:p>
            <a:endParaRPr lang="en-US"/>
          </a:p>
        </p:txBody>
      </p:sp>
      <p:sp>
        <p:nvSpPr>
          <p:cNvPr id="21" name="Text 9">
            <a:extLst>
              <a:ext uri="{FF2B5EF4-FFF2-40B4-BE49-F238E27FC236}">
                <a16:creationId xmlns:a16="http://schemas.microsoft.com/office/drawing/2014/main" id="{714A7359-02C4-1ABE-3FD5-9E016AEE5DD2}"/>
              </a:ext>
            </a:extLst>
          </p:cNvPr>
          <p:cNvSpPr/>
          <p:nvPr/>
        </p:nvSpPr>
        <p:spPr>
          <a:xfrm>
            <a:off x="1143000" y="4445860"/>
            <a:ext cx="9692640" cy="457200"/>
          </a:xfrm>
          <a:prstGeom prst="rect">
            <a:avLst/>
          </a:prstGeom>
          <a:noFill/>
          <a:ln/>
        </p:spPr>
        <p:txBody>
          <a:bodyPr wrap="square" rtlCol="0" anchor="ctr"/>
          <a:lstStyle/>
          <a:p>
            <a:r>
              <a:rPr lang="en-US" sz="1600" dirty="0"/>
              <a:t>Pause and escalation — the clinic can pause a workflow at any time, and exceptions route to named staff.</a:t>
            </a:r>
            <a:endParaRPr lang="en-US" sz="1700" i="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640080"/>
          </a:xfrm>
          <a:prstGeom prst="rect">
            <a:avLst/>
          </a:prstGeom>
          <a:noFill/>
          <a:ln/>
        </p:spPr>
        <p:txBody>
          <a:bodyPr wrap="square" rtlCol="0" anchor="ctr"/>
          <a:lstStyle/>
          <a:p>
            <a:pPr marL="0" indent="0">
              <a:buNone/>
            </a:pPr>
            <a:r>
              <a:rPr lang="en-US" sz="3200" b="1" dirty="0">
                <a:solidFill>
                  <a:srgbClr val="1B2B2E"/>
                </a:solidFill>
                <a:latin typeface="Cambria" pitchFamily="34" charset="0"/>
                <a:ea typeface="Cambria" pitchFamily="34" charset="-122"/>
                <a:cs typeface="Cambria" pitchFamily="34" charset="-120"/>
              </a:rPr>
              <a:t>A measured rollout with a clear 90-day decision point</a:t>
            </a:r>
            <a:endParaRPr lang="en-US" sz="3200" dirty="0"/>
          </a:p>
        </p:txBody>
      </p:sp>
      <p:sp>
        <p:nvSpPr>
          <p:cNvPr id="3" name="Text 1"/>
          <p:cNvSpPr/>
          <p:nvPr/>
        </p:nvSpPr>
        <p:spPr>
          <a:xfrm>
            <a:off x="640080" y="1078992"/>
            <a:ext cx="10058400" cy="365760"/>
          </a:xfrm>
          <a:prstGeom prst="rect">
            <a:avLst/>
          </a:prstGeom>
          <a:noFill/>
          <a:ln/>
        </p:spPr>
        <p:txBody>
          <a:bodyPr wrap="square" rtlCol="0" anchor="ctr"/>
          <a:lstStyle/>
          <a:p>
            <a:pPr marL="0" indent="0">
              <a:buNone/>
            </a:pPr>
            <a:r>
              <a:rPr lang="en-US" sz="1500" dirty="0">
                <a:solidFill>
                  <a:srgbClr val="6E6857"/>
                </a:solidFill>
                <a:latin typeface="Calibri" pitchFamily="34" charset="0"/>
                <a:ea typeface="Calibri" pitchFamily="34" charset="-122"/>
                <a:cs typeface="Calibri" pitchFamily="34" charset="-120"/>
              </a:rPr>
              <a:t>How we track whether the pilot is working</a:t>
            </a:r>
            <a:endParaRPr lang="en-US" sz="1500" dirty="0"/>
          </a:p>
        </p:txBody>
      </p:sp>
      <p:sp>
        <p:nvSpPr>
          <p:cNvPr id="4" name="Shape 2"/>
          <p:cNvSpPr/>
          <p:nvPr/>
        </p:nvSpPr>
        <p:spPr>
          <a:xfrm>
            <a:off x="822960" y="1764792"/>
            <a:ext cx="128016" cy="128016"/>
          </a:xfrm>
          <a:prstGeom prst="ellipse">
            <a:avLst/>
          </a:prstGeom>
          <a:solidFill>
            <a:srgbClr val="DBAA47"/>
          </a:solidFill>
          <a:ln/>
        </p:spPr>
        <p:txBody>
          <a:bodyPr/>
          <a:lstStyle/>
          <a:p>
            <a:endParaRPr lang="en-US"/>
          </a:p>
        </p:txBody>
      </p:sp>
      <p:sp>
        <p:nvSpPr>
          <p:cNvPr id="5" name="Text 3"/>
          <p:cNvSpPr/>
          <p:nvPr/>
        </p:nvSpPr>
        <p:spPr>
          <a:xfrm>
            <a:off x="1143000" y="1737360"/>
            <a:ext cx="9692640" cy="457200"/>
          </a:xfrm>
          <a:prstGeom prst="rect">
            <a:avLst/>
          </a:prstGeom>
          <a:noFill/>
          <a:ln/>
        </p:spPr>
        <p:txBody>
          <a:bodyPr wrap="square" rtlCol="0" anchor="ctr"/>
          <a:lstStyle/>
          <a:p>
            <a:r>
              <a:rPr lang="en-US" sz="1700" dirty="0">
                <a:solidFill>
                  <a:srgbClr val="1B2B2E"/>
                </a:solidFill>
                <a:latin typeface="Calibri" pitchFamily="34" charset="0"/>
                <a:ea typeface="Calibri" pitchFamily="34" charset="-122"/>
                <a:cs typeface="Calibri" pitchFamily="34" charset="-120"/>
              </a:rPr>
              <a:t>Baseline — document current volume, staff time, and exception rate before automation begins</a:t>
            </a:r>
            <a:endParaRPr lang="en-US" sz="1700" dirty="0"/>
          </a:p>
          <a:p>
            <a:pPr marL="0" indent="0">
              <a:buNone/>
            </a:pPr>
            <a:endParaRPr lang="en-US" sz="1700" dirty="0"/>
          </a:p>
        </p:txBody>
      </p:sp>
      <p:sp>
        <p:nvSpPr>
          <p:cNvPr id="6" name="Shape 4"/>
          <p:cNvSpPr/>
          <p:nvPr/>
        </p:nvSpPr>
        <p:spPr>
          <a:xfrm>
            <a:off x="822960" y="2386584"/>
            <a:ext cx="128016" cy="128016"/>
          </a:xfrm>
          <a:prstGeom prst="ellipse">
            <a:avLst/>
          </a:prstGeom>
          <a:solidFill>
            <a:srgbClr val="DBAA47"/>
          </a:solidFill>
          <a:ln/>
        </p:spPr>
        <p:txBody>
          <a:bodyPr/>
          <a:lstStyle/>
          <a:p>
            <a:endParaRPr lang="en-US"/>
          </a:p>
        </p:txBody>
      </p:sp>
      <p:sp>
        <p:nvSpPr>
          <p:cNvPr id="7" name="Text 5"/>
          <p:cNvSpPr/>
          <p:nvPr/>
        </p:nvSpPr>
        <p:spPr>
          <a:xfrm>
            <a:off x="1143000" y="2324452"/>
            <a:ext cx="9692640" cy="457200"/>
          </a:xfrm>
          <a:prstGeom prst="rect">
            <a:avLst/>
          </a:prstGeom>
          <a:noFill/>
          <a:ln/>
        </p:spPr>
        <p:txBody>
          <a:bodyPr wrap="square" rtlCol="0" anchor="ctr"/>
          <a:lstStyle/>
          <a:p>
            <a:pPr marL="0" indent="0">
              <a:buNone/>
            </a:pPr>
            <a:r>
              <a:rPr lang="en-US" sz="1700" dirty="0">
                <a:solidFill>
                  <a:srgbClr val="1B2B2E"/>
                </a:solidFill>
                <a:latin typeface="Calibri" pitchFamily="34" charset="0"/>
                <a:ea typeface="Calibri" pitchFamily="34" charset="-122"/>
                <a:cs typeface="Calibri" pitchFamily="34" charset="-120"/>
              </a:rPr>
              <a:t>Configure &amp; test — agree on rules, integration approach, escalation paths, and acceptance tests</a:t>
            </a:r>
            <a:endParaRPr lang="en-US" sz="1700" dirty="0"/>
          </a:p>
        </p:txBody>
      </p:sp>
      <p:sp>
        <p:nvSpPr>
          <p:cNvPr id="8" name="Shape 6"/>
          <p:cNvSpPr/>
          <p:nvPr/>
        </p:nvSpPr>
        <p:spPr>
          <a:xfrm>
            <a:off x="826790" y="3101848"/>
            <a:ext cx="128016" cy="128016"/>
          </a:xfrm>
          <a:prstGeom prst="ellipse">
            <a:avLst/>
          </a:prstGeom>
          <a:solidFill>
            <a:srgbClr val="DBAA47"/>
          </a:solidFill>
          <a:ln/>
        </p:spPr>
        <p:txBody>
          <a:bodyPr/>
          <a:lstStyle/>
          <a:p>
            <a:endParaRPr lang="en-US"/>
          </a:p>
        </p:txBody>
      </p:sp>
      <p:sp>
        <p:nvSpPr>
          <p:cNvPr id="9" name="Text 7"/>
          <p:cNvSpPr/>
          <p:nvPr/>
        </p:nvSpPr>
        <p:spPr>
          <a:xfrm>
            <a:off x="1143000" y="2929831"/>
            <a:ext cx="9954846" cy="457200"/>
          </a:xfrm>
          <a:prstGeom prst="rect">
            <a:avLst/>
          </a:prstGeom>
          <a:noFill/>
          <a:ln/>
        </p:spPr>
        <p:txBody>
          <a:bodyPr wrap="square" rtlCol="0" anchor="ctr"/>
          <a:lstStyle/>
          <a:p>
            <a:pPr marL="0" indent="0">
              <a:buNone/>
            </a:pPr>
            <a:r>
              <a:rPr lang="en-US" sz="1700" dirty="0">
                <a:solidFill>
                  <a:srgbClr val="1B2B2E"/>
                </a:solidFill>
                <a:latin typeface="Calibri" pitchFamily="34" charset="0"/>
                <a:ea typeface="Calibri" pitchFamily="34" charset="-122"/>
                <a:cs typeface="Calibri" pitchFamily="34" charset="-120"/>
              </a:rPr>
              <a:t>Controlled launch — the first workflow goes live and performance is monitored closely</a:t>
            </a:r>
            <a:endParaRPr lang="en-US" sz="1700" dirty="0"/>
          </a:p>
        </p:txBody>
      </p:sp>
      <p:sp>
        <p:nvSpPr>
          <p:cNvPr id="10" name="Shape 8"/>
          <p:cNvSpPr/>
          <p:nvPr/>
        </p:nvSpPr>
        <p:spPr>
          <a:xfrm>
            <a:off x="822960" y="3651191"/>
            <a:ext cx="128016" cy="128016"/>
          </a:xfrm>
          <a:prstGeom prst="ellipse">
            <a:avLst/>
          </a:prstGeom>
          <a:solidFill>
            <a:srgbClr val="DBAA47"/>
          </a:solidFill>
          <a:ln/>
        </p:spPr>
        <p:txBody>
          <a:bodyPr/>
          <a:lstStyle/>
          <a:p>
            <a:endParaRPr lang="en-US"/>
          </a:p>
        </p:txBody>
      </p:sp>
      <p:sp>
        <p:nvSpPr>
          <p:cNvPr id="11" name="Text 9"/>
          <p:cNvSpPr/>
          <p:nvPr/>
        </p:nvSpPr>
        <p:spPr>
          <a:xfrm>
            <a:off x="1143000" y="3516141"/>
            <a:ext cx="9692640" cy="457200"/>
          </a:xfrm>
          <a:prstGeom prst="rect">
            <a:avLst/>
          </a:prstGeom>
          <a:noFill/>
          <a:ln/>
        </p:spPr>
        <p:txBody>
          <a:bodyPr wrap="square" rtlCol="0" anchor="ctr"/>
          <a:lstStyle/>
          <a:p>
            <a:pPr marL="0" indent="0">
              <a:buNone/>
            </a:pPr>
            <a:r>
              <a:rPr lang="en-US" sz="1700" dirty="0">
                <a:solidFill>
                  <a:srgbClr val="1B2B2E"/>
                </a:solidFill>
                <a:latin typeface="Calibri" pitchFamily="34" charset="0"/>
                <a:ea typeface="Calibri" pitchFamily="34" charset="-122"/>
                <a:cs typeface="Calibri" pitchFamily="34" charset="-120"/>
              </a:rPr>
              <a:t>Operate &amp; review — regular check-ins on results, staff experience, exceptions, and costs</a:t>
            </a:r>
            <a:endParaRPr lang="en-US" sz="1700" dirty="0"/>
          </a:p>
        </p:txBody>
      </p:sp>
      <p:sp>
        <p:nvSpPr>
          <p:cNvPr id="14" name="Shape 12"/>
          <p:cNvSpPr/>
          <p:nvPr/>
        </p:nvSpPr>
        <p:spPr>
          <a:xfrm>
            <a:off x="548640" y="5590735"/>
            <a:ext cx="10881360" cy="777240"/>
          </a:xfrm>
          <a:prstGeom prst="roundRect">
            <a:avLst>
              <a:gd name="adj" fmla="val 11765"/>
            </a:avLst>
          </a:prstGeom>
          <a:solidFill>
            <a:srgbClr val="F6F1DD"/>
          </a:solidFill>
          <a:ln w="12700">
            <a:solidFill>
              <a:srgbClr val="E6DDBE"/>
            </a:solidFill>
            <a:prstDash val="solid"/>
          </a:ln>
        </p:spPr>
        <p:txBody>
          <a:bodyPr/>
          <a:lstStyle/>
          <a:p>
            <a:endParaRPr lang="en-US"/>
          </a:p>
        </p:txBody>
      </p:sp>
      <p:sp>
        <p:nvSpPr>
          <p:cNvPr id="15" name="Text 13"/>
          <p:cNvSpPr/>
          <p:nvPr/>
        </p:nvSpPr>
        <p:spPr>
          <a:xfrm>
            <a:off x="822960" y="5590735"/>
            <a:ext cx="10332720" cy="777240"/>
          </a:xfrm>
          <a:prstGeom prst="rect">
            <a:avLst/>
          </a:prstGeom>
          <a:noFill/>
          <a:ln/>
        </p:spPr>
        <p:txBody>
          <a:bodyPr wrap="square" rtlCol="0" anchor="ctr"/>
          <a:lstStyle/>
          <a:p>
            <a:r>
              <a:rPr lang="en-US" sz="1500" i="1" dirty="0">
                <a:solidFill>
                  <a:srgbClr val="0B3B36"/>
                </a:solidFill>
                <a:latin typeface="Calibri" pitchFamily="34" charset="0"/>
                <a:ea typeface="Calibri" pitchFamily="34" charset="-122"/>
                <a:cs typeface="Calibri" pitchFamily="34" charset="-120"/>
              </a:rPr>
              <a:t>The 90-day clock starts at go-live of the first workflow — not at kickoff — so setup and testing time doesn't count against the evaluation window.</a:t>
            </a:r>
            <a:endParaRPr lang="en-US" sz="1500" dirty="0"/>
          </a:p>
        </p:txBody>
      </p:sp>
      <p:sp>
        <p:nvSpPr>
          <p:cNvPr id="16" name="Text 14"/>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E6857"/>
                </a:solidFill>
                <a:latin typeface="Calibri" pitchFamily="34" charset="0"/>
                <a:ea typeface="Calibri" pitchFamily="34" charset="-122"/>
                <a:cs typeface="Calibri" pitchFamily="34" charset="-120"/>
              </a:rPr>
              <a:t>Halo Holdings  •  Confidential — for discussion</a:t>
            </a:r>
            <a:endParaRPr lang="en-US" sz="900" dirty="0"/>
          </a:p>
        </p:txBody>
      </p:sp>
      <p:sp>
        <p:nvSpPr>
          <p:cNvPr id="17" name="Text 15"/>
          <p:cNvSpPr/>
          <p:nvPr/>
        </p:nvSpPr>
        <p:spPr>
          <a:xfrm>
            <a:off x="8988552" y="6473952"/>
            <a:ext cx="2743200" cy="274320"/>
          </a:xfrm>
          <a:prstGeom prst="rect">
            <a:avLst/>
          </a:prstGeom>
          <a:noFill/>
          <a:ln/>
        </p:spPr>
        <p:txBody>
          <a:bodyPr wrap="square" rtlCol="0" anchor="ctr"/>
          <a:lstStyle/>
          <a:p>
            <a:pPr marL="0" indent="0" algn="r">
              <a:buNone/>
            </a:pPr>
            <a:r>
              <a:rPr lang="en-US" sz="900" dirty="0">
                <a:solidFill>
                  <a:srgbClr val="6E6857"/>
                </a:solidFill>
                <a:latin typeface="Calibri" pitchFamily="34" charset="0"/>
                <a:ea typeface="Calibri" pitchFamily="34" charset="-122"/>
                <a:cs typeface="Calibri" pitchFamily="34" charset="-120"/>
              </a:rPr>
              <a:t>Pilot measures</a:t>
            </a:r>
            <a:endParaRPr lang="en-US" sz="900" dirty="0"/>
          </a:p>
        </p:txBody>
      </p:sp>
      <p:sp>
        <p:nvSpPr>
          <p:cNvPr id="19" name="Shape 8">
            <a:extLst>
              <a:ext uri="{FF2B5EF4-FFF2-40B4-BE49-F238E27FC236}">
                <a16:creationId xmlns:a16="http://schemas.microsoft.com/office/drawing/2014/main" id="{012E87EA-A499-258C-1E59-FC34AA19146B}"/>
              </a:ext>
            </a:extLst>
          </p:cNvPr>
          <p:cNvSpPr/>
          <p:nvPr/>
        </p:nvSpPr>
        <p:spPr>
          <a:xfrm>
            <a:off x="822960" y="4610452"/>
            <a:ext cx="128016" cy="128016"/>
          </a:xfrm>
          <a:prstGeom prst="ellipse">
            <a:avLst/>
          </a:prstGeom>
          <a:solidFill>
            <a:srgbClr val="DBAA47"/>
          </a:solidFill>
          <a:ln/>
        </p:spPr>
        <p:txBody>
          <a:bodyPr/>
          <a:lstStyle/>
          <a:p>
            <a:endParaRPr lang="en-US"/>
          </a:p>
        </p:txBody>
      </p:sp>
      <p:sp>
        <p:nvSpPr>
          <p:cNvPr id="21" name="Text 9">
            <a:extLst>
              <a:ext uri="{FF2B5EF4-FFF2-40B4-BE49-F238E27FC236}">
                <a16:creationId xmlns:a16="http://schemas.microsoft.com/office/drawing/2014/main" id="{714A7359-02C4-1ABE-3FD5-9E016AEE5DD2}"/>
              </a:ext>
            </a:extLst>
          </p:cNvPr>
          <p:cNvSpPr/>
          <p:nvPr/>
        </p:nvSpPr>
        <p:spPr>
          <a:xfrm>
            <a:off x="1143000" y="4445860"/>
            <a:ext cx="9692640" cy="457200"/>
          </a:xfrm>
          <a:prstGeom prst="rect">
            <a:avLst/>
          </a:prstGeom>
          <a:noFill/>
          <a:ln/>
        </p:spPr>
        <p:txBody>
          <a:bodyPr wrap="square" rtlCol="0" anchor="ctr"/>
          <a:lstStyle/>
          <a:p>
            <a:r>
              <a:rPr lang="en-US" sz="1600" dirty="0"/>
              <a:t>90-day decision — continue, adjust, expand, pause, or stop, based on the measures agreed with your team.</a:t>
            </a:r>
            <a:endParaRPr lang="en-US" sz="1700" i="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042B2B"/>
        </a:solidFill>
        <a:effectLst/>
      </p:bgPr>
    </p:bg>
    <p:spTree>
      <p:nvGrpSpPr>
        <p:cNvPr id="1" name=""/>
        <p:cNvGrpSpPr/>
        <p:nvPr/>
      </p:nvGrpSpPr>
      <p:grpSpPr>
        <a:xfrm>
          <a:off x="0" y="0"/>
          <a:ext cx="0" cy="0"/>
          <a:chOff x="0" y="0"/>
          <a:chExt cx="0" cy="0"/>
        </a:xfrm>
      </p:grpSpPr>
      <p:sp>
        <p:nvSpPr>
          <p:cNvPr id="2" name="Shape 0"/>
          <p:cNvSpPr/>
          <p:nvPr/>
        </p:nvSpPr>
        <p:spPr>
          <a:xfrm>
            <a:off x="9326880" y="-1371600"/>
            <a:ext cx="4572000" cy="4572000"/>
          </a:xfrm>
          <a:prstGeom prst="ellipse">
            <a:avLst/>
          </a:prstGeom>
          <a:solidFill>
            <a:srgbClr val="1E5A50">
              <a:alpha val="45000"/>
            </a:srgbClr>
          </a:solidFill>
          <a:ln/>
        </p:spPr>
        <p:txBody>
          <a:bodyPr/>
          <a:lstStyle/>
          <a:p>
            <a:endParaRPr lang="en-US"/>
          </a:p>
        </p:txBody>
      </p:sp>
      <p:sp>
        <p:nvSpPr>
          <p:cNvPr id="3" name="Shape 1"/>
          <p:cNvSpPr/>
          <p:nvPr/>
        </p:nvSpPr>
        <p:spPr>
          <a:xfrm>
            <a:off x="640080" y="502920"/>
            <a:ext cx="868680" cy="868680"/>
          </a:xfrm>
          <a:prstGeom prst="ellipse">
            <a:avLst/>
          </a:prstGeom>
          <a:solidFill>
            <a:srgbClr val="DBAA47"/>
          </a:solidFill>
          <a:ln/>
        </p:spPr>
        <p:txBody>
          <a:bodyPr/>
          <a:lstStyle/>
          <a:p>
            <a:endParaRPr lang="en-US"/>
          </a:p>
        </p:txBody>
      </p:sp>
      <p:pic>
        <p:nvPicPr>
          <p:cNvPr id="4" name="Image 0" descr="/home/claude/pptxgen/icons/handshake.png"/>
          <p:cNvPicPr>
            <a:picLocks noChangeAspect="1"/>
          </p:cNvPicPr>
          <p:nvPr/>
        </p:nvPicPr>
        <p:blipFill>
          <a:blip r:embed="rId3"/>
          <a:stretch>
            <a:fillRect/>
          </a:stretch>
        </p:blipFill>
        <p:spPr>
          <a:xfrm>
            <a:off x="841248" y="704088"/>
            <a:ext cx="466344" cy="466344"/>
          </a:xfrm>
          <a:prstGeom prst="rect">
            <a:avLst/>
          </a:prstGeom>
        </p:spPr>
      </p:pic>
      <p:sp>
        <p:nvSpPr>
          <p:cNvPr id="5" name="Text 2"/>
          <p:cNvSpPr/>
          <p:nvPr/>
        </p:nvSpPr>
        <p:spPr>
          <a:xfrm>
            <a:off x="1737359" y="457200"/>
            <a:ext cx="10212363" cy="5486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 low-risk Phase 1 pilot with transparent responsibilities and costs</a:t>
            </a:r>
            <a:endParaRPr lang="en-US" sz="3000" dirty="0"/>
          </a:p>
        </p:txBody>
      </p:sp>
      <p:sp>
        <p:nvSpPr>
          <p:cNvPr id="6" name="Text 3"/>
          <p:cNvSpPr/>
          <p:nvPr/>
        </p:nvSpPr>
        <p:spPr>
          <a:xfrm>
            <a:off x="1737360" y="1005840"/>
            <a:ext cx="8229600" cy="457200"/>
          </a:xfrm>
          <a:prstGeom prst="rect">
            <a:avLst/>
          </a:prstGeom>
          <a:noFill/>
          <a:ln/>
        </p:spPr>
        <p:txBody>
          <a:bodyPr wrap="square" rtlCol="0" anchor="ctr"/>
          <a:lstStyle/>
          <a:p>
            <a:pPr marL="0" indent="0">
              <a:buNone/>
            </a:pPr>
            <a:r>
              <a:rPr lang="en-US" sz="1600" i="1" dirty="0">
                <a:solidFill>
                  <a:srgbClr val="F0E9CE"/>
                </a:solidFill>
                <a:latin typeface="Calibri" pitchFamily="34" charset="0"/>
                <a:ea typeface="Calibri" pitchFamily="34" charset="-122"/>
                <a:cs typeface="Calibri" pitchFamily="34" charset="-120"/>
              </a:rPr>
              <a:t>Scope, responsibilities, costs, and decision points are documented before launch.</a:t>
            </a:r>
            <a:endParaRPr lang="en-US" sz="1600" dirty="0"/>
          </a:p>
        </p:txBody>
      </p:sp>
      <p:sp>
        <p:nvSpPr>
          <p:cNvPr id="7" name="Shape 4"/>
          <p:cNvSpPr/>
          <p:nvPr/>
        </p:nvSpPr>
        <p:spPr>
          <a:xfrm>
            <a:off x="822960" y="1965960"/>
            <a:ext cx="10515600" cy="1234440"/>
          </a:xfrm>
          <a:prstGeom prst="roundRect">
            <a:avLst>
              <a:gd name="adj" fmla="val 7407"/>
            </a:avLst>
          </a:prstGeom>
          <a:solidFill>
            <a:srgbClr val="0A3A34"/>
          </a:solidFill>
          <a:ln/>
        </p:spPr>
        <p:txBody>
          <a:bodyPr/>
          <a:lstStyle/>
          <a:p>
            <a:endParaRPr lang="en-US"/>
          </a:p>
        </p:txBody>
      </p:sp>
      <p:sp>
        <p:nvSpPr>
          <p:cNvPr id="8" name="Text 5"/>
          <p:cNvSpPr/>
          <p:nvPr/>
        </p:nvSpPr>
        <p:spPr>
          <a:xfrm>
            <a:off x="1143000" y="2130552"/>
            <a:ext cx="2926080" cy="914400"/>
          </a:xfrm>
          <a:prstGeom prst="rect">
            <a:avLst/>
          </a:prstGeom>
          <a:noFill/>
          <a:ln/>
        </p:spPr>
        <p:txBody>
          <a:bodyPr wrap="square" rtlCol="0" anchor="ctr"/>
          <a:lstStyle/>
          <a:p>
            <a:pPr marL="0" indent="0">
              <a:buNone/>
            </a:pPr>
            <a:r>
              <a:rPr lang="en-US" sz="1250" b="1" kern="0" spc="100" dirty="0">
                <a:solidFill>
                  <a:srgbClr val="DBAA47"/>
                </a:solidFill>
                <a:latin typeface="Calibri" pitchFamily="34" charset="0"/>
                <a:ea typeface="Calibri" pitchFamily="34" charset="-122"/>
                <a:cs typeface="Calibri" pitchFamily="34" charset="-120"/>
              </a:rPr>
              <a:t>COST TO YOUR PRACTICE</a:t>
            </a:r>
            <a:endParaRPr lang="en-US" sz="1250" dirty="0"/>
          </a:p>
        </p:txBody>
      </p:sp>
      <p:sp>
        <p:nvSpPr>
          <p:cNvPr id="9" name="Text 6"/>
          <p:cNvSpPr/>
          <p:nvPr/>
        </p:nvSpPr>
        <p:spPr>
          <a:xfrm>
            <a:off x="3704492" y="2130552"/>
            <a:ext cx="7359748" cy="914400"/>
          </a:xfrm>
          <a:prstGeom prst="rect">
            <a:avLst/>
          </a:prstGeom>
          <a:noFill/>
          <a:ln/>
        </p:spPr>
        <p:txBody>
          <a:bodyPr wrap="square" rtlCol="0" anchor="ctr"/>
          <a:lstStyle/>
          <a:p>
            <a:pPr marL="0" indent="0">
              <a:lnSpc>
                <a:spcPct val="120000"/>
              </a:lnSpc>
              <a:buNone/>
            </a:pPr>
            <a:r>
              <a:rPr lang="en-US" sz="1450" dirty="0">
                <a:solidFill>
                  <a:srgbClr val="FFFFFF"/>
                </a:solidFill>
                <a:latin typeface="Calibri" pitchFamily="34" charset="0"/>
                <a:ea typeface="Calibri" pitchFamily="34" charset="-122"/>
                <a:cs typeface="Calibri" pitchFamily="34" charset="-120"/>
              </a:rPr>
              <a:t>Setup and customization for all four Phase 1 workflows are free. The clinic covers only applicable third-party operating costs — estimated $150–215/month </a:t>
            </a:r>
            <a:br>
              <a:rPr lang="en-US" sz="1450" dirty="0">
                <a:solidFill>
                  <a:srgbClr val="FFFFFF"/>
                </a:solidFill>
                <a:latin typeface="Calibri" pitchFamily="34" charset="0"/>
                <a:ea typeface="Calibri" pitchFamily="34" charset="-122"/>
                <a:cs typeface="Calibri" pitchFamily="34" charset="-120"/>
              </a:rPr>
            </a:br>
            <a:r>
              <a:rPr lang="en-US" sz="1450" i="1" dirty="0">
                <a:solidFill>
                  <a:srgbClr val="FFFFFF"/>
                </a:solidFill>
                <a:latin typeface="Calibri" pitchFamily="34" charset="0"/>
                <a:ea typeface="Calibri" pitchFamily="34" charset="-122"/>
                <a:cs typeface="Calibri" pitchFamily="34" charset="-120"/>
              </a:rPr>
              <a:t>(see cost breakdown in next slide).</a:t>
            </a:r>
            <a:endParaRPr lang="en-US" sz="1450" i="1" dirty="0">
              <a:solidFill>
                <a:srgbClr val="FFFFFF"/>
              </a:solidFill>
            </a:endParaRPr>
          </a:p>
        </p:txBody>
      </p:sp>
      <p:sp>
        <p:nvSpPr>
          <p:cNvPr id="10" name="Shape 7"/>
          <p:cNvSpPr/>
          <p:nvPr/>
        </p:nvSpPr>
        <p:spPr>
          <a:xfrm>
            <a:off x="822960" y="3383280"/>
            <a:ext cx="10515600" cy="1234440"/>
          </a:xfrm>
          <a:prstGeom prst="roundRect">
            <a:avLst>
              <a:gd name="adj" fmla="val 7407"/>
            </a:avLst>
          </a:prstGeom>
          <a:solidFill>
            <a:srgbClr val="0A3A34"/>
          </a:solidFill>
          <a:ln/>
        </p:spPr>
        <p:txBody>
          <a:bodyPr/>
          <a:lstStyle/>
          <a:p>
            <a:endParaRPr lang="en-US"/>
          </a:p>
        </p:txBody>
      </p:sp>
      <p:sp>
        <p:nvSpPr>
          <p:cNvPr id="11" name="Text 8"/>
          <p:cNvSpPr/>
          <p:nvPr/>
        </p:nvSpPr>
        <p:spPr>
          <a:xfrm>
            <a:off x="1143000" y="3547872"/>
            <a:ext cx="2926080" cy="914400"/>
          </a:xfrm>
          <a:prstGeom prst="rect">
            <a:avLst/>
          </a:prstGeom>
          <a:noFill/>
          <a:ln/>
        </p:spPr>
        <p:txBody>
          <a:bodyPr wrap="square" rtlCol="0" anchor="ctr"/>
          <a:lstStyle/>
          <a:p>
            <a:pPr marL="0" indent="0">
              <a:buNone/>
            </a:pPr>
            <a:r>
              <a:rPr lang="en-US" sz="1250" b="1" kern="0" spc="100" dirty="0">
                <a:solidFill>
                  <a:srgbClr val="DBAA47"/>
                </a:solidFill>
                <a:latin typeface="Calibri" pitchFamily="34" charset="0"/>
                <a:ea typeface="Calibri" pitchFamily="34" charset="-122"/>
                <a:cs typeface="Calibri" pitchFamily="34" charset="-120"/>
              </a:rPr>
              <a:t>COMMITMENT</a:t>
            </a:r>
            <a:endParaRPr lang="en-US" sz="1250" dirty="0"/>
          </a:p>
        </p:txBody>
      </p:sp>
      <p:sp>
        <p:nvSpPr>
          <p:cNvPr id="12" name="Text 9"/>
          <p:cNvSpPr/>
          <p:nvPr/>
        </p:nvSpPr>
        <p:spPr>
          <a:xfrm>
            <a:off x="3704492" y="3547872"/>
            <a:ext cx="7359748" cy="914400"/>
          </a:xfrm>
          <a:prstGeom prst="rect">
            <a:avLst/>
          </a:prstGeom>
          <a:noFill/>
          <a:ln/>
        </p:spPr>
        <p:txBody>
          <a:bodyPr wrap="square" rtlCol="0" anchor="ctr"/>
          <a:lstStyle/>
          <a:p>
            <a:pPr marL="0" indent="0">
              <a:lnSpc>
                <a:spcPct val="120000"/>
              </a:lnSpc>
              <a:buNone/>
            </a:pPr>
            <a:r>
              <a:rPr lang="en-US" sz="1450" dirty="0">
                <a:solidFill>
                  <a:srgbClr val="FFFFFF"/>
                </a:solidFill>
                <a:latin typeface="Calibri" pitchFamily="34" charset="0"/>
                <a:ea typeface="Calibri" pitchFamily="34" charset="-122"/>
                <a:cs typeface="Calibri" pitchFamily="34" charset="-120"/>
              </a:rPr>
              <a:t>No long-term contract. The 90-day review clock starts once the first workflow is live — not at kickoff — and we decide together whether to continue, adjust, or expand to the remaining Phase 1 workflows.</a:t>
            </a:r>
            <a:endParaRPr lang="en-US" sz="1450" dirty="0"/>
          </a:p>
        </p:txBody>
      </p:sp>
      <p:sp>
        <p:nvSpPr>
          <p:cNvPr id="13" name="Shape 10"/>
          <p:cNvSpPr/>
          <p:nvPr/>
        </p:nvSpPr>
        <p:spPr>
          <a:xfrm>
            <a:off x="822960" y="4800600"/>
            <a:ext cx="10515600" cy="1234440"/>
          </a:xfrm>
          <a:prstGeom prst="roundRect">
            <a:avLst>
              <a:gd name="adj" fmla="val 7407"/>
            </a:avLst>
          </a:prstGeom>
          <a:solidFill>
            <a:srgbClr val="0A3A34"/>
          </a:solidFill>
          <a:ln/>
        </p:spPr>
        <p:txBody>
          <a:bodyPr/>
          <a:lstStyle/>
          <a:p>
            <a:endParaRPr lang="en-US"/>
          </a:p>
        </p:txBody>
      </p:sp>
      <p:sp>
        <p:nvSpPr>
          <p:cNvPr id="14" name="Text 11"/>
          <p:cNvSpPr/>
          <p:nvPr/>
        </p:nvSpPr>
        <p:spPr>
          <a:xfrm>
            <a:off x="1143000" y="4965192"/>
            <a:ext cx="2926080" cy="914400"/>
          </a:xfrm>
          <a:prstGeom prst="rect">
            <a:avLst/>
          </a:prstGeom>
          <a:noFill/>
          <a:ln/>
        </p:spPr>
        <p:txBody>
          <a:bodyPr wrap="square" rtlCol="0" anchor="ctr"/>
          <a:lstStyle/>
          <a:p>
            <a:pPr marL="0" indent="0">
              <a:buNone/>
            </a:pPr>
            <a:r>
              <a:rPr lang="en-US" sz="1250" b="1" kern="0" spc="100" dirty="0">
                <a:solidFill>
                  <a:srgbClr val="DBAA47"/>
                </a:solidFill>
                <a:latin typeface="Calibri" pitchFamily="34" charset="0"/>
                <a:ea typeface="Calibri" pitchFamily="34" charset="-122"/>
                <a:cs typeface="Calibri" pitchFamily="34" charset="-120"/>
              </a:rPr>
              <a:t>WHY WE'RE DOING THIS</a:t>
            </a:r>
            <a:endParaRPr lang="en-US" sz="1250" dirty="0"/>
          </a:p>
        </p:txBody>
      </p:sp>
      <p:sp>
        <p:nvSpPr>
          <p:cNvPr id="15" name="Text 12"/>
          <p:cNvSpPr/>
          <p:nvPr/>
        </p:nvSpPr>
        <p:spPr>
          <a:xfrm>
            <a:off x="3704492" y="4965192"/>
            <a:ext cx="7359748" cy="914400"/>
          </a:xfrm>
          <a:prstGeom prst="rect">
            <a:avLst/>
          </a:prstGeom>
          <a:noFill/>
          <a:ln/>
        </p:spPr>
        <p:txBody>
          <a:bodyPr wrap="square" rtlCol="0" anchor="ctr"/>
          <a:lstStyle/>
          <a:p>
            <a:pPr marL="0" indent="0">
              <a:lnSpc>
                <a:spcPct val="120000"/>
              </a:lnSpc>
              <a:buNone/>
            </a:pPr>
            <a:r>
              <a:rPr lang="en-US" sz="1450" dirty="0">
                <a:solidFill>
                  <a:srgbClr val="FFFFFF"/>
                </a:solidFill>
                <a:latin typeface="Calibri" pitchFamily="34" charset="0"/>
                <a:ea typeface="Calibri" pitchFamily="34" charset="-122"/>
                <a:cs typeface="Calibri" pitchFamily="34" charset="-120"/>
              </a:rPr>
              <a:t>To prove this genuinely helps a practice like yours — and to build a proven case study for other independent clinics.</a:t>
            </a:r>
            <a:endParaRPr lang="en-US" sz="1450" dirty="0">
              <a:solidFill>
                <a:srgbClr val="FFFFFF"/>
              </a:solidFill>
            </a:endParaRPr>
          </a:p>
        </p:txBody>
      </p:sp>
      <p:sp>
        <p:nvSpPr>
          <p:cNvPr id="17" name="Text 14"/>
          <p:cNvSpPr/>
          <p:nvPr/>
        </p:nvSpPr>
        <p:spPr>
          <a:xfrm>
            <a:off x="8988552" y="6473952"/>
            <a:ext cx="2743200" cy="274320"/>
          </a:xfrm>
          <a:prstGeom prst="rect">
            <a:avLst/>
          </a:prstGeom>
          <a:noFill/>
          <a:ln/>
        </p:spPr>
        <p:txBody>
          <a:bodyPr wrap="square" rtlCol="0" anchor="ctr"/>
          <a:lstStyle/>
          <a:p>
            <a:pPr marL="0" indent="0" algn="r">
              <a:buNone/>
            </a:pPr>
            <a:r>
              <a:rPr lang="en-US" sz="900" dirty="0">
                <a:solidFill>
                  <a:srgbClr val="6E6857"/>
                </a:solidFill>
                <a:latin typeface="Calibri" pitchFamily="34" charset="0"/>
                <a:ea typeface="Calibri" pitchFamily="34" charset="-122"/>
                <a:cs typeface="Calibri" pitchFamily="34" charset="-120"/>
              </a:rPr>
              <a:t>The pilot offer</a:t>
            </a:r>
            <a:endParaRPr lang="en-US" sz="900" dirty="0"/>
          </a:p>
        </p:txBody>
      </p:sp>
      <p:sp>
        <p:nvSpPr>
          <p:cNvPr id="18" name="Text 15"/>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A89D74"/>
                </a:solidFill>
                <a:latin typeface="Calibri" pitchFamily="34" charset="0"/>
                <a:ea typeface="Calibri" pitchFamily="34" charset="-122"/>
                <a:cs typeface="Calibri" pitchFamily="34" charset="-120"/>
              </a:rPr>
              <a:t>Halo Holdings  •  Confidential — for discussion</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9326880" y="-1371600"/>
            <a:ext cx="4572000" cy="4572000"/>
          </a:xfrm>
          <a:prstGeom prst="ellipse">
            <a:avLst/>
          </a:prstGeom>
          <a:solidFill>
            <a:srgbClr val="1E5A50">
              <a:alpha val="45000"/>
            </a:srgbClr>
          </a:solidFill>
          <a:ln/>
        </p:spPr>
        <p:txBody>
          <a:bodyPr/>
          <a:lstStyle/>
          <a:p>
            <a:endParaRPr lang="en-US"/>
          </a:p>
        </p:txBody>
      </p:sp>
      <p:sp>
        <p:nvSpPr>
          <p:cNvPr id="3" name="Shape 1"/>
          <p:cNvSpPr/>
          <p:nvPr/>
        </p:nvSpPr>
        <p:spPr>
          <a:xfrm>
            <a:off x="640080" y="502920"/>
            <a:ext cx="868680" cy="868680"/>
          </a:xfrm>
          <a:prstGeom prst="ellipse">
            <a:avLst/>
          </a:prstGeom>
          <a:solidFill>
            <a:srgbClr val="DBAA47"/>
          </a:solidFill>
          <a:ln/>
        </p:spPr>
        <p:txBody>
          <a:bodyPr/>
          <a:lstStyle/>
          <a:p>
            <a:endParaRPr lang="en-US"/>
          </a:p>
        </p:txBody>
      </p:sp>
      <p:pic>
        <p:nvPicPr>
          <p:cNvPr id="4" name="Image 0" descr="icon.png"/>
          <p:cNvPicPr>
            <a:picLocks noChangeAspect="1"/>
          </p:cNvPicPr>
          <p:nvPr/>
        </p:nvPicPr>
        <p:blipFill>
          <a:blip r:embed="rId3"/>
          <a:stretch>
            <a:fillRect/>
          </a:stretch>
        </p:blipFill>
        <p:spPr>
          <a:xfrm>
            <a:off x="841248" y="704088"/>
            <a:ext cx="466344" cy="466344"/>
          </a:xfrm>
          <a:prstGeom prst="rect">
            <a:avLst/>
          </a:prstGeom>
        </p:spPr>
      </p:pic>
      <p:sp>
        <p:nvSpPr>
          <p:cNvPr id="5" name="Text 2"/>
          <p:cNvSpPr/>
          <p:nvPr/>
        </p:nvSpPr>
        <p:spPr>
          <a:xfrm>
            <a:off x="1737360" y="457200"/>
            <a:ext cx="6583680" cy="548640"/>
          </a:xfrm>
          <a:prstGeom prst="rect">
            <a:avLst/>
          </a:prstGeom>
          <a:noFill/>
          <a:ln/>
        </p:spPr>
        <p:txBody>
          <a:bodyPr wrap="square" lIns="0" tIns="0" rIns="0" bIns="0" rtlCol="0" anchor="ctr"/>
          <a:lstStyle/>
          <a:p>
            <a:pPr marL="0" indent="0" algn="l">
              <a:buNone/>
            </a:pPr>
            <a:r>
              <a:rPr lang="en-US" sz="3000" b="1" dirty="0">
                <a:solidFill>
                  <a:srgbClr val="1B2B2E"/>
                </a:solidFill>
                <a:latin typeface="Cambria" pitchFamily="34" charset="0"/>
                <a:ea typeface="Cambria" pitchFamily="34" charset="-122"/>
                <a:cs typeface="Cambria" pitchFamily="34" charset="-120"/>
              </a:rPr>
              <a:t>What the monthly cost covers</a:t>
            </a:r>
            <a:endParaRPr lang="en-US" sz="3000" dirty="0"/>
          </a:p>
        </p:txBody>
      </p:sp>
      <p:sp>
        <p:nvSpPr>
          <p:cNvPr id="6" name="Text 3"/>
          <p:cNvSpPr/>
          <p:nvPr/>
        </p:nvSpPr>
        <p:spPr>
          <a:xfrm>
            <a:off x="1737360" y="960120"/>
            <a:ext cx="6583680" cy="457200"/>
          </a:xfrm>
          <a:prstGeom prst="rect">
            <a:avLst/>
          </a:prstGeom>
          <a:noFill/>
          <a:ln/>
        </p:spPr>
        <p:txBody>
          <a:bodyPr wrap="square" lIns="0" tIns="0" rIns="0" bIns="0" rtlCol="0" anchor="ctr"/>
          <a:lstStyle/>
          <a:p>
            <a:pPr marL="0" indent="0" algn="l">
              <a:buNone/>
            </a:pPr>
            <a:r>
              <a:rPr lang="en-US" sz="1600" i="1" dirty="0">
                <a:solidFill>
                  <a:srgbClr val="F0E9CE"/>
                </a:solidFill>
                <a:latin typeface="Calibri" pitchFamily="34" charset="0"/>
                <a:ea typeface="Calibri" pitchFamily="34" charset="-122"/>
                <a:cs typeface="Calibri" pitchFamily="34" charset="-120"/>
              </a:rPr>
              <a:t>Four services running quietly in the background.</a:t>
            </a:r>
            <a:endParaRPr lang="en-US" sz="1600" dirty="0"/>
          </a:p>
        </p:txBody>
      </p:sp>
      <p:sp>
        <p:nvSpPr>
          <p:cNvPr id="7" name="Shape 4"/>
          <p:cNvSpPr/>
          <p:nvPr/>
        </p:nvSpPr>
        <p:spPr>
          <a:xfrm>
            <a:off x="8503920" y="457200"/>
            <a:ext cx="2834640" cy="960120"/>
          </a:xfrm>
          <a:prstGeom prst="roundRect">
            <a:avLst>
              <a:gd name="adj" fmla="val 11429"/>
            </a:avLst>
          </a:prstGeom>
          <a:solidFill>
            <a:srgbClr val="DBAA47"/>
          </a:solidFill>
          <a:ln/>
        </p:spPr>
        <p:txBody>
          <a:bodyPr/>
          <a:lstStyle/>
          <a:p>
            <a:endParaRPr lang="en-US"/>
          </a:p>
        </p:txBody>
      </p:sp>
      <p:sp>
        <p:nvSpPr>
          <p:cNvPr id="8" name="Text 5"/>
          <p:cNvSpPr/>
          <p:nvPr/>
        </p:nvSpPr>
        <p:spPr>
          <a:xfrm>
            <a:off x="8503920" y="566928"/>
            <a:ext cx="2834640" cy="274320"/>
          </a:xfrm>
          <a:prstGeom prst="rect">
            <a:avLst/>
          </a:prstGeom>
          <a:noFill/>
          <a:ln/>
        </p:spPr>
        <p:txBody>
          <a:bodyPr wrap="square" lIns="0" tIns="0" rIns="0" bIns="0" rtlCol="0" anchor="ctr"/>
          <a:lstStyle/>
          <a:p>
            <a:pPr marL="0" indent="0" algn="ctr">
              <a:buNone/>
            </a:pPr>
            <a:r>
              <a:rPr lang="en-US" sz="1100" b="1" kern="0" spc="100" dirty="0">
                <a:solidFill>
                  <a:srgbClr val="0B3B36"/>
                </a:solidFill>
                <a:latin typeface="Calibri" pitchFamily="34" charset="0"/>
                <a:ea typeface="Calibri" pitchFamily="34" charset="-122"/>
                <a:cs typeface="Calibri" pitchFamily="34" charset="-120"/>
              </a:rPr>
              <a:t>ESTIMATED TOTAL</a:t>
            </a:r>
            <a:endParaRPr lang="en-US" sz="1100" dirty="0"/>
          </a:p>
        </p:txBody>
      </p:sp>
      <p:sp>
        <p:nvSpPr>
          <p:cNvPr id="9" name="Text 6"/>
          <p:cNvSpPr/>
          <p:nvPr/>
        </p:nvSpPr>
        <p:spPr>
          <a:xfrm>
            <a:off x="8503920" y="841248"/>
            <a:ext cx="2834640" cy="457200"/>
          </a:xfrm>
          <a:prstGeom prst="rect">
            <a:avLst/>
          </a:prstGeom>
          <a:noFill/>
          <a:ln/>
        </p:spPr>
        <p:txBody>
          <a:bodyPr wrap="square" lIns="0" tIns="0" rIns="0" bIns="0" rtlCol="0" anchor="ctr"/>
          <a:lstStyle/>
          <a:p>
            <a:pPr marL="0" indent="0" algn="ctr">
              <a:buNone/>
            </a:pPr>
            <a:r>
              <a:rPr lang="en-US" sz="2200" b="1" dirty="0">
                <a:solidFill>
                  <a:srgbClr val="0B3B36"/>
                </a:solidFill>
                <a:latin typeface="Cambria" pitchFamily="34" charset="0"/>
                <a:ea typeface="Cambria" pitchFamily="34" charset="-122"/>
                <a:cs typeface="Cambria" pitchFamily="34" charset="-120"/>
              </a:rPr>
              <a:t>$150–215/mo</a:t>
            </a:r>
            <a:endParaRPr lang="en-US" sz="2200" dirty="0"/>
          </a:p>
        </p:txBody>
      </p:sp>
      <p:sp>
        <p:nvSpPr>
          <p:cNvPr id="10" name="Shape 7"/>
          <p:cNvSpPr/>
          <p:nvPr/>
        </p:nvSpPr>
        <p:spPr>
          <a:xfrm>
            <a:off x="822960" y="1783080"/>
            <a:ext cx="10515600" cy="868680"/>
          </a:xfrm>
          <a:prstGeom prst="roundRect">
            <a:avLst>
              <a:gd name="adj" fmla="val 9474"/>
            </a:avLst>
          </a:prstGeom>
          <a:solidFill>
            <a:srgbClr val="0A3A34"/>
          </a:solidFill>
          <a:ln/>
        </p:spPr>
        <p:txBody>
          <a:bodyPr/>
          <a:lstStyle/>
          <a:p>
            <a:endParaRPr lang="en-US"/>
          </a:p>
        </p:txBody>
      </p:sp>
      <p:sp>
        <p:nvSpPr>
          <p:cNvPr id="11" name="Text 8"/>
          <p:cNvSpPr/>
          <p:nvPr/>
        </p:nvSpPr>
        <p:spPr>
          <a:xfrm>
            <a:off x="1143000" y="1892808"/>
            <a:ext cx="2926080" cy="274320"/>
          </a:xfrm>
          <a:prstGeom prst="rect">
            <a:avLst/>
          </a:prstGeom>
          <a:noFill/>
          <a:ln/>
        </p:spPr>
        <p:txBody>
          <a:bodyPr wrap="square" lIns="0" tIns="0" rIns="0" bIns="0" rtlCol="0" anchor="ctr"/>
          <a:lstStyle/>
          <a:p>
            <a:pPr marL="0" indent="0" algn="l">
              <a:buNone/>
            </a:pPr>
            <a:r>
              <a:rPr lang="en-US" sz="1200" b="1" kern="0" spc="100" dirty="0">
                <a:solidFill>
                  <a:srgbClr val="DBAA47"/>
                </a:solidFill>
                <a:latin typeface="Calibri" pitchFamily="34" charset="0"/>
                <a:ea typeface="Calibri" pitchFamily="34" charset="-122"/>
                <a:cs typeface="Calibri" pitchFamily="34" charset="-120"/>
              </a:rPr>
              <a:t>MESSAGING &amp; REMINDERS</a:t>
            </a:r>
            <a:endParaRPr lang="en-US" sz="1200" dirty="0"/>
          </a:p>
        </p:txBody>
      </p:sp>
      <p:sp>
        <p:nvSpPr>
          <p:cNvPr id="12" name="Text 9"/>
          <p:cNvSpPr/>
          <p:nvPr/>
        </p:nvSpPr>
        <p:spPr>
          <a:xfrm>
            <a:off x="1143000" y="2185416"/>
            <a:ext cx="2926080" cy="365760"/>
          </a:xfrm>
          <a:prstGeom prst="rect">
            <a:avLst/>
          </a:prstGeom>
          <a:noFill/>
          <a:ln/>
        </p:spPr>
        <p:txBody>
          <a:bodyPr wrap="square" lIns="0" tIns="0" rIns="0" bIns="0"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$20–45/mo</a:t>
            </a:r>
            <a:endParaRPr lang="en-US" sz="1800" dirty="0"/>
          </a:p>
        </p:txBody>
      </p:sp>
      <p:sp>
        <p:nvSpPr>
          <p:cNvPr id="13" name="Text 10"/>
          <p:cNvSpPr/>
          <p:nvPr/>
        </p:nvSpPr>
        <p:spPr>
          <a:xfrm>
            <a:off x="4114800" y="1783080"/>
            <a:ext cx="6903720" cy="868680"/>
          </a:xfrm>
          <a:prstGeom prst="rect">
            <a:avLst/>
          </a:prstGeom>
          <a:noFill/>
          <a:ln/>
        </p:spPr>
        <p:txBody>
          <a:bodyPr wrap="square" lIns="0" tIns="0" rIns="0" bIns="0" rtlCol="0" anchor="ctr"/>
          <a:lstStyle/>
          <a:p>
            <a:pPr marL="0" indent="0" algn="l">
              <a:lnSpc>
                <a:spcPct val="115000"/>
              </a:lnSpc>
              <a:buNone/>
            </a:pPr>
            <a:r>
              <a:rPr lang="en-US" sz="1300" dirty="0">
                <a:solidFill>
                  <a:srgbClr val="FFFFFF"/>
                </a:solidFill>
                <a:latin typeface="Calibri" pitchFamily="34" charset="0"/>
                <a:ea typeface="Calibri" pitchFamily="34" charset="-122"/>
                <a:cs typeface="Calibri" pitchFamily="34" charset="-120"/>
              </a:rPr>
              <a:t>Text reminders, confirmations, and outreach for preventive-care visits.</a:t>
            </a:r>
            <a:endParaRPr lang="en-US" sz="1300" dirty="0"/>
          </a:p>
        </p:txBody>
      </p:sp>
      <p:sp>
        <p:nvSpPr>
          <p:cNvPr id="14" name="Shape 11"/>
          <p:cNvSpPr/>
          <p:nvPr/>
        </p:nvSpPr>
        <p:spPr>
          <a:xfrm>
            <a:off x="822960" y="2788920"/>
            <a:ext cx="10515600" cy="868680"/>
          </a:xfrm>
          <a:prstGeom prst="roundRect">
            <a:avLst>
              <a:gd name="adj" fmla="val 9474"/>
            </a:avLst>
          </a:prstGeom>
          <a:solidFill>
            <a:srgbClr val="0A3A34"/>
          </a:solidFill>
          <a:ln/>
        </p:spPr>
        <p:txBody>
          <a:bodyPr/>
          <a:lstStyle/>
          <a:p>
            <a:endParaRPr lang="en-US"/>
          </a:p>
        </p:txBody>
      </p:sp>
      <p:sp>
        <p:nvSpPr>
          <p:cNvPr id="15" name="Text 12"/>
          <p:cNvSpPr/>
          <p:nvPr/>
        </p:nvSpPr>
        <p:spPr>
          <a:xfrm>
            <a:off x="1143000" y="2898648"/>
            <a:ext cx="2926080" cy="274320"/>
          </a:xfrm>
          <a:prstGeom prst="rect">
            <a:avLst/>
          </a:prstGeom>
          <a:noFill/>
          <a:ln/>
        </p:spPr>
        <p:txBody>
          <a:bodyPr wrap="square" lIns="0" tIns="0" rIns="0" bIns="0" rtlCol="0" anchor="ctr"/>
          <a:lstStyle/>
          <a:p>
            <a:pPr marL="0" indent="0" algn="l">
              <a:buNone/>
            </a:pPr>
            <a:r>
              <a:rPr lang="en-US" sz="1200" b="1" kern="0" spc="100" dirty="0">
                <a:solidFill>
                  <a:srgbClr val="DBAA47"/>
                </a:solidFill>
                <a:latin typeface="Calibri" pitchFamily="34" charset="0"/>
                <a:ea typeface="Calibri" pitchFamily="34" charset="-122"/>
                <a:cs typeface="Calibri" pitchFamily="34" charset="-120"/>
              </a:rPr>
              <a:t>INSURANCE VERIFICATION</a:t>
            </a:r>
            <a:endParaRPr lang="en-US" sz="1200" dirty="0"/>
          </a:p>
        </p:txBody>
      </p:sp>
      <p:sp>
        <p:nvSpPr>
          <p:cNvPr id="16" name="Text 13"/>
          <p:cNvSpPr/>
          <p:nvPr/>
        </p:nvSpPr>
        <p:spPr>
          <a:xfrm>
            <a:off x="1143000" y="3191256"/>
            <a:ext cx="2926080" cy="365760"/>
          </a:xfrm>
          <a:prstGeom prst="rect">
            <a:avLst/>
          </a:prstGeom>
          <a:noFill/>
          <a:ln/>
        </p:spPr>
        <p:txBody>
          <a:bodyPr wrap="square" lIns="0" tIns="0" rIns="0" bIns="0"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$80–100/mo</a:t>
            </a:r>
            <a:endParaRPr lang="en-US" sz="1800" dirty="0"/>
          </a:p>
        </p:txBody>
      </p:sp>
      <p:sp>
        <p:nvSpPr>
          <p:cNvPr id="17" name="Text 14"/>
          <p:cNvSpPr/>
          <p:nvPr/>
        </p:nvSpPr>
        <p:spPr>
          <a:xfrm>
            <a:off x="4114800" y="2788920"/>
            <a:ext cx="6903720" cy="868680"/>
          </a:xfrm>
          <a:prstGeom prst="rect">
            <a:avLst/>
          </a:prstGeom>
          <a:noFill/>
          <a:ln/>
        </p:spPr>
        <p:txBody>
          <a:bodyPr wrap="square" lIns="0" tIns="0" rIns="0" bIns="0" rtlCol="0" anchor="ctr"/>
          <a:lstStyle/>
          <a:p>
            <a:pPr marL="0" indent="0" algn="l">
              <a:lnSpc>
                <a:spcPct val="115000"/>
              </a:lnSpc>
              <a:buNone/>
            </a:pPr>
            <a:r>
              <a:rPr lang="en-US" sz="1300" dirty="0">
                <a:solidFill>
                  <a:srgbClr val="FFFFFF"/>
                </a:solidFill>
                <a:latin typeface="Calibri" pitchFamily="34" charset="0"/>
                <a:ea typeface="Calibri" pitchFamily="34" charset="-122"/>
                <a:cs typeface="Calibri" pitchFamily="34" charset="-120"/>
              </a:rPr>
              <a:t>Automatic eligibility checks with your top insurance plans before each visit.</a:t>
            </a:r>
            <a:endParaRPr lang="en-US" sz="1300" dirty="0"/>
          </a:p>
        </p:txBody>
      </p:sp>
      <p:sp>
        <p:nvSpPr>
          <p:cNvPr id="18" name="Shape 15"/>
          <p:cNvSpPr/>
          <p:nvPr/>
        </p:nvSpPr>
        <p:spPr>
          <a:xfrm>
            <a:off x="822960" y="3794760"/>
            <a:ext cx="10515600" cy="868680"/>
          </a:xfrm>
          <a:prstGeom prst="roundRect">
            <a:avLst>
              <a:gd name="adj" fmla="val 9474"/>
            </a:avLst>
          </a:prstGeom>
          <a:solidFill>
            <a:srgbClr val="0A3A34"/>
          </a:solidFill>
          <a:ln/>
        </p:spPr>
        <p:txBody>
          <a:bodyPr/>
          <a:lstStyle/>
          <a:p>
            <a:endParaRPr lang="en-US"/>
          </a:p>
        </p:txBody>
      </p:sp>
      <p:sp>
        <p:nvSpPr>
          <p:cNvPr id="19" name="Text 16"/>
          <p:cNvSpPr/>
          <p:nvPr/>
        </p:nvSpPr>
        <p:spPr>
          <a:xfrm>
            <a:off x="1143000" y="3904488"/>
            <a:ext cx="2926080" cy="274320"/>
          </a:xfrm>
          <a:prstGeom prst="rect">
            <a:avLst/>
          </a:prstGeom>
          <a:noFill/>
          <a:ln/>
        </p:spPr>
        <p:txBody>
          <a:bodyPr wrap="square" lIns="0" tIns="0" rIns="0" bIns="0" rtlCol="0" anchor="ctr"/>
          <a:lstStyle/>
          <a:p>
            <a:pPr marL="0" indent="0" algn="l">
              <a:buNone/>
            </a:pPr>
            <a:r>
              <a:rPr lang="en-US" sz="1200" b="1" kern="0" spc="100" dirty="0">
                <a:solidFill>
                  <a:srgbClr val="DBAA47"/>
                </a:solidFill>
                <a:latin typeface="Calibri" pitchFamily="34" charset="0"/>
                <a:ea typeface="Calibri" pitchFamily="34" charset="-122"/>
                <a:cs typeface="Calibri" pitchFamily="34" charset="-120"/>
              </a:rPr>
              <a:t>FAX HANDLING</a:t>
            </a:r>
            <a:endParaRPr lang="en-US" sz="1200" dirty="0"/>
          </a:p>
        </p:txBody>
      </p:sp>
      <p:sp>
        <p:nvSpPr>
          <p:cNvPr id="20" name="Text 17"/>
          <p:cNvSpPr/>
          <p:nvPr/>
        </p:nvSpPr>
        <p:spPr>
          <a:xfrm>
            <a:off x="1143000" y="4197096"/>
            <a:ext cx="2926080" cy="365760"/>
          </a:xfrm>
          <a:prstGeom prst="rect">
            <a:avLst/>
          </a:prstGeom>
          <a:noFill/>
          <a:ln/>
        </p:spPr>
        <p:txBody>
          <a:bodyPr wrap="square" lIns="0" tIns="0" rIns="0" bIns="0"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$15–40/mo</a:t>
            </a:r>
            <a:endParaRPr lang="en-US" sz="1800" dirty="0"/>
          </a:p>
        </p:txBody>
      </p:sp>
      <p:sp>
        <p:nvSpPr>
          <p:cNvPr id="21" name="Text 18"/>
          <p:cNvSpPr/>
          <p:nvPr/>
        </p:nvSpPr>
        <p:spPr>
          <a:xfrm>
            <a:off x="4114800" y="3794760"/>
            <a:ext cx="6903720" cy="868680"/>
          </a:xfrm>
          <a:prstGeom prst="rect">
            <a:avLst/>
          </a:prstGeom>
          <a:noFill/>
          <a:ln/>
        </p:spPr>
        <p:txBody>
          <a:bodyPr wrap="square" lIns="0" tIns="0" rIns="0" bIns="0" rtlCol="0" anchor="ctr"/>
          <a:lstStyle/>
          <a:p>
            <a:pPr marL="0" indent="0" algn="l">
              <a:lnSpc>
                <a:spcPct val="115000"/>
              </a:lnSpc>
              <a:buNone/>
            </a:pPr>
            <a:r>
              <a:rPr lang="en-US" sz="1300" dirty="0">
                <a:solidFill>
                  <a:srgbClr val="FFFFFF"/>
                </a:solidFill>
                <a:latin typeface="Calibri" pitchFamily="34" charset="0"/>
                <a:ea typeface="Calibri" pitchFamily="34" charset="-122"/>
                <a:cs typeface="Calibri" pitchFamily="34" charset="-120"/>
              </a:rPr>
              <a:t>Routing for records coming in and going out of your office.</a:t>
            </a:r>
            <a:endParaRPr lang="en-US" sz="1300" dirty="0"/>
          </a:p>
        </p:txBody>
      </p:sp>
      <p:sp>
        <p:nvSpPr>
          <p:cNvPr id="22" name="Shape 19"/>
          <p:cNvSpPr/>
          <p:nvPr/>
        </p:nvSpPr>
        <p:spPr>
          <a:xfrm>
            <a:off x="822960" y="4800600"/>
            <a:ext cx="10515600" cy="868680"/>
          </a:xfrm>
          <a:prstGeom prst="roundRect">
            <a:avLst>
              <a:gd name="adj" fmla="val 9474"/>
            </a:avLst>
          </a:prstGeom>
          <a:solidFill>
            <a:srgbClr val="0A3A34"/>
          </a:solidFill>
          <a:ln/>
        </p:spPr>
        <p:txBody>
          <a:bodyPr/>
          <a:lstStyle/>
          <a:p>
            <a:endParaRPr lang="en-US"/>
          </a:p>
        </p:txBody>
      </p:sp>
      <p:sp>
        <p:nvSpPr>
          <p:cNvPr id="23" name="Text 20"/>
          <p:cNvSpPr/>
          <p:nvPr/>
        </p:nvSpPr>
        <p:spPr>
          <a:xfrm>
            <a:off x="1143000" y="4910328"/>
            <a:ext cx="2926080" cy="274320"/>
          </a:xfrm>
          <a:prstGeom prst="rect">
            <a:avLst/>
          </a:prstGeom>
          <a:noFill/>
          <a:ln/>
        </p:spPr>
        <p:txBody>
          <a:bodyPr wrap="square" lIns="0" tIns="0" rIns="0" bIns="0" rtlCol="0" anchor="ctr"/>
          <a:lstStyle/>
          <a:p>
            <a:pPr marL="0" indent="0" algn="l">
              <a:buNone/>
            </a:pPr>
            <a:r>
              <a:rPr lang="en-US" sz="1200" b="1" kern="0" spc="100" dirty="0">
                <a:solidFill>
                  <a:srgbClr val="DBAA47"/>
                </a:solidFill>
                <a:latin typeface="Calibri" pitchFamily="34" charset="0"/>
                <a:ea typeface="Calibri" pitchFamily="34" charset="-122"/>
                <a:cs typeface="Calibri" pitchFamily="34" charset="-120"/>
              </a:rPr>
              <a:t>SYSTEM HOSTING</a:t>
            </a:r>
            <a:endParaRPr lang="en-US" sz="1200" dirty="0"/>
          </a:p>
        </p:txBody>
      </p:sp>
      <p:sp>
        <p:nvSpPr>
          <p:cNvPr id="24" name="Text 21"/>
          <p:cNvSpPr/>
          <p:nvPr/>
        </p:nvSpPr>
        <p:spPr>
          <a:xfrm>
            <a:off x="1143000" y="5202936"/>
            <a:ext cx="2926080" cy="365760"/>
          </a:xfrm>
          <a:prstGeom prst="rect">
            <a:avLst/>
          </a:prstGeom>
          <a:noFill/>
          <a:ln/>
        </p:spPr>
        <p:txBody>
          <a:bodyPr wrap="square" lIns="0" tIns="0" rIns="0" bIns="0"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$30/mo</a:t>
            </a:r>
            <a:endParaRPr lang="en-US" sz="1800" dirty="0"/>
          </a:p>
        </p:txBody>
      </p:sp>
      <p:sp>
        <p:nvSpPr>
          <p:cNvPr id="25" name="Text 22"/>
          <p:cNvSpPr/>
          <p:nvPr/>
        </p:nvSpPr>
        <p:spPr>
          <a:xfrm>
            <a:off x="4114800" y="4800600"/>
            <a:ext cx="6903720" cy="868680"/>
          </a:xfrm>
          <a:prstGeom prst="rect">
            <a:avLst/>
          </a:prstGeom>
          <a:noFill/>
          <a:ln/>
        </p:spPr>
        <p:txBody>
          <a:bodyPr wrap="square" lIns="0" tIns="0" rIns="0" bIns="0" rtlCol="0" anchor="ctr"/>
          <a:lstStyle/>
          <a:p>
            <a:pPr marL="0" indent="0" algn="l">
              <a:lnSpc>
                <a:spcPct val="115000"/>
              </a:lnSpc>
              <a:buNone/>
            </a:pPr>
            <a:r>
              <a:rPr lang="en-US" sz="1300" dirty="0">
                <a:solidFill>
                  <a:srgbClr val="FFFFFF"/>
                </a:solidFill>
                <a:latin typeface="Calibri" pitchFamily="34" charset="0"/>
                <a:ea typeface="Calibri" pitchFamily="34" charset="-122"/>
                <a:cs typeface="Calibri" pitchFamily="34" charset="-120"/>
              </a:rPr>
              <a:t>Hosting and technical services used to operate the approved pilot workflows.</a:t>
            </a:r>
            <a:endParaRPr lang="en-US" sz="1300" dirty="0"/>
          </a:p>
        </p:txBody>
      </p:sp>
      <p:sp>
        <p:nvSpPr>
          <p:cNvPr id="26" name="Text 23"/>
          <p:cNvSpPr/>
          <p:nvPr/>
        </p:nvSpPr>
        <p:spPr>
          <a:xfrm>
            <a:off x="822960" y="5879592"/>
            <a:ext cx="10908792" cy="457200"/>
          </a:xfrm>
          <a:prstGeom prst="rect">
            <a:avLst/>
          </a:prstGeom>
          <a:noFill/>
          <a:ln/>
        </p:spPr>
        <p:txBody>
          <a:bodyPr wrap="square" lIns="0" tIns="0" rIns="0" bIns="0" rtlCol="0" anchor="t"/>
          <a:lstStyle/>
          <a:p>
            <a:pPr marL="0" indent="0" algn="l">
              <a:lnSpc>
                <a:spcPct val="115000"/>
              </a:lnSpc>
              <a:buNone/>
            </a:pPr>
            <a:r>
              <a:rPr lang="en-US" sz="1200" i="1" dirty="0">
                <a:solidFill>
                  <a:srgbClr val="FFCC66"/>
                </a:solidFill>
                <a:latin typeface="Calibri" pitchFamily="34" charset="0"/>
                <a:ea typeface="Calibri" pitchFamily="34" charset="-122"/>
                <a:cs typeface="Calibri" pitchFamily="34" charset="-120"/>
              </a:rPr>
              <a:t>A working estimate, confirmed against actual usage as each workflow goes live — costs apply only to workflows already activated. Setup costs are ours to cover; this is only what keeps the system running each month.</a:t>
            </a:r>
            <a:endParaRPr lang="en-US" sz="1200" dirty="0">
              <a:solidFill>
                <a:srgbClr val="FFCC66"/>
              </a:solidFill>
            </a:endParaRPr>
          </a:p>
        </p:txBody>
      </p:sp>
      <p:sp>
        <p:nvSpPr>
          <p:cNvPr id="27" name="Text 24"/>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A89D74"/>
                </a:solidFill>
                <a:latin typeface="Calibri" pitchFamily="34" charset="0"/>
                <a:ea typeface="Calibri" pitchFamily="34" charset="-122"/>
                <a:cs typeface="Calibri" pitchFamily="34" charset="-120"/>
              </a:rPr>
              <a:t>Halo Holdings  •  Confidential — for discussion</a:t>
            </a:r>
            <a:endParaRPr lang="en-US" sz="900" dirty="0"/>
          </a:p>
        </p:txBody>
      </p:sp>
      <p:sp>
        <p:nvSpPr>
          <p:cNvPr id="28" name="Text 25"/>
          <p:cNvSpPr/>
          <p:nvPr/>
        </p:nvSpPr>
        <p:spPr>
          <a:xfrm>
            <a:off x="8988552" y="6473952"/>
            <a:ext cx="2743200" cy="274320"/>
          </a:xfrm>
          <a:prstGeom prst="rect">
            <a:avLst/>
          </a:prstGeom>
          <a:noFill/>
          <a:ln/>
        </p:spPr>
        <p:txBody>
          <a:bodyPr wrap="square" lIns="0" tIns="0" rIns="0" bIns="0" rtlCol="0" anchor="ctr"/>
          <a:lstStyle/>
          <a:p>
            <a:pPr marL="0" indent="0" algn="r">
              <a:buNone/>
            </a:pPr>
            <a:r>
              <a:rPr lang="en-US" sz="900" dirty="0">
                <a:solidFill>
                  <a:srgbClr val="6E6857"/>
                </a:solidFill>
                <a:latin typeface="Calibri" pitchFamily="34" charset="0"/>
                <a:ea typeface="Calibri" pitchFamily="34" charset="-122"/>
                <a:cs typeface="Calibri" pitchFamily="34" charset="-120"/>
              </a:rPr>
              <a:t>The cost, in detail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868680" cy="868680"/>
          </a:xfrm>
          <a:prstGeom prst="ellipse">
            <a:avLst/>
          </a:prstGeom>
          <a:solidFill>
            <a:srgbClr val="DBAA47"/>
          </a:solidFill>
          <a:ln/>
        </p:spPr>
        <p:txBody>
          <a:bodyPr/>
          <a:lstStyle/>
          <a:p>
            <a:endParaRPr lang="en-US"/>
          </a:p>
        </p:txBody>
      </p:sp>
      <p:pic>
        <p:nvPicPr>
          <p:cNvPr id="3" name="Image 0" descr="/home/claude/pptxgen/icons/heart.png"/>
          <p:cNvPicPr>
            <a:picLocks noChangeAspect="1"/>
          </p:cNvPicPr>
          <p:nvPr/>
        </p:nvPicPr>
        <p:blipFill>
          <a:blip r:embed="rId2"/>
          <a:stretch>
            <a:fillRect/>
          </a:stretch>
        </p:blipFill>
        <p:spPr>
          <a:xfrm>
            <a:off x="841248" y="704088"/>
            <a:ext cx="466344" cy="466344"/>
          </a:xfrm>
          <a:prstGeom prst="rect">
            <a:avLst/>
          </a:prstGeom>
        </p:spPr>
      </p:pic>
      <p:sp>
        <p:nvSpPr>
          <p:cNvPr id="4" name="Text 1"/>
          <p:cNvSpPr/>
          <p:nvPr/>
        </p:nvSpPr>
        <p:spPr>
          <a:xfrm>
            <a:off x="1737360" y="457200"/>
            <a:ext cx="9601200" cy="548640"/>
          </a:xfrm>
          <a:prstGeom prst="rect">
            <a:avLst/>
          </a:prstGeom>
          <a:noFill/>
          <a:ln/>
        </p:spPr>
        <p:txBody>
          <a:bodyPr wrap="square" rtlCol="0" anchor="ctr"/>
          <a:lstStyle/>
          <a:p>
            <a:pPr marL="0" indent="0">
              <a:buNone/>
            </a:pPr>
            <a:r>
              <a:rPr lang="en-US" sz="2200" b="1" dirty="0">
                <a:solidFill>
                  <a:srgbClr val="1B2B2E"/>
                </a:solidFill>
                <a:latin typeface="Cambria" pitchFamily="34" charset="0"/>
                <a:ea typeface="Cambria" pitchFamily="34" charset="-122"/>
                <a:cs typeface="Cambria" pitchFamily="34" charset="-120"/>
              </a:rPr>
              <a:t>Future options, considered only after Phase 1 succeeds</a:t>
            </a:r>
            <a:endParaRPr lang="en-US" sz="2200" dirty="0"/>
          </a:p>
        </p:txBody>
      </p:sp>
      <p:sp>
        <p:nvSpPr>
          <p:cNvPr id="5" name="Text 2"/>
          <p:cNvSpPr/>
          <p:nvPr/>
        </p:nvSpPr>
        <p:spPr>
          <a:xfrm>
            <a:off x="1737360" y="987552"/>
            <a:ext cx="9601200" cy="457200"/>
          </a:xfrm>
          <a:prstGeom prst="rect">
            <a:avLst/>
          </a:prstGeom>
          <a:noFill/>
          <a:ln/>
        </p:spPr>
        <p:txBody>
          <a:bodyPr wrap="square" rtlCol="0" anchor="ctr"/>
          <a:lstStyle/>
          <a:p>
            <a:pPr marL="0" indent="0">
              <a:buNone/>
            </a:pPr>
            <a:r>
              <a:rPr lang="en-US" sz="1500" dirty="0">
                <a:solidFill>
                  <a:srgbClr val="6E6857"/>
                </a:solidFill>
                <a:latin typeface="Calibri" pitchFamily="34" charset="0"/>
                <a:ea typeface="Calibri" pitchFamily="34" charset="-122"/>
                <a:cs typeface="Calibri" pitchFamily="34" charset="-120"/>
              </a:rPr>
              <a:t>Optional, separately priced expansions — not part of the free Phase 1 setup.</a:t>
            </a:r>
            <a:endParaRPr lang="en-US" sz="1500" dirty="0"/>
          </a:p>
        </p:txBody>
      </p:sp>
      <p:sp>
        <p:nvSpPr>
          <p:cNvPr id="6" name="Shape 3"/>
          <p:cNvSpPr/>
          <p:nvPr/>
        </p:nvSpPr>
        <p:spPr>
          <a:xfrm>
            <a:off x="640080" y="1965960"/>
            <a:ext cx="5120640" cy="3248308"/>
          </a:xfrm>
          <a:prstGeom prst="roundRect">
            <a:avLst>
              <a:gd name="adj" fmla="val 5263"/>
            </a:avLst>
          </a:prstGeom>
          <a:solidFill>
            <a:srgbClr val="F6F1DD"/>
          </a:solidFill>
          <a:ln w="12700">
            <a:solidFill>
              <a:srgbClr val="E6DDBE"/>
            </a:solidFill>
            <a:prstDash val="solid"/>
          </a:ln>
        </p:spPr>
        <p:txBody>
          <a:bodyPr/>
          <a:lstStyle/>
          <a:p>
            <a:endParaRPr lang="en-US"/>
          </a:p>
        </p:txBody>
      </p:sp>
      <p:sp>
        <p:nvSpPr>
          <p:cNvPr id="7" name="Text 4"/>
          <p:cNvSpPr/>
          <p:nvPr/>
        </p:nvSpPr>
        <p:spPr>
          <a:xfrm>
            <a:off x="914400" y="2148840"/>
            <a:ext cx="4572000" cy="365760"/>
          </a:xfrm>
          <a:prstGeom prst="rect">
            <a:avLst/>
          </a:prstGeom>
          <a:noFill/>
          <a:ln/>
        </p:spPr>
        <p:txBody>
          <a:bodyPr wrap="square" rtlCol="0" anchor="ctr"/>
          <a:lstStyle/>
          <a:p>
            <a:pPr marL="0" indent="0">
              <a:buNone/>
            </a:pPr>
            <a:r>
              <a:rPr lang="en-US" sz="1700" b="1" dirty="0">
                <a:solidFill>
                  <a:srgbClr val="0B3B36"/>
                </a:solidFill>
                <a:latin typeface="Cambria" pitchFamily="34" charset="0"/>
                <a:ea typeface="Cambria" pitchFamily="34" charset="-122"/>
                <a:cs typeface="Cambria" pitchFamily="34" charset="-120"/>
              </a:rPr>
              <a:t>PHASE 2 — OPTIONAL VOICE ASSISTANCE</a:t>
            </a:r>
            <a:endParaRPr lang="en-US" sz="1700" dirty="0"/>
          </a:p>
        </p:txBody>
      </p:sp>
      <p:sp>
        <p:nvSpPr>
          <p:cNvPr id="8" name="Text 5"/>
          <p:cNvSpPr/>
          <p:nvPr/>
        </p:nvSpPr>
        <p:spPr>
          <a:xfrm>
            <a:off x="990600" y="2130552"/>
            <a:ext cx="4572000" cy="3017520"/>
          </a:xfrm>
          <a:prstGeom prst="rect">
            <a:avLst/>
          </a:prstGeom>
          <a:noFill/>
          <a:ln/>
        </p:spPr>
        <p:txBody>
          <a:bodyPr wrap="square" rtlCol="0" anchor="ctr"/>
          <a:lstStyle/>
          <a:p>
            <a:pPr marL="342900" indent="-342900">
              <a:lnSpc>
                <a:spcPct val="125000"/>
              </a:lnSpc>
              <a:spcAft>
                <a:spcPts val="1000"/>
              </a:spcAft>
              <a:buSzPct val="100000"/>
              <a:buChar char="•"/>
            </a:pPr>
            <a:r>
              <a:rPr lang="en-US" sz="1350" dirty="0">
                <a:solidFill>
                  <a:srgbClr val="1B2B2E"/>
                </a:solidFill>
                <a:latin typeface="Calibri" pitchFamily="34" charset="0"/>
                <a:ea typeface="Calibri" pitchFamily="34" charset="-122"/>
                <a:cs typeface="Calibri" pitchFamily="34" charset="-120"/>
              </a:rPr>
              <a:t>Intake of appointment and refill requests</a:t>
            </a:r>
          </a:p>
          <a:p>
            <a:pPr marL="342900" indent="-342900">
              <a:lnSpc>
                <a:spcPct val="125000"/>
              </a:lnSpc>
              <a:spcAft>
                <a:spcPts val="1000"/>
              </a:spcAft>
              <a:buSzPct val="100000"/>
              <a:buChar char="•"/>
            </a:pPr>
            <a:r>
              <a:rPr lang="en-US" sz="1350" dirty="0">
                <a:solidFill>
                  <a:srgbClr val="1B2B2E"/>
                </a:solidFill>
                <a:latin typeface="Calibri" pitchFamily="34" charset="0"/>
                <a:ea typeface="Calibri" pitchFamily="34" charset="-122"/>
                <a:cs typeface="Calibri" pitchFamily="34" charset="-120"/>
              </a:rPr>
              <a:t>Answers to approved routine questions</a:t>
            </a:r>
          </a:p>
          <a:p>
            <a:pPr marL="342900" indent="-342900">
              <a:lnSpc>
                <a:spcPct val="125000"/>
              </a:lnSpc>
              <a:spcAft>
                <a:spcPts val="1000"/>
              </a:spcAft>
              <a:buSzPct val="100000"/>
              <a:buChar char="•"/>
            </a:pPr>
            <a:r>
              <a:rPr lang="en-US" sz="1350" dirty="0">
                <a:solidFill>
                  <a:srgbClr val="1B2B2E"/>
                </a:solidFill>
                <a:latin typeface="Calibri" pitchFamily="34" charset="0"/>
                <a:ea typeface="Calibri" pitchFamily="34" charset="-122"/>
                <a:cs typeface="Calibri" pitchFamily="34" charset="-120"/>
              </a:rPr>
              <a:t>Draft paperwork for staff review</a:t>
            </a:r>
          </a:p>
          <a:p>
            <a:pPr marL="342900" indent="-342900">
              <a:lnSpc>
                <a:spcPct val="125000"/>
              </a:lnSpc>
              <a:spcAft>
                <a:spcPts val="1000"/>
              </a:spcAft>
              <a:buSzPct val="100000"/>
              <a:buChar char="•"/>
            </a:pPr>
            <a:r>
              <a:rPr lang="en-US" sz="1350" dirty="0">
                <a:solidFill>
                  <a:srgbClr val="1B2B2E"/>
                </a:solidFill>
                <a:latin typeface="Calibri" pitchFamily="34" charset="0"/>
                <a:ea typeface="Calibri" pitchFamily="34" charset="-122"/>
                <a:cs typeface="Calibri" pitchFamily="34" charset="-120"/>
              </a:rPr>
              <a:t>Clinic-defined routing and human approval</a:t>
            </a:r>
          </a:p>
        </p:txBody>
      </p:sp>
      <p:sp>
        <p:nvSpPr>
          <p:cNvPr id="9" name="Shape 6"/>
          <p:cNvSpPr/>
          <p:nvPr/>
        </p:nvSpPr>
        <p:spPr>
          <a:xfrm>
            <a:off x="6080760" y="1965960"/>
            <a:ext cx="5120640" cy="3248308"/>
          </a:xfrm>
          <a:prstGeom prst="roundRect">
            <a:avLst>
              <a:gd name="adj" fmla="val 5263"/>
            </a:avLst>
          </a:prstGeom>
          <a:solidFill>
            <a:srgbClr val="F6F1DD"/>
          </a:solidFill>
          <a:ln w="12700">
            <a:solidFill>
              <a:srgbClr val="E6DDBE"/>
            </a:solidFill>
            <a:prstDash val="solid"/>
          </a:ln>
        </p:spPr>
        <p:txBody>
          <a:bodyPr/>
          <a:lstStyle/>
          <a:p>
            <a:endParaRPr lang="en-US"/>
          </a:p>
        </p:txBody>
      </p:sp>
      <p:sp>
        <p:nvSpPr>
          <p:cNvPr id="10" name="Text 7"/>
          <p:cNvSpPr/>
          <p:nvPr/>
        </p:nvSpPr>
        <p:spPr>
          <a:xfrm>
            <a:off x="6355080" y="2148840"/>
            <a:ext cx="4572000" cy="365760"/>
          </a:xfrm>
          <a:prstGeom prst="rect">
            <a:avLst/>
          </a:prstGeom>
          <a:noFill/>
          <a:ln/>
        </p:spPr>
        <p:txBody>
          <a:bodyPr wrap="square" rtlCol="0" anchor="ctr"/>
          <a:lstStyle/>
          <a:p>
            <a:pPr marL="0" indent="0">
              <a:buNone/>
            </a:pPr>
            <a:r>
              <a:rPr lang="en-US" sz="1700" b="1" dirty="0">
                <a:solidFill>
                  <a:srgbClr val="0B3B36"/>
                </a:solidFill>
                <a:latin typeface="Cambria" pitchFamily="34" charset="0"/>
                <a:ea typeface="Cambria" pitchFamily="34" charset="-122"/>
                <a:cs typeface="Cambria" pitchFamily="34" charset="-120"/>
              </a:rPr>
              <a:t>PHASE 3 — OPTIONAL EXPANDED AUTOMATION</a:t>
            </a:r>
            <a:endParaRPr lang="en-US" sz="1700" dirty="0"/>
          </a:p>
        </p:txBody>
      </p:sp>
      <p:sp>
        <p:nvSpPr>
          <p:cNvPr id="11" name="Text 8"/>
          <p:cNvSpPr/>
          <p:nvPr/>
        </p:nvSpPr>
        <p:spPr>
          <a:xfrm>
            <a:off x="6355080" y="2288188"/>
            <a:ext cx="4572000" cy="2926080"/>
          </a:xfrm>
          <a:prstGeom prst="rect">
            <a:avLst/>
          </a:prstGeom>
          <a:noFill/>
          <a:ln/>
        </p:spPr>
        <p:txBody>
          <a:bodyPr wrap="square" rtlCol="0" anchor="ctr"/>
          <a:lstStyle/>
          <a:p>
            <a:pPr marL="342900" indent="-342900">
              <a:lnSpc>
                <a:spcPct val="125000"/>
              </a:lnSpc>
              <a:spcAft>
                <a:spcPts val="1000"/>
              </a:spcAft>
              <a:buSzPct val="100000"/>
              <a:buChar char="•"/>
            </a:pPr>
            <a:r>
              <a:rPr lang="en-US" sz="1350" dirty="0">
                <a:solidFill>
                  <a:srgbClr val="1B2B2E"/>
                </a:solidFill>
                <a:latin typeface="Calibri" pitchFamily="34" charset="0"/>
                <a:ea typeface="Calibri" pitchFamily="34" charset="-122"/>
                <a:cs typeface="Calibri" pitchFamily="34" charset="-120"/>
              </a:rPr>
              <a:t>More context-aware conversational assistance</a:t>
            </a:r>
          </a:p>
          <a:p>
            <a:pPr marL="342900" indent="-342900">
              <a:lnSpc>
                <a:spcPct val="125000"/>
              </a:lnSpc>
              <a:spcAft>
                <a:spcPts val="1000"/>
              </a:spcAft>
              <a:buSzPct val="100000"/>
              <a:buChar char="•"/>
            </a:pPr>
            <a:r>
              <a:rPr lang="en-US" sz="1350" dirty="0">
                <a:solidFill>
                  <a:srgbClr val="1B2B2E"/>
                </a:solidFill>
                <a:latin typeface="Calibri" pitchFamily="34" charset="0"/>
                <a:ea typeface="Calibri" pitchFamily="34" charset="-122"/>
                <a:cs typeface="Calibri" pitchFamily="34" charset="-120"/>
              </a:rPr>
              <a:t>Draft clinical documentation for clinician review</a:t>
            </a:r>
          </a:p>
          <a:p>
            <a:pPr marL="342900" indent="-342900">
              <a:lnSpc>
                <a:spcPct val="125000"/>
              </a:lnSpc>
              <a:spcAft>
                <a:spcPts val="1000"/>
              </a:spcAft>
              <a:buSzPct val="100000"/>
              <a:buChar char="•"/>
            </a:pPr>
            <a:r>
              <a:rPr lang="en-US" sz="1350" dirty="0">
                <a:solidFill>
                  <a:srgbClr val="1B2B2E"/>
                </a:solidFill>
                <a:latin typeface="Calibri" pitchFamily="34" charset="0"/>
                <a:ea typeface="Calibri" pitchFamily="34" charset="-122"/>
                <a:cs typeface="Calibri" pitchFamily="34" charset="-120"/>
              </a:rPr>
              <a:t>Prior-authorization and appeal drafting</a:t>
            </a:r>
          </a:p>
          <a:p>
            <a:pPr marL="342900" indent="-342900">
              <a:lnSpc>
                <a:spcPct val="125000"/>
              </a:lnSpc>
              <a:spcAft>
                <a:spcPts val="1000"/>
              </a:spcAft>
              <a:buSzPct val="100000"/>
              <a:buChar char="•"/>
            </a:pPr>
            <a:r>
              <a:rPr lang="en-US" sz="1350" dirty="0">
                <a:solidFill>
                  <a:srgbClr val="1B2B2E"/>
                </a:solidFill>
                <a:latin typeface="Calibri" pitchFamily="34" charset="0"/>
                <a:ea typeface="Calibri" pitchFamily="34" charset="-122"/>
                <a:cs typeface="Calibri" pitchFamily="34" charset="-120"/>
              </a:rPr>
              <a:t>Broader end-to-end workflow coordination</a:t>
            </a:r>
          </a:p>
        </p:txBody>
      </p:sp>
      <p:sp>
        <p:nvSpPr>
          <p:cNvPr id="18" name="Text 15"/>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E6857"/>
                </a:solidFill>
                <a:latin typeface="Calibri" pitchFamily="34" charset="0"/>
                <a:ea typeface="Calibri" pitchFamily="34" charset="-122"/>
                <a:cs typeface="Calibri" pitchFamily="34" charset="-120"/>
              </a:rPr>
              <a:t>Halo Holdings  •  Confidential — for discussion</a:t>
            </a:r>
            <a:endParaRPr lang="en-US" sz="900" dirty="0"/>
          </a:p>
        </p:txBody>
      </p:sp>
      <p:sp>
        <p:nvSpPr>
          <p:cNvPr id="19" name="Text 16"/>
          <p:cNvSpPr/>
          <p:nvPr/>
        </p:nvSpPr>
        <p:spPr>
          <a:xfrm>
            <a:off x="8988552" y="6473952"/>
            <a:ext cx="2743200" cy="274320"/>
          </a:xfrm>
          <a:prstGeom prst="rect">
            <a:avLst/>
          </a:prstGeom>
          <a:noFill/>
          <a:ln/>
        </p:spPr>
        <p:txBody>
          <a:bodyPr wrap="square" rtlCol="0" anchor="ctr"/>
          <a:lstStyle/>
          <a:p>
            <a:pPr marL="0" indent="0" algn="r">
              <a:buNone/>
            </a:pPr>
            <a:r>
              <a:rPr lang="en-US" sz="900" dirty="0">
                <a:solidFill>
                  <a:srgbClr val="6E6857"/>
                </a:solidFill>
                <a:latin typeface="Calibri" pitchFamily="34" charset="0"/>
                <a:ea typeface="Calibri" pitchFamily="34" charset="-122"/>
                <a:cs typeface="Calibri" pitchFamily="34" charset="-120"/>
              </a:rPr>
              <a:t>Future roadmap</a:t>
            </a:r>
            <a:endParaRPr lang="en-US" sz="900" dirty="0"/>
          </a:p>
        </p:txBody>
      </p:sp>
      <p:sp>
        <p:nvSpPr>
          <p:cNvPr id="40" name="Text 40"/>
          <p:cNvSpPr/>
          <p:nvPr/>
        </p:nvSpPr>
        <p:spPr>
          <a:xfrm>
            <a:off x="577557" y="5442868"/>
            <a:ext cx="10561320" cy="365760"/>
          </a:xfrm>
          <a:prstGeom prst="rect">
            <a:avLst/>
          </a:prstGeom>
          <a:noFill/>
          <a:ln/>
        </p:spPr>
        <p:txBody>
          <a:bodyPr wrap="square" rtlCol="0" anchor="ctr"/>
          <a:lstStyle/>
          <a:p>
            <a:pPr marL="0" indent="0" algn="ctr">
              <a:buNone/>
            </a:pPr>
            <a:r>
              <a:rPr lang="en-US" sz="1400" i="1" dirty="0">
                <a:solidFill>
                  <a:srgbClr val="6E6857"/>
                </a:solidFill>
                <a:latin typeface="Calibri" pitchFamily="34" charset="0"/>
                <a:ea typeface="Calibri" pitchFamily="34" charset="-122"/>
                <a:cs typeface="Calibri" pitchFamily="34" charset="-120"/>
              </a:rPr>
              <a:t>Phases 2 and 3 are not included in the free Phase 1 setup. Scope, safeguards, integration requirements, pricing, and operating costs are reviewed and approved separately.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4C055441-DF8B-4D2B-BF32-C734CEADC7D0}"/>
              </a:ext>
            </a:extLst>
          </p:cNvPr>
          <p:cNvSpPr>
            <a:spLocks noGrp="1"/>
          </p:cNvSpPr>
          <p:nvPr/>
        </p:nvSpPr>
        <p:spPr>
          <a:xfrm>
            <a:off x="640080" y="502920"/>
            <a:ext cx="868680" cy="868680"/>
          </a:xfrm>
          <a:prstGeom prst="ellipse">
            <a:avLst/>
          </a:prstGeom>
          <a:solidFill>
            <a:srgbClr val="042B2B"/>
          </a:solidFill>
        </p:spPr>
        <p:txBody>
          <a:bodyPr/>
          <a:lstStyle/>
          <a:p>
            <a:endParaRPr/>
          </a:p>
        </p:txBody>
      </p:sp>
      <p:pic>
        <p:nvPicPr>
          <p:cNvPr id="903" name="Image 0"/>
          <p:cNvPicPr>
            <a:picLocks noChangeAspect="1"/>
          </p:cNvPicPr>
          <p:nvPr/>
        </p:nvPicPr>
        <p:blipFill>
          <a:blip r:embed="rId3"/>
          <a:stretch>
            <a:fillRect/>
          </a:stretch>
        </p:blipFill>
        <p:spPr>
          <a:xfrm>
            <a:off x="841248" y="704088"/>
            <a:ext cx="466344" cy="466344"/>
          </a:xfrm>
          <a:prstGeom prst="rect">
            <a:avLst/>
          </a:prstGeom>
        </p:spPr>
      </p:pic>
      <p:sp>
        <p:nvSpPr>
          <p:cNvPr id="4" name="Text 1">
            <a:extLst>
              <a:ext uri="{FF2B5EF4-FFF2-40B4-BE49-F238E27FC236}">
                <a16:creationId xmlns:a16="http://schemas.microsoft.com/office/drawing/2014/main" id="{BDE0AE43-2636-4056-81DB-98E503F73B19}"/>
              </a:ext>
            </a:extLst>
          </p:cNvPr>
          <p:cNvSpPr>
            <a:spLocks noGrp="1"/>
          </p:cNvSpPr>
          <p:nvPr/>
        </p:nvSpPr>
        <p:spPr>
          <a:xfrm>
            <a:off x="1737360" y="457200"/>
            <a:ext cx="9601200" cy="548640"/>
          </a:xfrm>
          <a:prstGeom prst="rect">
            <a:avLst/>
          </a:prstGeom>
          <a:noFill/>
        </p:spPr>
        <p:txBody>
          <a:bodyPr wrap="square" anchor="ctr"/>
          <a:lstStyle/>
          <a:p>
            <a:pPr marL="0" indent="0">
              <a:buNone/>
            </a:pPr>
            <a:r>
              <a:rPr sz="2800" b="1">
                <a:solidFill>
                  <a:srgbClr val="1B2B2E"/>
                </a:solidFill>
                <a:latin typeface="Cambria"/>
                <a:ea typeface="Cambria"/>
                <a:cs typeface="Cambria"/>
              </a:rPr>
              <a:t>Smart automation, with your team in control</a:t>
            </a:r>
            <a:endParaRPr sz="2800"/>
          </a:p>
        </p:txBody>
      </p:sp>
      <p:sp>
        <p:nvSpPr>
          <p:cNvPr id="5" name="Text 2">
            <a:extLst>
              <a:ext uri="{FF2B5EF4-FFF2-40B4-BE49-F238E27FC236}">
                <a16:creationId xmlns:a16="http://schemas.microsoft.com/office/drawing/2014/main" id="{D096C53E-0C23-484F-839B-935E190BAF3B}"/>
              </a:ext>
            </a:extLst>
          </p:cNvPr>
          <p:cNvSpPr>
            <a:spLocks noGrp="1"/>
          </p:cNvSpPr>
          <p:nvPr/>
        </p:nvSpPr>
        <p:spPr>
          <a:xfrm>
            <a:off x="1737360" y="987552"/>
            <a:ext cx="9601200" cy="457200"/>
          </a:xfrm>
          <a:prstGeom prst="rect">
            <a:avLst/>
          </a:prstGeom>
          <a:noFill/>
        </p:spPr>
        <p:txBody>
          <a:bodyPr wrap="square" anchor="ctr"/>
          <a:lstStyle/>
          <a:p>
            <a:pPr marL="0" indent="0">
              <a:buNone/>
            </a:pPr>
            <a:r>
              <a:rPr sz="1500">
                <a:solidFill>
                  <a:srgbClr val="6E6857"/>
                </a:solidFill>
                <a:latin typeface="Calibri"/>
                <a:ea typeface="Calibri"/>
                <a:cs typeface="Calibri"/>
              </a:rPr>
              <a:t>Clinic-approved rules guide the workflow. AI assists. Your staff reviews what matters.</a:t>
            </a:r>
            <a:endParaRPr sz="1500"/>
          </a:p>
        </p:txBody>
      </p:sp>
      <p:sp>
        <p:nvSpPr>
          <p:cNvPr id="100" name="Card0Bg">
            <a:extLst>
              <a:ext uri="{FF2B5EF4-FFF2-40B4-BE49-F238E27FC236}">
                <a16:creationId xmlns:a16="http://schemas.microsoft.com/office/drawing/2014/main" id="{7B4F2CB5-B8BE-4E4D-A825-C73659BA435A}"/>
              </a:ext>
            </a:extLst>
          </p:cNvPr>
          <p:cNvSpPr>
            <a:spLocks noGrp="1"/>
          </p:cNvSpPr>
          <p:nvPr/>
        </p:nvSpPr>
        <p:spPr>
          <a:xfrm>
            <a:off x="640080" y="2103120"/>
            <a:ext cx="1883664" cy="2834640"/>
          </a:xfrm>
          <a:prstGeom prst="roundRect">
            <a:avLst>
              <a:gd name="adj" fmla="val 5263"/>
            </a:avLst>
          </a:prstGeom>
          <a:solidFill>
            <a:srgbClr val="F6F1DD"/>
          </a:solidFill>
          <a:ln w="12700">
            <a:solidFill>
              <a:srgbClr val="E6DDBE"/>
            </a:solidFill>
            <a:prstDash val="solid"/>
          </a:ln>
        </p:spPr>
        <p:txBody>
          <a:bodyPr/>
          <a:lstStyle/>
          <a:p>
            <a:endParaRPr/>
          </a:p>
        </p:txBody>
      </p:sp>
      <p:sp>
        <p:nvSpPr>
          <p:cNvPr id="101" name="Card0Badge">
            <a:extLst>
              <a:ext uri="{FF2B5EF4-FFF2-40B4-BE49-F238E27FC236}">
                <a16:creationId xmlns:a16="http://schemas.microsoft.com/office/drawing/2014/main" id="{0D9B29C8-B424-49C4-A0A8-BB2FDB7AEB9D}"/>
              </a:ext>
            </a:extLst>
          </p:cNvPr>
          <p:cNvSpPr>
            <a:spLocks noGrp="1"/>
          </p:cNvSpPr>
          <p:nvPr/>
        </p:nvSpPr>
        <p:spPr>
          <a:xfrm>
            <a:off x="1353312" y="2377440"/>
            <a:ext cx="457200" cy="457200"/>
          </a:xfrm>
          <a:prstGeom prst="ellipse">
            <a:avLst/>
          </a:prstGeom>
          <a:solidFill>
            <a:srgbClr val="1E5A50"/>
          </a:solidFill>
        </p:spPr>
        <p:txBody>
          <a:bodyPr/>
          <a:lstStyle/>
          <a:p>
            <a:endParaRPr/>
          </a:p>
        </p:txBody>
      </p:sp>
      <p:sp>
        <p:nvSpPr>
          <p:cNvPr id="102" name="Card0Num">
            <a:extLst>
              <a:ext uri="{FF2B5EF4-FFF2-40B4-BE49-F238E27FC236}">
                <a16:creationId xmlns:a16="http://schemas.microsoft.com/office/drawing/2014/main" id="{0EC77319-6888-4588-8290-D474E4EDDCDB}"/>
              </a:ext>
            </a:extLst>
          </p:cNvPr>
          <p:cNvSpPr>
            <a:spLocks noGrp="1"/>
          </p:cNvSpPr>
          <p:nvPr/>
        </p:nvSpPr>
        <p:spPr>
          <a:xfrm>
            <a:off x="1353312" y="2377440"/>
            <a:ext cx="457200" cy="457200"/>
          </a:xfrm>
          <a:prstGeom prst="rect">
            <a:avLst/>
          </a:prstGeom>
          <a:noFill/>
        </p:spPr>
        <p:txBody>
          <a:bodyPr wrap="square" anchor="ctr"/>
          <a:lstStyle/>
          <a:p>
            <a:pPr marL="0" indent="0" algn="ctr">
              <a:buNone/>
            </a:pPr>
            <a:r>
              <a:rPr sz="1800" b="1">
                <a:solidFill>
                  <a:srgbClr val="FFFFFF"/>
                </a:solidFill>
                <a:latin typeface="Cambria"/>
                <a:ea typeface="Cambria"/>
                <a:cs typeface="Cambria"/>
              </a:rPr>
              <a:t>1</a:t>
            </a:r>
          </a:p>
        </p:txBody>
      </p:sp>
      <p:sp>
        <p:nvSpPr>
          <p:cNvPr id="103" name="Card0Title">
            <a:extLst>
              <a:ext uri="{FF2B5EF4-FFF2-40B4-BE49-F238E27FC236}">
                <a16:creationId xmlns:a16="http://schemas.microsoft.com/office/drawing/2014/main" id="{0E6E040E-756D-47FF-8983-246CFCF73055}"/>
              </a:ext>
            </a:extLst>
          </p:cNvPr>
          <p:cNvSpPr>
            <a:spLocks noGrp="1"/>
          </p:cNvSpPr>
          <p:nvPr/>
        </p:nvSpPr>
        <p:spPr>
          <a:xfrm>
            <a:off x="731520" y="3063240"/>
            <a:ext cx="1700784" cy="548640"/>
          </a:xfrm>
          <a:prstGeom prst="rect">
            <a:avLst/>
          </a:prstGeom>
          <a:noFill/>
        </p:spPr>
        <p:txBody>
          <a:bodyPr wrap="square" anchor="ctr"/>
          <a:lstStyle/>
          <a:p>
            <a:pPr marL="0" indent="0">
              <a:lnSpc>
                <a:spcPct val="110000"/>
              </a:lnSpc>
              <a:buNone/>
            </a:pPr>
            <a:r>
              <a:rPr sz="1300" b="1">
                <a:solidFill>
                  <a:srgbClr val="0B3B36"/>
                </a:solidFill>
                <a:latin typeface="Cambria"/>
                <a:ea typeface="Cambria"/>
                <a:cs typeface="Cambria"/>
              </a:rPr>
              <a:t>Clinic inputs</a:t>
            </a:r>
          </a:p>
        </p:txBody>
      </p:sp>
      <p:sp>
        <p:nvSpPr>
          <p:cNvPr id="104" name="Card0Body">
            <a:extLst>
              <a:ext uri="{FF2B5EF4-FFF2-40B4-BE49-F238E27FC236}">
                <a16:creationId xmlns:a16="http://schemas.microsoft.com/office/drawing/2014/main" id="{38135C50-20CE-47AE-8CAA-512D58D59D38}"/>
              </a:ext>
            </a:extLst>
          </p:cNvPr>
          <p:cNvSpPr>
            <a:spLocks noGrp="1"/>
          </p:cNvSpPr>
          <p:nvPr/>
        </p:nvSpPr>
        <p:spPr>
          <a:xfrm>
            <a:off x="731520" y="3703320"/>
            <a:ext cx="1700784" cy="1143000"/>
          </a:xfrm>
          <a:prstGeom prst="rect">
            <a:avLst/>
          </a:prstGeom>
          <a:noFill/>
        </p:spPr>
        <p:txBody>
          <a:bodyPr wrap="square" anchor="t"/>
          <a:lstStyle/>
          <a:p>
            <a:pPr marL="0" indent="0">
              <a:lnSpc>
                <a:spcPct val="115000"/>
              </a:lnSpc>
              <a:buNone/>
            </a:pPr>
            <a:r>
              <a:rPr sz="1050">
                <a:solidFill>
                  <a:srgbClr val="1B2B2E"/>
                </a:solidFill>
                <a:latin typeface="Calibri"/>
                <a:ea typeface="Calibri"/>
                <a:cs typeface="Calibri"/>
              </a:rPr>
              <a:t>Appointments, messages, faxes, and approved care lists enter the workflow.</a:t>
            </a:r>
          </a:p>
        </p:txBody>
      </p:sp>
      <p:sp>
        <p:nvSpPr>
          <p:cNvPr id="105" name="Card1Bg">
            <a:extLst>
              <a:ext uri="{FF2B5EF4-FFF2-40B4-BE49-F238E27FC236}">
                <a16:creationId xmlns:a16="http://schemas.microsoft.com/office/drawing/2014/main" id="{FD8DA1B9-E970-47FB-A5C5-63E564ECD61B}"/>
              </a:ext>
            </a:extLst>
          </p:cNvPr>
          <p:cNvSpPr>
            <a:spLocks noGrp="1"/>
          </p:cNvSpPr>
          <p:nvPr/>
        </p:nvSpPr>
        <p:spPr>
          <a:xfrm>
            <a:off x="2889504" y="2103120"/>
            <a:ext cx="1883664" cy="2834640"/>
          </a:xfrm>
          <a:prstGeom prst="roundRect">
            <a:avLst>
              <a:gd name="adj" fmla="val 5263"/>
            </a:avLst>
          </a:prstGeom>
          <a:solidFill>
            <a:srgbClr val="F6F1DD"/>
          </a:solidFill>
          <a:ln w="12700">
            <a:solidFill>
              <a:srgbClr val="E6DDBE"/>
            </a:solidFill>
            <a:prstDash val="solid"/>
          </a:ln>
        </p:spPr>
        <p:txBody>
          <a:bodyPr/>
          <a:lstStyle/>
          <a:p>
            <a:endParaRPr/>
          </a:p>
        </p:txBody>
      </p:sp>
      <p:sp>
        <p:nvSpPr>
          <p:cNvPr id="106" name="Card1Badge">
            <a:extLst>
              <a:ext uri="{FF2B5EF4-FFF2-40B4-BE49-F238E27FC236}">
                <a16:creationId xmlns:a16="http://schemas.microsoft.com/office/drawing/2014/main" id="{0CCB1441-40E2-4A46-BB5C-870FEB0F9E03}"/>
              </a:ext>
            </a:extLst>
          </p:cNvPr>
          <p:cNvSpPr>
            <a:spLocks noGrp="1"/>
          </p:cNvSpPr>
          <p:nvPr/>
        </p:nvSpPr>
        <p:spPr>
          <a:xfrm>
            <a:off x="3602736" y="2377440"/>
            <a:ext cx="457200" cy="457200"/>
          </a:xfrm>
          <a:prstGeom prst="ellipse">
            <a:avLst/>
          </a:prstGeom>
          <a:solidFill>
            <a:srgbClr val="1E5A50"/>
          </a:solidFill>
        </p:spPr>
        <p:txBody>
          <a:bodyPr/>
          <a:lstStyle/>
          <a:p>
            <a:endParaRPr/>
          </a:p>
        </p:txBody>
      </p:sp>
      <p:sp>
        <p:nvSpPr>
          <p:cNvPr id="107" name="Card1Num">
            <a:extLst>
              <a:ext uri="{FF2B5EF4-FFF2-40B4-BE49-F238E27FC236}">
                <a16:creationId xmlns:a16="http://schemas.microsoft.com/office/drawing/2014/main" id="{E5FBF235-37D3-4CF6-ABC7-9E69764918C8}"/>
              </a:ext>
            </a:extLst>
          </p:cNvPr>
          <p:cNvSpPr>
            <a:spLocks noGrp="1"/>
          </p:cNvSpPr>
          <p:nvPr/>
        </p:nvSpPr>
        <p:spPr>
          <a:xfrm>
            <a:off x="3602736" y="2377440"/>
            <a:ext cx="457200" cy="457200"/>
          </a:xfrm>
          <a:prstGeom prst="rect">
            <a:avLst/>
          </a:prstGeom>
          <a:noFill/>
        </p:spPr>
        <p:txBody>
          <a:bodyPr wrap="square" anchor="ctr"/>
          <a:lstStyle/>
          <a:p>
            <a:pPr marL="0" indent="0" algn="ctr">
              <a:buNone/>
            </a:pPr>
            <a:r>
              <a:rPr sz="1800" b="1">
                <a:solidFill>
                  <a:srgbClr val="FFFFFF"/>
                </a:solidFill>
                <a:latin typeface="Cambria"/>
                <a:ea typeface="Cambria"/>
                <a:cs typeface="Cambria"/>
              </a:rPr>
              <a:t>2</a:t>
            </a:r>
          </a:p>
        </p:txBody>
      </p:sp>
      <p:sp>
        <p:nvSpPr>
          <p:cNvPr id="108" name="Card1Title">
            <a:extLst>
              <a:ext uri="{FF2B5EF4-FFF2-40B4-BE49-F238E27FC236}">
                <a16:creationId xmlns:a16="http://schemas.microsoft.com/office/drawing/2014/main" id="{35ED757C-F761-45FA-ADDD-7FBC5ED145D8}"/>
              </a:ext>
            </a:extLst>
          </p:cNvPr>
          <p:cNvSpPr>
            <a:spLocks noGrp="1"/>
          </p:cNvSpPr>
          <p:nvPr/>
        </p:nvSpPr>
        <p:spPr>
          <a:xfrm>
            <a:off x="2980944" y="3063240"/>
            <a:ext cx="1700784" cy="548640"/>
          </a:xfrm>
          <a:prstGeom prst="rect">
            <a:avLst/>
          </a:prstGeom>
          <a:noFill/>
        </p:spPr>
        <p:txBody>
          <a:bodyPr wrap="square" anchor="ctr"/>
          <a:lstStyle/>
          <a:p>
            <a:pPr marL="0" indent="0">
              <a:lnSpc>
                <a:spcPct val="110000"/>
              </a:lnSpc>
              <a:buNone/>
            </a:pPr>
            <a:r>
              <a:rPr sz="1300" b="1">
                <a:solidFill>
                  <a:srgbClr val="0B3B36"/>
                </a:solidFill>
                <a:latin typeface="Cambria"/>
                <a:ea typeface="Cambria"/>
                <a:cs typeface="Cambria"/>
              </a:rPr>
              <a:t>Approved rules</a:t>
            </a:r>
          </a:p>
        </p:txBody>
      </p:sp>
      <p:sp>
        <p:nvSpPr>
          <p:cNvPr id="109" name="Card1Body">
            <a:extLst>
              <a:ext uri="{FF2B5EF4-FFF2-40B4-BE49-F238E27FC236}">
                <a16:creationId xmlns:a16="http://schemas.microsoft.com/office/drawing/2014/main" id="{AF9589F5-7975-4011-AC66-800F4B60526C}"/>
              </a:ext>
            </a:extLst>
          </p:cNvPr>
          <p:cNvSpPr>
            <a:spLocks noGrp="1"/>
          </p:cNvSpPr>
          <p:nvPr/>
        </p:nvSpPr>
        <p:spPr>
          <a:xfrm>
            <a:off x="2980944" y="3703320"/>
            <a:ext cx="1700784" cy="1143000"/>
          </a:xfrm>
          <a:prstGeom prst="rect">
            <a:avLst/>
          </a:prstGeom>
          <a:noFill/>
        </p:spPr>
        <p:txBody>
          <a:bodyPr wrap="square" anchor="t"/>
          <a:lstStyle/>
          <a:p>
            <a:pPr marL="0" indent="0">
              <a:lnSpc>
                <a:spcPct val="115000"/>
              </a:lnSpc>
              <a:buNone/>
            </a:pPr>
            <a:r>
              <a:rPr sz="1050">
                <a:solidFill>
                  <a:srgbClr val="1B2B2E"/>
                </a:solidFill>
                <a:latin typeface="Calibri"/>
                <a:ea typeface="Calibri"/>
                <a:cs typeface="Calibri"/>
              </a:rPr>
              <a:t>Your rules define timing, permitted actions, and required review.</a:t>
            </a:r>
          </a:p>
        </p:txBody>
      </p:sp>
      <p:sp>
        <p:nvSpPr>
          <p:cNvPr id="110" name="Card2Bg">
            <a:extLst>
              <a:ext uri="{FF2B5EF4-FFF2-40B4-BE49-F238E27FC236}">
                <a16:creationId xmlns:a16="http://schemas.microsoft.com/office/drawing/2014/main" id="{FA6EEDC0-9770-4DE6-B5E2-F830DE54A062}"/>
              </a:ext>
            </a:extLst>
          </p:cNvPr>
          <p:cNvSpPr>
            <a:spLocks noGrp="1"/>
          </p:cNvSpPr>
          <p:nvPr/>
        </p:nvSpPr>
        <p:spPr>
          <a:xfrm>
            <a:off x="5138928" y="2103120"/>
            <a:ext cx="1883664" cy="2834640"/>
          </a:xfrm>
          <a:prstGeom prst="roundRect">
            <a:avLst>
              <a:gd name="adj" fmla="val 5263"/>
            </a:avLst>
          </a:prstGeom>
          <a:solidFill>
            <a:srgbClr val="F6F1DD"/>
          </a:solidFill>
          <a:ln w="12700">
            <a:solidFill>
              <a:srgbClr val="E6DDBE"/>
            </a:solidFill>
            <a:prstDash val="solid"/>
          </a:ln>
        </p:spPr>
        <p:txBody>
          <a:bodyPr/>
          <a:lstStyle/>
          <a:p>
            <a:endParaRPr/>
          </a:p>
        </p:txBody>
      </p:sp>
      <p:sp>
        <p:nvSpPr>
          <p:cNvPr id="111" name="Card2Badge">
            <a:extLst>
              <a:ext uri="{FF2B5EF4-FFF2-40B4-BE49-F238E27FC236}">
                <a16:creationId xmlns:a16="http://schemas.microsoft.com/office/drawing/2014/main" id="{D2170535-2C9F-4879-9643-BBAAD36DA200}"/>
              </a:ext>
            </a:extLst>
          </p:cNvPr>
          <p:cNvSpPr>
            <a:spLocks noGrp="1"/>
          </p:cNvSpPr>
          <p:nvPr/>
        </p:nvSpPr>
        <p:spPr>
          <a:xfrm>
            <a:off x="5852160" y="2377440"/>
            <a:ext cx="457200" cy="457200"/>
          </a:xfrm>
          <a:prstGeom prst="ellipse">
            <a:avLst/>
          </a:prstGeom>
          <a:solidFill>
            <a:srgbClr val="1E5A50"/>
          </a:solidFill>
        </p:spPr>
        <p:txBody>
          <a:bodyPr/>
          <a:lstStyle/>
          <a:p>
            <a:endParaRPr/>
          </a:p>
        </p:txBody>
      </p:sp>
      <p:sp>
        <p:nvSpPr>
          <p:cNvPr id="112" name="Card2Num">
            <a:extLst>
              <a:ext uri="{FF2B5EF4-FFF2-40B4-BE49-F238E27FC236}">
                <a16:creationId xmlns:a16="http://schemas.microsoft.com/office/drawing/2014/main" id="{562D9B63-475B-4A64-89D9-7C304EF9EAB9}"/>
              </a:ext>
            </a:extLst>
          </p:cNvPr>
          <p:cNvSpPr>
            <a:spLocks noGrp="1"/>
          </p:cNvSpPr>
          <p:nvPr/>
        </p:nvSpPr>
        <p:spPr>
          <a:xfrm>
            <a:off x="5852160" y="2377440"/>
            <a:ext cx="457200" cy="457200"/>
          </a:xfrm>
          <a:prstGeom prst="rect">
            <a:avLst/>
          </a:prstGeom>
          <a:noFill/>
        </p:spPr>
        <p:txBody>
          <a:bodyPr wrap="square" anchor="ctr"/>
          <a:lstStyle/>
          <a:p>
            <a:pPr marL="0" indent="0" algn="ctr">
              <a:buNone/>
            </a:pPr>
            <a:r>
              <a:rPr sz="1800" b="1">
                <a:solidFill>
                  <a:srgbClr val="FFFFFF"/>
                </a:solidFill>
                <a:latin typeface="Cambria"/>
                <a:ea typeface="Cambria"/>
                <a:cs typeface="Cambria"/>
              </a:rPr>
              <a:t>3</a:t>
            </a:r>
          </a:p>
        </p:txBody>
      </p:sp>
      <p:sp>
        <p:nvSpPr>
          <p:cNvPr id="113" name="Card2Title">
            <a:extLst>
              <a:ext uri="{FF2B5EF4-FFF2-40B4-BE49-F238E27FC236}">
                <a16:creationId xmlns:a16="http://schemas.microsoft.com/office/drawing/2014/main" id="{8745233D-E79B-487F-B725-98C5A40949E6}"/>
              </a:ext>
            </a:extLst>
          </p:cNvPr>
          <p:cNvSpPr>
            <a:spLocks noGrp="1"/>
          </p:cNvSpPr>
          <p:nvPr/>
        </p:nvSpPr>
        <p:spPr>
          <a:xfrm>
            <a:off x="5230368" y="3063240"/>
            <a:ext cx="1700784" cy="548640"/>
          </a:xfrm>
          <a:prstGeom prst="rect">
            <a:avLst/>
          </a:prstGeom>
          <a:noFill/>
        </p:spPr>
        <p:txBody>
          <a:bodyPr wrap="square" anchor="ctr"/>
          <a:lstStyle/>
          <a:p>
            <a:pPr marL="0" indent="0">
              <a:lnSpc>
                <a:spcPct val="110000"/>
              </a:lnSpc>
              <a:buNone/>
            </a:pPr>
            <a:r>
              <a:rPr sz="1300" b="1">
                <a:solidFill>
                  <a:srgbClr val="0B3B36"/>
                </a:solidFill>
                <a:latin typeface="Cambria"/>
                <a:ea typeface="Cambria"/>
                <a:cs typeface="Cambria"/>
              </a:rPr>
              <a:t>AI assists</a:t>
            </a:r>
          </a:p>
        </p:txBody>
      </p:sp>
      <p:sp>
        <p:nvSpPr>
          <p:cNvPr id="114" name="Card2Body">
            <a:extLst>
              <a:ext uri="{FF2B5EF4-FFF2-40B4-BE49-F238E27FC236}">
                <a16:creationId xmlns:a16="http://schemas.microsoft.com/office/drawing/2014/main" id="{F0D626B4-0A5B-40EE-A50D-750812041BA4}"/>
              </a:ext>
            </a:extLst>
          </p:cNvPr>
          <p:cNvSpPr>
            <a:spLocks noGrp="1"/>
          </p:cNvSpPr>
          <p:nvPr/>
        </p:nvSpPr>
        <p:spPr>
          <a:xfrm>
            <a:off x="5230368" y="3703320"/>
            <a:ext cx="1700784" cy="1143000"/>
          </a:xfrm>
          <a:prstGeom prst="rect">
            <a:avLst/>
          </a:prstGeom>
          <a:noFill/>
        </p:spPr>
        <p:txBody>
          <a:bodyPr wrap="square" anchor="t"/>
          <a:lstStyle/>
          <a:p>
            <a:pPr marL="0" indent="0">
              <a:lnSpc>
                <a:spcPct val="115000"/>
              </a:lnSpc>
              <a:buNone/>
            </a:pPr>
            <a:r>
              <a:rPr sz="1050">
                <a:solidFill>
                  <a:srgbClr val="1B2B2E"/>
                </a:solidFill>
                <a:latin typeface="Calibri"/>
                <a:ea typeface="Calibri"/>
                <a:cs typeface="Calibri"/>
              </a:rPr>
              <a:t>AI helps interpret, organize, draft, and route information.</a:t>
            </a:r>
          </a:p>
        </p:txBody>
      </p:sp>
      <p:sp>
        <p:nvSpPr>
          <p:cNvPr id="115" name="Card3Bg">
            <a:extLst>
              <a:ext uri="{FF2B5EF4-FFF2-40B4-BE49-F238E27FC236}">
                <a16:creationId xmlns:a16="http://schemas.microsoft.com/office/drawing/2014/main" id="{72DB5E33-DF5D-4EDD-9D91-7E4D0067E2EC}"/>
              </a:ext>
            </a:extLst>
          </p:cNvPr>
          <p:cNvSpPr>
            <a:spLocks noGrp="1"/>
          </p:cNvSpPr>
          <p:nvPr/>
        </p:nvSpPr>
        <p:spPr>
          <a:xfrm>
            <a:off x="7388352" y="2103120"/>
            <a:ext cx="1883664" cy="2834640"/>
          </a:xfrm>
          <a:prstGeom prst="roundRect">
            <a:avLst>
              <a:gd name="adj" fmla="val 5263"/>
            </a:avLst>
          </a:prstGeom>
          <a:solidFill>
            <a:srgbClr val="F6F1DD"/>
          </a:solidFill>
          <a:ln w="12700">
            <a:solidFill>
              <a:srgbClr val="E6DDBE"/>
            </a:solidFill>
            <a:prstDash val="solid"/>
          </a:ln>
        </p:spPr>
        <p:txBody>
          <a:bodyPr/>
          <a:lstStyle/>
          <a:p>
            <a:endParaRPr/>
          </a:p>
        </p:txBody>
      </p:sp>
      <p:sp>
        <p:nvSpPr>
          <p:cNvPr id="116" name="Card3Badge">
            <a:extLst>
              <a:ext uri="{FF2B5EF4-FFF2-40B4-BE49-F238E27FC236}">
                <a16:creationId xmlns:a16="http://schemas.microsoft.com/office/drawing/2014/main" id="{4CF79C39-D977-4D42-9895-4826F8474B6D}"/>
              </a:ext>
            </a:extLst>
          </p:cNvPr>
          <p:cNvSpPr>
            <a:spLocks noGrp="1"/>
          </p:cNvSpPr>
          <p:nvPr/>
        </p:nvSpPr>
        <p:spPr>
          <a:xfrm>
            <a:off x="8101584" y="2377440"/>
            <a:ext cx="457200" cy="457200"/>
          </a:xfrm>
          <a:prstGeom prst="ellipse">
            <a:avLst/>
          </a:prstGeom>
          <a:solidFill>
            <a:srgbClr val="1E5A50"/>
          </a:solidFill>
        </p:spPr>
        <p:txBody>
          <a:bodyPr/>
          <a:lstStyle/>
          <a:p>
            <a:endParaRPr/>
          </a:p>
        </p:txBody>
      </p:sp>
      <p:sp>
        <p:nvSpPr>
          <p:cNvPr id="117" name="Card3Num">
            <a:extLst>
              <a:ext uri="{FF2B5EF4-FFF2-40B4-BE49-F238E27FC236}">
                <a16:creationId xmlns:a16="http://schemas.microsoft.com/office/drawing/2014/main" id="{5BC88C30-EB02-4ABB-9768-8DD57D977F26}"/>
              </a:ext>
            </a:extLst>
          </p:cNvPr>
          <p:cNvSpPr>
            <a:spLocks noGrp="1"/>
          </p:cNvSpPr>
          <p:nvPr/>
        </p:nvSpPr>
        <p:spPr>
          <a:xfrm>
            <a:off x="8101584" y="2377440"/>
            <a:ext cx="457200" cy="457200"/>
          </a:xfrm>
          <a:prstGeom prst="rect">
            <a:avLst/>
          </a:prstGeom>
          <a:noFill/>
        </p:spPr>
        <p:txBody>
          <a:bodyPr wrap="square" anchor="ctr"/>
          <a:lstStyle/>
          <a:p>
            <a:pPr marL="0" indent="0" algn="ctr">
              <a:buNone/>
            </a:pPr>
            <a:r>
              <a:rPr sz="1800" b="1">
                <a:solidFill>
                  <a:srgbClr val="FFFFFF"/>
                </a:solidFill>
                <a:latin typeface="Cambria"/>
                <a:ea typeface="Cambria"/>
                <a:cs typeface="Cambria"/>
              </a:rPr>
              <a:t>4</a:t>
            </a:r>
          </a:p>
        </p:txBody>
      </p:sp>
      <p:sp>
        <p:nvSpPr>
          <p:cNvPr id="118" name="Card3Title">
            <a:extLst>
              <a:ext uri="{FF2B5EF4-FFF2-40B4-BE49-F238E27FC236}">
                <a16:creationId xmlns:a16="http://schemas.microsoft.com/office/drawing/2014/main" id="{1FF209C1-A4B0-406F-8112-6C9A67E4883A}"/>
              </a:ext>
            </a:extLst>
          </p:cNvPr>
          <p:cNvSpPr>
            <a:spLocks noGrp="1"/>
          </p:cNvSpPr>
          <p:nvPr/>
        </p:nvSpPr>
        <p:spPr>
          <a:xfrm>
            <a:off x="7479792" y="3063240"/>
            <a:ext cx="1700784" cy="548640"/>
          </a:xfrm>
          <a:prstGeom prst="rect">
            <a:avLst/>
          </a:prstGeom>
          <a:noFill/>
        </p:spPr>
        <p:txBody>
          <a:bodyPr wrap="square" anchor="ctr"/>
          <a:lstStyle/>
          <a:p>
            <a:pPr marL="0" indent="0">
              <a:lnSpc>
                <a:spcPct val="110000"/>
              </a:lnSpc>
              <a:buNone/>
            </a:pPr>
            <a:r>
              <a:rPr sz="1300" b="1">
                <a:solidFill>
                  <a:srgbClr val="0B3B36"/>
                </a:solidFill>
                <a:latin typeface="Cambria"/>
                <a:ea typeface="Cambria"/>
                <a:cs typeface="Cambria"/>
              </a:rPr>
              <a:t>Staff reviews</a:t>
            </a:r>
          </a:p>
        </p:txBody>
      </p:sp>
      <p:sp>
        <p:nvSpPr>
          <p:cNvPr id="119" name="Card3Body">
            <a:extLst>
              <a:ext uri="{FF2B5EF4-FFF2-40B4-BE49-F238E27FC236}">
                <a16:creationId xmlns:a16="http://schemas.microsoft.com/office/drawing/2014/main" id="{A8BD3DED-B40E-461A-A998-B125EA19FFB8}"/>
              </a:ext>
            </a:extLst>
          </p:cNvPr>
          <p:cNvSpPr>
            <a:spLocks noGrp="1"/>
          </p:cNvSpPr>
          <p:nvPr/>
        </p:nvSpPr>
        <p:spPr>
          <a:xfrm>
            <a:off x="7479792" y="3703320"/>
            <a:ext cx="1700784" cy="1143000"/>
          </a:xfrm>
          <a:prstGeom prst="rect">
            <a:avLst/>
          </a:prstGeom>
          <a:noFill/>
        </p:spPr>
        <p:txBody>
          <a:bodyPr wrap="square" anchor="t"/>
          <a:lstStyle/>
          <a:p>
            <a:pPr marL="0" indent="0">
              <a:lnSpc>
                <a:spcPct val="115000"/>
              </a:lnSpc>
              <a:buNone/>
            </a:pPr>
            <a:r>
              <a:rPr sz="1050">
                <a:solidFill>
                  <a:srgbClr val="1B2B2E"/>
                </a:solidFill>
                <a:latin typeface="Calibri"/>
                <a:ea typeface="Calibri"/>
                <a:cs typeface="Calibri"/>
              </a:rPr>
              <a:t>Exceptions and sensitive actions pause for designated staff.</a:t>
            </a:r>
          </a:p>
        </p:txBody>
      </p:sp>
      <p:sp>
        <p:nvSpPr>
          <p:cNvPr id="120" name="Card4Bg">
            <a:extLst>
              <a:ext uri="{FF2B5EF4-FFF2-40B4-BE49-F238E27FC236}">
                <a16:creationId xmlns:a16="http://schemas.microsoft.com/office/drawing/2014/main" id="{F5E28633-3DE9-434F-BF79-8BEF314C5655}"/>
              </a:ext>
            </a:extLst>
          </p:cNvPr>
          <p:cNvSpPr>
            <a:spLocks noGrp="1"/>
          </p:cNvSpPr>
          <p:nvPr/>
        </p:nvSpPr>
        <p:spPr>
          <a:xfrm>
            <a:off x="9637776" y="2103120"/>
            <a:ext cx="1883664" cy="2834640"/>
          </a:xfrm>
          <a:prstGeom prst="roundRect">
            <a:avLst>
              <a:gd name="adj" fmla="val 5263"/>
            </a:avLst>
          </a:prstGeom>
          <a:solidFill>
            <a:srgbClr val="F6F1DD"/>
          </a:solidFill>
          <a:ln w="12700">
            <a:solidFill>
              <a:srgbClr val="E6DDBE"/>
            </a:solidFill>
            <a:prstDash val="solid"/>
          </a:ln>
        </p:spPr>
        <p:txBody>
          <a:bodyPr/>
          <a:lstStyle/>
          <a:p>
            <a:endParaRPr/>
          </a:p>
        </p:txBody>
      </p:sp>
      <p:sp>
        <p:nvSpPr>
          <p:cNvPr id="121" name="Card4Badge">
            <a:extLst>
              <a:ext uri="{FF2B5EF4-FFF2-40B4-BE49-F238E27FC236}">
                <a16:creationId xmlns:a16="http://schemas.microsoft.com/office/drawing/2014/main" id="{144BD417-BEA7-481D-BDF8-4F780FCA9EB1}"/>
              </a:ext>
            </a:extLst>
          </p:cNvPr>
          <p:cNvSpPr>
            <a:spLocks noGrp="1"/>
          </p:cNvSpPr>
          <p:nvPr/>
        </p:nvSpPr>
        <p:spPr>
          <a:xfrm>
            <a:off x="10351008" y="2377440"/>
            <a:ext cx="457200" cy="457200"/>
          </a:xfrm>
          <a:prstGeom prst="ellipse">
            <a:avLst/>
          </a:prstGeom>
          <a:solidFill>
            <a:srgbClr val="1E5A50"/>
          </a:solidFill>
        </p:spPr>
        <p:txBody>
          <a:bodyPr/>
          <a:lstStyle/>
          <a:p>
            <a:endParaRPr/>
          </a:p>
        </p:txBody>
      </p:sp>
      <p:sp>
        <p:nvSpPr>
          <p:cNvPr id="122" name="Card4Num">
            <a:extLst>
              <a:ext uri="{FF2B5EF4-FFF2-40B4-BE49-F238E27FC236}">
                <a16:creationId xmlns:a16="http://schemas.microsoft.com/office/drawing/2014/main" id="{3D227A1D-7924-4CCC-A889-F33C73DB56F8}"/>
              </a:ext>
            </a:extLst>
          </p:cNvPr>
          <p:cNvSpPr>
            <a:spLocks noGrp="1"/>
          </p:cNvSpPr>
          <p:nvPr/>
        </p:nvSpPr>
        <p:spPr>
          <a:xfrm>
            <a:off x="10351008" y="2377440"/>
            <a:ext cx="457200" cy="457200"/>
          </a:xfrm>
          <a:prstGeom prst="rect">
            <a:avLst/>
          </a:prstGeom>
          <a:noFill/>
        </p:spPr>
        <p:txBody>
          <a:bodyPr wrap="square" anchor="ctr"/>
          <a:lstStyle/>
          <a:p>
            <a:pPr marL="0" indent="0" algn="ctr">
              <a:buNone/>
            </a:pPr>
            <a:r>
              <a:rPr sz="1800" b="1">
                <a:solidFill>
                  <a:srgbClr val="FFFFFF"/>
                </a:solidFill>
                <a:latin typeface="Cambria"/>
                <a:ea typeface="Cambria"/>
                <a:cs typeface="Cambria"/>
              </a:rPr>
              <a:t>5</a:t>
            </a:r>
          </a:p>
        </p:txBody>
      </p:sp>
      <p:sp>
        <p:nvSpPr>
          <p:cNvPr id="123" name="Card4Title">
            <a:extLst>
              <a:ext uri="{FF2B5EF4-FFF2-40B4-BE49-F238E27FC236}">
                <a16:creationId xmlns:a16="http://schemas.microsoft.com/office/drawing/2014/main" id="{5424C8B4-076C-4EE6-B804-3BEDE3DBC905}"/>
              </a:ext>
            </a:extLst>
          </p:cNvPr>
          <p:cNvSpPr>
            <a:spLocks noGrp="1"/>
          </p:cNvSpPr>
          <p:nvPr/>
        </p:nvSpPr>
        <p:spPr>
          <a:xfrm>
            <a:off x="9729216" y="3063240"/>
            <a:ext cx="1700784" cy="548640"/>
          </a:xfrm>
          <a:prstGeom prst="rect">
            <a:avLst/>
          </a:prstGeom>
          <a:noFill/>
        </p:spPr>
        <p:txBody>
          <a:bodyPr wrap="square" anchor="ctr"/>
          <a:lstStyle/>
          <a:p>
            <a:pPr marL="0" indent="0">
              <a:lnSpc>
                <a:spcPct val="110000"/>
              </a:lnSpc>
              <a:buNone/>
            </a:pPr>
            <a:r>
              <a:rPr sz="1300" b="1">
                <a:solidFill>
                  <a:srgbClr val="0B3B36"/>
                </a:solidFill>
                <a:latin typeface="Cambria"/>
                <a:ea typeface="Cambria"/>
                <a:cs typeface="Cambria"/>
              </a:rPr>
              <a:t>Action &amp; record</a:t>
            </a:r>
          </a:p>
        </p:txBody>
      </p:sp>
      <p:sp>
        <p:nvSpPr>
          <p:cNvPr id="124" name="Card4Body">
            <a:extLst>
              <a:ext uri="{FF2B5EF4-FFF2-40B4-BE49-F238E27FC236}">
                <a16:creationId xmlns:a16="http://schemas.microsoft.com/office/drawing/2014/main" id="{B3787807-B0C1-47FB-893C-A05CD959131C}"/>
              </a:ext>
            </a:extLst>
          </p:cNvPr>
          <p:cNvSpPr>
            <a:spLocks noGrp="1"/>
          </p:cNvSpPr>
          <p:nvPr/>
        </p:nvSpPr>
        <p:spPr>
          <a:xfrm>
            <a:off x="9729216" y="3703320"/>
            <a:ext cx="1700784" cy="1143000"/>
          </a:xfrm>
          <a:prstGeom prst="rect">
            <a:avLst/>
          </a:prstGeom>
          <a:noFill/>
        </p:spPr>
        <p:txBody>
          <a:bodyPr wrap="square" anchor="t"/>
          <a:lstStyle/>
          <a:p>
            <a:pPr marL="0" indent="0">
              <a:lnSpc>
                <a:spcPct val="115000"/>
              </a:lnSpc>
              <a:buNone/>
            </a:pPr>
            <a:r>
              <a:rPr sz="1050">
                <a:solidFill>
                  <a:srgbClr val="1B2B2E"/>
                </a:solidFill>
                <a:latin typeface="Calibri"/>
                <a:ea typeface="Calibri"/>
                <a:cs typeface="Calibri"/>
              </a:rPr>
              <a:t>Approved routine steps proceed; results are recorded or routed.</a:t>
            </a:r>
          </a:p>
        </p:txBody>
      </p:sp>
      <p:sp>
        <p:nvSpPr>
          <p:cNvPr id="900" name="Footnote">
            <a:extLst>
              <a:ext uri="{FF2B5EF4-FFF2-40B4-BE49-F238E27FC236}">
                <a16:creationId xmlns:a16="http://schemas.microsoft.com/office/drawing/2014/main" id="{2EFFD7BA-FE00-4873-B4D6-1976A97973F9}"/>
              </a:ext>
            </a:extLst>
          </p:cNvPr>
          <p:cNvSpPr>
            <a:spLocks noGrp="1"/>
          </p:cNvSpPr>
          <p:nvPr/>
        </p:nvSpPr>
        <p:spPr>
          <a:xfrm>
            <a:off x="640080" y="5120640"/>
            <a:ext cx="10561320" cy="365760"/>
          </a:xfrm>
          <a:prstGeom prst="rect">
            <a:avLst/>
          </a:prstGeom>
          <a:noFill/>
        </p:spPr>
        <p:txBody>
          <a:bodyPr wrap="square" anchor="ctr"/>
          <a:lstStyle/>
          <a:p>
            <a:pPr marL="0" indent="0" algn="ctr">
              <a:buNone/>
            </a:pPr>
            <a:r>
              <a:rPr sz="1250" i="1">
                <a:solidFill>
                  <a:srgbClr val="6E6857"/>
                </a:solidFill>
                <a:latin typeface="Calibri"/>
                <a:ea typeface="Calibri"/>
                <a:cs typeface="Calibri"/>
              </a:rPr>
              <a:t>Built around your clinic's rules, connected only to approved systems, and monitored throughout the pilot.</a:t>
            </a:r>
          </a:p>
        </p:txBody>
      </p:sp>
      <p:sp>
        <p:nvSpPr>
          <p:cNvPr id="21" name="Text 18">
            <a:extLst>
              <a:ext uri="{FF2B5EF4-FFF2-40B4-BE49-F238E27FC236}">
                <a16:creationId xmlns:a16="http://schemas.microsoft.com/office/drawing/2014/main" id="{00AA943C-5C6A-4C8B-BF2A-D597E0DA4757}"/>
              </a:ext>
            </a:extLst>
          </p:cNvPr>
          <p:cNvSpPr>
            <a:spLocks noGrp="1"/>
          </p:cNvSpPr>
          <p:nvPr/>
        </p:nvSpPr>
        <p:spPr>
          <a:xfrm>
            <a:off x="457200" y="6473952"/>
            <a:ext cx="7315200" cy="274320"/>
          </a:xfrm>
          <a:prstGeom prst="rect">
            <a:avLst/>
          </a:prstGeom>
          <a:noFill/>
        </p:spPr>
        <p:txBody>
          <a:bodyPr wrap="square" anchor="ctr"/>
          <a:lstStyle/>
          <a:p>
            <a:pPr marL="0" indent="0">
              <a:buNone/>
            </a:pPr>
            <a:r>
              <a:rPr sz="900">
                <a:solidFill>
                  <a:srgbClr val="6E6857"/>
                </a:solidFill>
                <a:latin typeface="Calibri"/>
                <a:ea typeface="Calibri"/>
                <a:cs typeface="Calibri"/>
              </a:rPr>
              <a:t>Halo Holdings  •  Confidential — for discussion</a:t>
            </a:r>
            <a:endParaRPr sz="900"/>
          </a:p>
        </p:txBody>
      </p:sp>
      <p:sp>
        <p:nvSpPr>
          <p:cNvPr id="22" name="Text 19">
            <a:extLst>
              <a:ext uri="{FF2B5EF4-FFF2-40B4-BE49-F238E27FC236}">
                <a16:creationId xmlns:a16="http://schemas.microsoft.com/office/drawing/2014/main" id="{A0FF24EC-5E8A-473D-BE17-CC3BE33BA459}"/>
              </a:ext>
            </a:extLst>
          </p:cNvPr>
          <p:cNvSpPr>
            <a:spLocks noGrp="1"/>
          </p:cNvSpPr>
          <p:nvPr/>
        </p:nvSpPr>
        <p:spPr>
          <a:xfrm>
            <a:off x="8988552" y="6473952"/>
            <a:ext cx="2743200" cy="274320"/>
          </a:xfrm>
          <a:prstGeom prst="rect">
            <a:avLst/>
          </a:prstGeom>
          <a:noFill/>
        </p:spPr>
        <p:txBody>
          <a:bodyPr wrap="square" anchor="ctr"/>
          <a:lstStyle/>
          <a:p>
            <a:pPr marL="0" indent="0" algn="r">
              <a:buNone/>
            </a:pPr>
            <a:r>
              <a:rPr sz="900">
                <a:solidFill>
                  <a:srgbClr val="6E6857"/>
                </a:solidFill>
                <a:latin typeface="Calibri"/>
                <a:ea typeface="Calibri"/>
                <a:cs typeface="Calibri"/>
              </a:rPr>
              <a:t>How it works</a:t>
            </a:r>
            <a:endParaRPr sz="900"/>
          </a:p>
        </p:txBody>
      </p:sp>
    </p:spTree>
    <p:extLst>
      <p:ext uri="{BB962C8B-B14F-4D97-AF65-F5344CB8AC3E}">
        <p14:creationId xmlns:p14="http://schemas.microsoft.com/office/powerpoint/2010/main" val="1632397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0136" y="1188720"/>
            <a:ext cx="868680" cy="868680"/>
          </a:xfrm>
          <a:prstGeom prst="ellipse">
            <a:avLst/>
          </a:prstGeom>
          <a:solidFill>
            <a:srgbClr val="042B2B"/>
          </a:solidFill>
          <a:ln/>
        </p:spPr>
        <p:txBody>
          <a:bodyPr/>
          <a:lstStyle/>
          <a:p>
            <a:endParaRPr lang="en-US"/>
          </a:p>
        </p:txBody>
      </p:sp>
      <p:pic>
        <p:nvPicPr>
          <p:cNvPr id="3" name="Image 0" descr="/home/claude/pptxgen/icons/smile.png"/>
          <p:cNvPicPr>
            <a:picLocks noChangeAspect="1"/>
          </p:cNvPicPr>
          <p:nvPr/>
        </p:nvPicPr>
        <p:blipFill>
          <a:blip r:embed="rId3"/>
          <a:stretch>
            <a:fillRect/>
          </a:stretch>
        </p:blipFill>
        <p:spPr>
          <a:xfrm>
            <a:off x="5861304" y="1389888"/>
            <a:ext cx="466344" cy="466344"/>
          </a:xfrm>
          <a:prstGeom prst="rect">
            <a:avLst/>
          </a:prstGeom>
        </p:spPr>
      </p:pic>
      <p:sp>
        <p:nvSpPr>
          <p:cNvPr id="4" name="Text 1"/>
          <p:cNvSpPr/>
          <p:nvPr/>
        </p:nvSpPr>
        <p:spPr>
          <a:xfrm>
            <a:off x="914400" y="2286000"/>
            <a:ext cx="10360152" cy="822960"/>
          </a:xfrm>
          <a:prstGeom prst="rect">
            <a:avLst/>
          </a:prstGeom>
          <a:noFill/>
          <a:ln/>
        </p:spPr>
        <p:txBody>
          <a:bodyPr wrap="square" rtlCol="0" anchor="ctr"/>
          <a:lstStyle/>
          <a:p>
            <a:pPr marL="0" indent="0" algn="ctr">
              <a:buNone/>
            </a:pPr>
            <a:r>
              <a:rPr lang="en-US" sz="3200" b="1" dirty="0">
                <a:solidFill>
                  <a:srgbClr val="1B2B2E"/>
                </a:solidFill>
                <a:latin typeface="Cambria" pitchFamily="34" charset="0"/>
                <a:ea typeface="Cambria" pitchFamily="34" charset="-122"/>
                <a:cs typeface="Cambria" pitchFamily="34" charset="-120"/>
              </a:rPr>
              <a:t>Let's choose the best first workflow for your clinic.</a:t>
            </a:r>
            <a:endParaRPr lang="en-US" sz="3200" dirty="0"/>
          </a:p>
        </p:txBody>
      </p:sp>
      <p:sp>
        <p:nvSpPr>
          <p:cNvPr id="5" name="Text 2"/>
          <p:cNvSpPr/>
          <p:nvPr/>
        </p:nvSpPr>
        <p:spPr>
          <a:xfrm>
            <a:off x="1645920" y="3200400"/>
            <a:ext cx="8897112" cy="640080"/>
          </a:xfrm>
          <a:prstGeom prst="rect">
            <a:avLst/>
          </a:prstGeom>
          <a:noFill/>
          <a:ln/>
        </p:spPr>
        <p:txBody>
          <a:bodyPr wrap="square" rtlCol="0" anchor="ctr"/>
          <a:lstStyle/>
          <a:p>
            <a:pPr marL="0" indent="0" algn="ctr">
              <a:buNone/>
            </a:pPr>
            <a:r>
              <a:rPr lang="en-US" sz="1600" dirty="0">
                <a:solidFill>
                  <a:srgbClr val="6E6857"/>
                </a:solidFill>
                <a:latin typeface="Calibri" pitchFamily="34" charset="0"/>
                <a:ea typeface="Calibri" pitchFamily="34" charset="-122"/>
                <a:cs typeface="Calibri" pitchFamily="34" charset="-120"/>
              </a:rPr>
              <a:t>Phase 1 includes all four core workflows. We begin by selecting the one that can deliver the clearest early benefit, configure it around your clinic, and agree on the sequence for introducing the rest.</a:t>
            </a:r>
            <a:br>
              <a:rPr lang="en-US" sz="1600" dirty="0"/>
            </a:br>
            <a:r>
              <a:rPr lang="en-US" sz="1600" b="1" dirty="0">
                <a:solidFill>
                  <a:srgbClr val="1B2B2E"/>
                </a:solidFill>
                <a:latin typeface="Calibri" pitchFamily="34" charset="0"/>
                <a:ea typeface="Calibri" pitchFamily="34" charset="-122"/>
                <a:cs typeface="Calibri" pitchFamily="34" charset="-120"/>
              </a:rPr>
              <a:t>Next step: a 45-minute workflow-discovery session with the clinic owner and the staff member who manages the selected process today.</a:t>
            </a:r>
            <a:endParaRPr lang="en-US" sz="1600" dirty="0"/>
          </a:p>
        </p:txBody>
      </p:sp>
      <p:sp>
        <p:nvSpPr>
          <p:cNvPr id="6" name="Shape 3"/>
          <p:cNvSpPr/>
          <p:nvPr/>
        </p:nvSpPr>
        <p:spPr>
          <a:xfrm>
            <a:off x="4114800" y="4206240"/>
            <a:ext cx="3959352" cy="0"/>
          </a:xfrm>
          <a:prstGeom prst="line">
            <a:avLst/>
          </a:prstGeom>
          <a:noFill/>
          <a:ln w="19050">
            <a:solidFill>
              <a:srgbClr val="E6DDBE"/>
            </a:solidFill>
            <a:prstDash val="solid"/>
          </a:ln>
        </p:spPr>
        <p:txBody>
          <a:bodyPr/>
          <a:lstStyle/>
          <a:p>
            <a:endParaRPr lang="en-US"/>
          </a:p>
        </p:txBody>
      </p:sp>
      <p:sp>
        <p:nvSpPr>
          <p:cNvPr id="7" name="Text 4"/>
          <p:cNvSpPr/>
          <p:nvPr/>
        </p:nvSpPr>
        <p:spPr>
          <a:xfrm>
            <a:off x="1645920" y="4434840"/>
            <a:ext cx="8897112" cy="457200"/>
          </a:xfrm>
          <a:prstGeom prst="rect">
            <a:avLst/>
          </a:prstGeom>
          <a:noFill/>
          <a:ln/>
        </p:spPr>
        <p:txBody>
          <a:bodyPr wrap="square" rtlCol="0" anchor="ctr"/>
          <a:lstStyle/>
          <a:p>
            <a:pPr marL="0" indent="0" algn="ctr">
              <a:buNone/>
            </a:pPr>
            <a:r>
              <a:rPr lang="en-US" sz="1400" i="1" dirty="0">
                <a:solidFill>
                  <a:srgbClr val="6E6857"/>
                </a:solidFill>
                <a:latin typeface="Calibri" pitchFamily="34" charset="0"/>
                <a:ea typeface="Calibri" pitchFamily="34" charset="-122"/>
                <a:cs typeface="Calibri" pitchFamily="34" charset="-120"/>
              </a:rPr>
              <a:t>Questions welcome, any time.</a:t>
            </a:r>
            <a:endParaRPr lang="en-US" sz="1400" dirty="0"/>
          </a:p>
        </p:txBody>
      </p:sp>
      <p:sp>
        <p:nvSpPr>
          <p:cNvPr id="8" name="Text 5"/>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E6857"/>
                </a:solidFill>
                <a:latin typeface="Calibri" pitchFamily="34" charset="0"/>
                <a:ea typeface="Calibri" pitchFamily="34" charset="-122"/>
                <a:cs typeface="Calibri" pitchFamily="34" charset="-120"/>
              </a:rPr>
              <a:t>Halo Holdings  •  Confidential — for discussion</a:t>
            </a:r>
            <a:endParaRPr lang="en-US" sz="900" dirty="0"/>
          </a:p>
        </p:txBody>
      </p:sp>
      <p:sp>
        <p:nvSpPr>
          <p:cNvPr id="9" name="Text 6"/>
          <p:cNvSpPr/>
          <p:nvPr/>
        </p:nvSpPr>
        <p:spPr>
          <a:xfrm>
            <a:off x="8988552" y="6473952"/>
            <a:ext cx="2743200" cy="274320"/>
          </a:xfrm>
          <a:prstGeom prst="rect">
            <a:avLst/>
          </a:prstGeom>
          <a:noFill/>
          <a:ln/>
        </p:spPr>
        <p:txBody>
          <a:bodyPr wrap="square" rtlCol="0" anchor="ctr"/>
          <a:lstStyle/>
          <a:p>
            <a:pPr marL="0" indent="0" algn="r">
              <a:buNone/>
            </a:pPr>
            <a:r>
              <a:rPr lang="en-US" sz="900" dirty="0">
                <a:solidFill>
                  <a:srgbClr val="6E6857"/>
                </a:solidFill>
                <a:latin typeface="Calibri" pitchFamily="34" charset="0"/>
                <a:ea typeface="Calibri" pitchFamily="34" charset="-122"/>
                <a:cs typeface="Calibri" pitchFamily="34" charset="-120"/>
              </a:rPr>
              <a:t>Thank you</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135</TotalTime>
  <Words>1973</Words>
  <Application>Microsoft Office PowerPoint</Application>
  <PresentationFormat>Widescreen</PresentationFormat>
  <Paragraphs>226</Paragraphs>
  <Slides>16</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RACHEL GUO</cp:lastModifiedBy>
  <cp:revision>2</cp:revision>
  <dcterms:created xsi:type="dcterms:W3CDTF">2026-07-29T02:03:28Z</dcterms:created>
  <dcterms:modified xsi:type="dcterms:W3CDTF">2026-08-21T17:42:23Z</dcterms:modified>
</cp:coreProperties>
</file>